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8288000" cy="10287000"/>
  <p:notesSz cx="6858000" cy="9144000"/>
  <p:embeddedFontLst>
    <p:embeddedFont>
      <p:font typeface="Arial" panose="020B0604020202020204" pitchFamily="34" charset="0"/>
      <p:regular r:id="rId30"/>
    </p:embeddedFont>
    <p:embeddedFont>
      <p:font typeface="Arial Bold" panose="020B0802020202020204"/>
      <p:regular r:id="rId31"/>
    </p:embeddedFont>
    <p:embeddedFont>
      <p:font typeface="Arial Italics" panose="020B0502020202090204" pitchFamily="34" charset="0"/>
      <p:regular r:id="rId32"/>
    </p:embeddedFont>
    <p:embeddedFont>
      <p:font typeface="Calibri (MS)" panose="020F0502020204030204" pitchFamily="34" charset="0"/>
      <p:regular r:id="rId33"/>
    </p:embeddedFont>
    <p:embeddedFont>
      <p:font typeface="Calibri (MS) Bold" panose="020F0702030404030204" pitchFamily="34" charset="0"/>
      <p:regular r:id="rId34"/>
    </p:embeddedFont>
    <p:embeddedFont>
      <p:font typeface="League Spartan" pitchFamily="2" charset="0"/>
      <p:regular r:id="rId35"/>
    </p:embeddedFont>
    <p:embeddedFont>
      <p:font typeface="Marcellus" panose="020E0602050203020307" pitchFamily="34" charset="0"/>
      <p:regular r:id="rId36"/>
    </p:embeddedFont>
    <p:embeddedFont>
      <p:font typeface="Montserrat" panose="02000000000000000000" pitchFamily="2" charset="0"/>
      <p:regular r:id="rId37"/>
    </p:embeddedFont>
    <p:embeddedFont>
      <p:font typeface="Montserrat Bold" pitchFamily="2" charset="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presProps" Target="presProps.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font" Target="fonts/font5.fntdata" /><Relationship Id="rId42" Type="http://schemas.openxmlformats.org/officeDocument/2006/relationships/tableStyles" Target="tableStyle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font" Target="fonts/font4.fntdata" /><Relationship Id="rId38" Type="http://schemas.openxmlformats.org/officeDocument/2006/relationships/font" Target="fonts/font9.fntdata"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font" Target="fonts/font3.fntdata" /><Relationship Id="rId37" Type="http://schemas.openxmlformats.org/officeDocument/2006/relationships/font" Target="fonts/font8.fntdata" /><Relationship Id="rId40" Type="http://schemas.openxmlformats.org/officeDocument/2006/relationships/viewProps" Target="view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font" Target="fonts/font7.fntdata"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font" Target="fonts/font2.fntdata"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font" Target="fonts/font1.fntdata" /><Relationship Id="rId35" Type="http://schemas.openxmlformats.org/officeDocument/2006/relationships/font" Target="fonts/font6.fntdata"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 /><Relationship Id="rId3" Type="http://schemas.openxmlformats.org/officeDocument/2006/relationships/image" Target="../media/image2.svg" /><Relationship Id="rId7" Type="http://schemas.openxmlformats.org/officeDocument/2006/relationships/image" Target="../media/image6.sv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5.png" /><Relationship Id="rId11" Type="http://schemas.openxmlformats.org/officeDocument/2006/relationships/image" Target="../media/image10.svg" /><Relationship Id="rId5" Type="http://schemas.openxmlformats.org/officeDocument/2006/relationships/image" Target="../media/image4.svg" /><Relationship Id="rId10" Type="http://schemas.openxmlformats.org/officeDocument/2006/relationships/image" Target="../media/image9.png" /><Relationship Id="rId4" Type="http://schemas.openxmlformats.org/officeDocument/2006/relationships/image" Target="../media/image3.png" /><Relationship Id="rId9" Type="http://schemas.openxmlformats.org/officeDocument/2006/relationships/image" Target="../media/image8.svg" /></Relationships>
</file>

<file path=ppt/slides/_rels/slide2.xml.rels><?xml version="1.0" encoding="UTF-8" standalone="yes"?>
<Relationships xmlns="http://schemas.openxmlformats.org/package/2006/relationships"><Relationship Id="rId8" Type="http://schemas.openxmlformats.org/officeDocument/2006/relationships/image" Target="../media/image1.png" /><Relationship Id="rId3" Type="http://schemas.openxmlformats.org/officeDocument/2006/relationships/image" Target="../media/image4.svg" /><Relationship Id="rId7" Type="http://schemas.openxmlformats.org/officeDocument/2006/relationships/image" Target="../media/image6.svg" /><Relationship Id="rId2" Type="http://schemas.openxmlformats.org/officeDocument/2006/relationships/image" Target="../media/image3.png" /><Relationship Id="rId1" Type="http://schemas.openxmlformats.org/officeDocument/2006/relationships/slideLayout" Target="../slideLayouts/slideLayout7.xml" /><Relationship Id="rId6" Type="http://schemas.openxmlformats.org/officeDocument/2006/relationships/image" Target="../media/image5.png" /><Relationship Id="rId5" Type="http://schemas.openxmlformats.org/officeDocument/2006/relationships/image" Target="../media/image10.svg" /><Relationship Id="rId4" Type="http://schemas.openxmlformats.org/officeDocument/2006/relationships/image" Target="../media/image9.png" /><Relationship Id="rId9" Type="http://schemas.openxmlformats.org/officeDocument/2006/relationships/image" Target="../media/image2.svg" /></Relationships>
</file>

<file path=ppt/slides/_rels/slide3.xml.rels><?xml version="1.0" encoding="UTF-8" standalone="yes"?>
<Relationships xmlns="http://schemas.openxmlformats.org/package/2006/relationships"><Relationship Id="rId8" Type="http://schemas.openxmlformats.org/officeDocument/2006/relationships/image" Target="../media/image14.png" /><Relationship Id="rId3" Type="http://schemas.openxmlformats.org/officeDocument/2006/relationships/image" Target="../media/image11.svg" /><Relationship Id="rId7" Type="http://schemas.openxmlformats.org/officeDocument/2006/relationships/image" Target="../media/image13.svg" /><Relationship Id="rId2" Type="http://schemas.openxmlformats.org/officeDocument/2006/relationships/image" Target="../media/image3.png" /><Relationship Id="rId1" Type="http://schemas.openxmlformats.org/officeDocument/2006/relationships/slideLayout" Target="../slideLayouts/slideLayout7.xml" /><Relationship Id="rId6" Type="http://schemas.openxmlformats.org/officeDocument/2006/relationships/image" Target="../media/image7.png" /><Relationship Id="rId5" Type="http://schemas.openxmlformats.org/officeDocument/2006/relationships/image" Target="../media/image12.svg" /><Relationship Id="rId4" Type="http://schemas.openxmlformats.org/officeDocument/2006/relationships/image" Target="../media/image5.png" /><Relationship Id="rId9" Type="http://schemas.openxmlformats.org/officeDocument/2006/relationships/image" Target="../media/image15.svg" /></Relationships>
</file>

<file path=ppt/slides/_rels/slide4.xml.rels><?xml version="1.0" encoding="UTF-8" standalone="yes"?>
<Relationships xmlns="http://schemas.openxmlformats.org/package/2006/relationships"><Relationship Id="rId8" Type="http://schemas.openxmlformats.org/officeDocument/2006/relationships/image" Target="../media/image14.png" /><Relationship Id="rId3" Type="http://schemas.openxmlformats.org/officeDocument/2006/relationships/image" Target="../media/image11.svg" /><Relationship Id="rId7" Type="http://schemas.openxmlformats.org/officeDocument/2006/relationships/image" Target="../media/image13.svg" /><Relationship Id="rId2" Type="http://schemas.openxmlformats.org/officeDocument/2006/relationships/image" Target="../media/image3.png" /><Relationship Id="rId1" Type="http://schemas.openxmlformats.org/officeDocument/2006/relationships/slideLayout" Target="../slideLayouts/slideLayout7.xml" /><Relationship Id="rId6" Type="http://schemas.openxmlformats.org/officeDocument/2006/relationships/image" Target="../media/image7.png" /><Relationship Id="rId5" Type="http://schemas.openxmlformats.org/officeDocument/2006/relationships/image" Target="../media/image12.svg" /><Relationship Id="rId4" Type="http://schemas.openxmlformats.org/officeDocument/2006/relationships/image" Target="../media/image5.png" /><Relationship Id="rId9" Type="http://schemas.openxmlformats.org/officeDocument/2006/relationships/image" Target="../media/image15.svg" /></Relationships>
</file>

<file path=ppt/slides/_rels/slide5.xml.rels><?xml version="1.0" encoding="UTF-8" standalone="yes"?>
<Relationships xmlns="http://schemas.openxmlformats.org/package/2006/relationships"><Relationship Id="rId8" Type="http://schemas.openxmlformats.org/officeDocument/2006/relationships/image" Target="../media/image1.png" /><Relationship Id="rId3" Type="http://schemas.openxmlformats.org/officeDocument/2006/relationships/image" Target="../media/image4.svg" /><Relationship Id="rId7" Type="http://schemas.openxmlformats.org/officeDocument/2006/relationships/image" Target="../media/image8.svg" /><Relationship Id="rId2" Type="http://schemas.openxmlformats.org/officeDocument/2006/relationships/image" Target="../media/image3.png" /><Relationship Id="rId1" Type="http://schemas.openxmlformats.org/officeDocument/2006/relationships/slideLayout" Target="../slideLayouts/slideLayout7.xml" /><Relationship Id="rId6" Type="http://schemas.openxmlformats.org/officeDocument/2006/relationships/image" Target="../media/image7.png" /><Relationship Id="rId5" Type="http://schemas.openxmlformats.org/officeDocument/2006/relationships/image" Target="../media/image6.svg" /><Relationship Id="rId4" Type="http://schemas.openxmlformats.org/officeDocument/2006/relationships/image" Target="../media/image5.png" /><Relationship Id="rId9" Type="http://schemas.openxmlformats.org/officeDocument/2006/relationships/image" Target="../media/image2.svg" /></Relationships>
</file>

<file path=ppt/slides/_rels/slide6.xml.rels><?xml version="1.0" encoding="UTF-8" standalone="yes"?>
<Relationships xmlns="http://schemas.openxmlformats.org/package/2006/relationships"><Relationship Id="rId8" Type="http://schemas.openxmlformats.org/officeDocument/2006/relationships/image" Target="../media/image5.png" /><Relationship Id="rId3" Type="http://schemas.openxmlformats.org/officeDocument/2006/relationships/image" Target="../media/image2.svg" /><Relationship Id="rId7" Type="http://schemas.openxmlformats.org/officeDocument/2006/relationships/image" Target="../media/image10.sv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9.png" /><Relationship Id="rId5" Type="http://schemas.openxmlformats.org/officeDocument/2006/relationships/image" Target="../media/image4.svg" /><Relationship Id="rId4" Type="http://schemas.openxmlformats.org/officeDocument/2006/relationships/image" Target="../media/image3.png" /><Relationship Id="rId9" Type="http://schemas.openxmlformats.org/officeDocument/2006/relationships/image" Target="../media/image6.svg" /></Relationships>
</file>

<file path=ppt/slides/_rels/slide7.xml.rels><?xml version="1.0" encoding="UTF-8" standalone="yes"?>
<Relationships xmlns="http://schemas.openxmlformats.org/package/2006/relationships"><Relationship Id="rId8" Type="http://schemas.openxmlformats.org/officeDocument/2006/relationships/image" Target="../media/image1.png" /><Relationship Id="rId3" Type="http://schemas.openxmlformats.org/officeDocument/2006/relationships/image" Target="../media/image4.svg" /><Relationship Id="rId7" Type="http://schemas.openxmlformats.org/officeDocument/2006/relationships/image" Target="../media/image6.svg" /><Relationship Id="rId2" Type="http://schemas.openxmlformats.org/officeDocument/2006/relationships/image" Target="../media/image3.png" /><Relationship Id="rId1" Type="http://schemas.openxmlformats.org/officeDocument/2006/relationships/slideLayout" Target="../slideLayouts/slideLayout7.xml" /><Relationship Id="rId6" Type="http://schemas.openxmlformats.org/officeDocument/2006/relationships/image" Target="../media/image5.png" /><Relationship Id="rId11" Type="http://schemas.openxmlformats.org/officeDocument/2006/relationships/image" Target="../media/image17.svg" /><Relationship Id="rId5" Type="http://schemas.openxmlformats.org/officeDocument/2006/relationships/image" Target="../media/image10.svg" /><Relationship Id="rId10" Type="http://schemas.openxmlformats.org/officeDocument/2006/relationships/image" Target="../media/image16.png" /><Relationship Id="rId4" Type="http://schemas.openxmlformats.org/officeDocument/2006/relationships/image" Target="../media/image9.png" /><Relationship Id="rId9" Type="http://schemas.openxmlformats.org/officeDocument/2006/relationships/image" Target="../media/image2.svg" /></Relationships>
</file>

<file path=ppt/slides/_rels/slide8.xml.rels><?xml version="1.0" encoding="UTF-8" standalone="yes"?>
<Relationships xmlns="http://schemas.openxmlformats.org/package/2006/relationships"><Relationship Id="rId8" Type="http://schemas.openxmlformats.org/officeDocument/2006/relationships/image" Target="../media/image1.png" /><Relationship Id="rId3" Type="http://schemas.openxmlformats.org/officeDocument/2006/relationships/image" Target="../media/image4.svg" /><Relationship Id="rId7" Type="http://schemas.openxmlformats.org/officeDocument/2006/relationships/image" Target="../media/image8.svg" /><Relationship Id="rId2" Type="http://schemas.openxmlformats.org/officeDocument/2006/relationships/image" Target="../media/image3.png" /><Relationship Id="rId1" Type="http://schemas.openxmlformats.org/officeDocument/2006/relationships/slideLayout" Target="../slideLayouts/slideLayout7.xml" /><Relationship Id="rId6" Type="http://schemas.openxmlformats.org/officeDocument/2006/relationships/image" Target="../media/image7.png" /><Relationship Id="rId5" Type="http://schemas.openxmlformats.org/officeDocument/2006/relationships/image" Target="../media/image6.svg" /><Relationship Id="rId4" Type="http://schemas.openxmlformats.org/officeDocument/2006/relationships/image" Target="../media/image5.png" /><Relationship Id="rId9" Type="http://schemas.openxmlformats.org/officeDocument/2006/relationships/image" Target="../media/image2.svg" /></Relationships>
</file>

<file path=ppt/slides/_rels/slide9.xml.rels><?xml version="1.0" encoding="UTF-8" standalone="yes"?>
<Relationships xmlns="http://schemas.openxmlformats.org/package/2006/relationships"><Relationship Id="rId8" Type="http://schemas.openxmlformats.org/officeDocument/2006/relationships/image" Target="../media/image1.png" /><Relationship Id="rId3" Type="http://schemas.openxmlformats.org/officeDocument/2006/relationships/image" Target="../media/image4.svg" /><Relationship Id="rId7" Type="http://schemas.openxmlformats.org/officeDocument/2006/relationships/image" Target="../media/image8.svg" /><Relationship Id="rId2" Type="http://schemas.openxmlformats.org/officeDocument/2006/relationships/image" Target="../media/image3.png" /><Relationship Id="rId1" Type="http://schemas.openxmlformats.org/officeDocument/2006/relationships/slideLayout" Target="../slideLayouts/slideLayout7.xml" /><Relationship Id="rId6" Type="http://schemas.openxmlformats.org/officeDocument/2006/relationships/image" Target="../media/image7.png" /><Relationship Id="rId5" Type="http://schemas.openxmlformats.org/officeDocument/2006/relationships/image" Target="../media/image6.svg" /><Relationship Id="rId4" Type="http://schemas.openxmlformats.org/officeDocument/2006/relationships/image" Target="../media/image5.png" /><Relationship Id="rId9" Type="http://schemas.openxmlformats.org/officeDocument/2006/relationships/image" Target="../media/image2.svg" /></Relationships>
</file>

<file path=ppt/slides/_rels/slide10.xml.rels><?xml version="1.0" encoding="UTF-8" standalone="yes"?>
<Relationships xmlns="http://schemas.openxmlformats.org/package/2006/relationships"><Relationship Id="rId8" Type="http://schemas.openxmlformats.org/officeDocument/2006/relationships/image" Target="../media/image1.png" /><Relationship Id="rId3" Type="http://schemas.openxmlformats.org/officeDocument/2006/relationships/image" Target="../media/image4.svg" /><Relationship Id="rId7" Type="http://schemas.openxmlformats.org/officeDocument/2006/relationships/image" Target="../media/image8.svg" /><Relationship Id="rId2" Type="http://schemas.openxmlformats.org/officeDocument/2006/relationships/image" Target="../media/image3.png" /><Relationship Id="rId1" Type="http://schemas.openxmlformats.org/officeDocument/2006/relationships/slideLayout" Target="../slideLayouts/slideLayout7.xml" /><Relationship Id="rId6" Type="http://schemas.openxmlformats.org/officeDocument/2006/relationships/image" Target="../media/image7.png" /><Relationship Id="rId5" Type="http://schemas.openxmlformats.org/officeDocument/2006/relationships/image" Target="../media/image6.svg" /><Relationship Id="rId4" Type="http://schemas.openxmlformats.org/officeDocument/2006/relationships/image" Target="../media/image5.png" /><Relationship Id="rId9" Type="http://schemas.openxmlformats.org/officeDocument/2006/relationships/image" Target="../media/image2.svg" /></Relationships>
</file>

<file path=ppt/slides/_rels/slide11.xml.rels><?xml version="1.0" encoding="UTF-8" standalone="yes"?>
<Relationships xmlns="http://schemas.openxmlformats.org/package/2006/relationships"><Relationship Id="rId8" Type="http://schemas.openxmlformats.org/officeDocument/2006/relationships/image" Target="../media/image5.png" /><Relationship Id="rId3" Type="http://schemas.openxmlformats.org/officeDocument/2006/relationships/image" Target="../media/image2.svg" /><Relationship Id="rId7" Type="http://schemas.openxmlformats.org/officeDocument/2006/relationships/image" Target="../media/image10.sv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9.png" /><Relationship Id="rId5" Type="http://schemas.openxmlformats.org/officeDocument/2006/relationships/image" Target="../media/image4.svg" /><Relationship Id="rId4" Type="http://schemas.openxmlformats.org/officeDocument/2006/relationships/image" Target="../media/image3.png" /><Relationship Id="rId9" Type="http://schemas.openxmlformats.org/officeDocument/2006/relationships/image" Target="../media/image6.svg" /></Relationships>
</file>

<file path=ppt/slides/_rels/slide12.xml.rels><?xml version="1.0" encoding="UTF-8" standalone="yes"?>
<Relationships xmlns="http://schemas.openxmlformats.org/package/2006/relationships"><Relationship Id="rId3" Type="http://schemas.openxmlformats.org/officeDocument/2006/relationships/image" Target="../media/image19.svg" /><Relationship Id="rId2" Type="http://schemas.openxmlformats.org/officeDocument/2006/relationships/image" Target="../media/image18.png" /><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Relationship Id="rId3" Type="http://schemas.openxmlformats.org/officeDocument/2006/relationships/image" Target="../media/image21.svg" /><Relationship Id="rId2" Type="http://schemas.openxmlformats.org/officeDocument/2006/relationships/image" Target="../media/image20.png" /><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3" Type="http://schemas.openxmlformats.org/officeDocument/2006/relationships/image" Target="../media/image23.svg" /><Relationship Id="rId7" Type="http://schemas.openxmlformats.org/officeDocument/2006/relationships/image" Target="../media/image27.svg" /><Relationship Id="rId2" Type="http://schemas.openxmlformats.org/officeDocument/2006/relationships/image" Target="../media/image22.png" /><Relationship Id="rId1" Type="http://schemas.openxmlformats.org/officeDocument/2006/relationships/slideLayout" Target="../slideLayouts/slideLayout7.xml" /><Relationship Id="rId6" Type="http://schemas.openxmlformats.org/officeDocument/2006/relationships/image" Target="../media/image26.png" /><Relationship Id="rId5" Type="http://schemas.openxmlformats.org/officeDocument/2006/relationships/image" Target="../media/image25.svg" /><Relationship Id="rId4" Type="http://schemas.openxmlformats.org/officeDocument/2006/relationships/image" Target="../media/image24.png" /></Relationships>
</file>

<file path=ppt/slides/_rels/slide15.xml.rels><?xml version="1.0" encoding="UTF-8" standalone="yes"?>
<Relationships xmlns="http://schemas.openxmlformats.org/package/2006/relationships"><Relationship Id="rId8" Type="http://schemas.openxmlformats.org/officeDocument/2006/relationships/image" Target="../media/image34.png" /><Relationship Id="rId3" Type="http://schemas.openxmlformats.org/officeDocument/2006/relationships/image" Target="../media/image29.svg" /><Relationship Id="rId7" Type="http://schemas.openxmlformats.org/officeDocument/2006/relationships/image" Target="../media/image33.svg" /><Relationship Id="rId2" Type="http://schemas.openxmlformats.org/officeDocument/2006/relationships/image" Target="../media/image28.png" /><Relationship Id="rId1" Type="http://schemas.openxmlformats.org/officeDocument/2006/relationships/slideLayout" Target="../slideLayouts/slideLayout7.xml" /><Relationship Id="rId6" Type="http://schemas.openxmlformats.org/officeDocument/2006/relationships/image" Target="../media/image32.png" /><Relationship Id="rId5" Type="http://schemas.openxmlformats.org/officeDocument/2006/relationships/image" Target="../media/image31.svg" /><Relationship Id="rId4" Type="http://schemas.openxmlformats.org/officeDocument/2006/relationships/image" Target="../media/image30.png" /><Relationship Id="rId9" Type="http://schemas.openxmlformats.org/officeDocument/2006/relationships/image" Target="../media/image35.svg" /></Relationships>
</file>

<file path=ppt/slides/_rels/slide16.xml.rels><?xml version="1.0" encoding="UTF-8" standalone="yes"?>
<Relationships xmlns="http://schemas.openxmlformats.org/package/2006/relationships"><Relationship Id="rId8" Type="http://schemas.openxmlformats.org/officeDocument/2006/relationships/image" Target="../media/image1.png" /><Relationship Id="rId3" Type="http://schemas.openxmlformats.org/officeDocument/2006/relationships/image" Target="../media/image4.svg" /><Relationship Id="rId7" Type="http://schemas.openxmlformats.org/officeDocument/2006/relationships/image" Target="../media/image8.svg" /><Relationship Id="rId2" Type="http://schemas.openxmlformats.org/officeDocument/2006/relationships/image" Target="../media/image3.png" /><Relationship Id="rId1" Type="http://schemas.openxmlformats.org/officeDocument/2006/relationships/slideLayout" Target="../slideLayouts/slideLayout7.xml" /><Relationship Id="rId6" Type="http://schemas.openxmlformats.org/officeDocument/2006/relationships/image" Target="../media/image7.png" /><Relationship Id="rId5" Type="http://schemas.openxmlformats.org/officeDocument/2006/relationships/image" Target="../media/image6.svg" /><Relationship Id="rId4" Type="http://schemas.openxmlformats.org/officeDocument/2006/relationships/image" Target="../media/image5.png" /><Relationship Id="rId9" Type="http://schemas.openxmlformats.org/officeDocument/2006/relationships/image" Target="../media/image2.svg" /></Relationships>
</file>

<file path=ppt/slides/_rels/slide17.xml.rels><?xml version="1.0" encoding="UTF-8" standalone="yes"?>
<Relationships xmlns="http://schemas.openxmlformats.org/package/2006/relationships"><Relationship Id="rId8" Type="http://schemas.openxmlformats.org/officeDocument/2006/relationships/image" Target="../media/image1.png" /><Relationship Id="rId3" Type="http://schemas.openxmlformats.org/officeDocument/2006/relationships/image" Target="../media/image4.svg" /><Relationship Id="rId7" Type="http://schemas.openxmlformats.org/officeDocument/2006/relationships/image" Target="../media/image8.svg" /><Relationship Id="rId2" Type="http://schemas.openxmlformats.org/officeDocument/2006/relationships/image" Target="../media/image3.png" /><Relationship Id="rId1" Type="http://schemas.openxmlformats.org/officeDocument/2006/relationships/slideLayout" Target="../slideLayouts/slideLayout7.xml" /><Relationship Id="rId6" Type="http://schemas.openxmlformats.org/officeDocument/2006/relationships/image" Target="../media/image7.png" /><Relationship Id="rId5" Type="http://schemas.openxmlformats.org/officeDocument/2006/relationships/image" Target="../media/image6.svg" /><Relationship Id="rId4" Type="http://schemas.openxmlformats.org/officeDocument/2006/relationships/image" Target="../media/image5.png" /><Relationship Id="rId9" Type="http://schemas.openxmlformats.org/officeDocument/2006/relationships/image" Target="../media/image2.svg" /></Relationships>
</file>

<file path=ppt/slides/_rels/slide18.xml.rels><?xml version="1.0" encoding="UTF-8" standalone="yes"?>
<Relationships xmlns="http://schemas.openxmlformats.org/package/2006/relationships"><Relationship Id="rId8" Type="http://schemas.openxmlformats.org/officeDocument/2006/relationships/image" Target="../media/image5.png" /><Relationship Id="rId3" Type="http://schemas.openxmlformats.org/officeDocument/2006/relationships/image" Target="../media/image2.svg" /><Relationship Id="rId7" Type="http://schemas.openxmlformats.org/officeDocument/2006/relationships/image" Target="../media/image10.sv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9.png" /><Relationship Id="rId5" Type="http://schemas.openxmlformats.org/officeDocument/2006/relationships/image" Target="../media/image4.svg" /><Relationship Id="rId4" Type="http://schemas.openxmlformats.org/officeDocument/2006/relationships/image" Target="../media/image3.png" /><Relationship Id="rId9" Type="http://schemas.openxmlformats.org/officeDocument/2006/relationships/image" Target="../media/image6.svg" /></Relationships>
</file>

<file path=ppt/slides/_rels/slide19.xml.rels><?xml version="1.0" encoding="UTF-8" standalone="yes"?>
<Relationships xmlns="http://schemas.openxmlformats.org/package/2006/relationships"><Relationship Id="rId8" Type="http://schemas.openxmlformats.org/officeDocument/2006/relationships/image" Target="../media/image1.png" /><Relationship Id="rId3" Type="http://schemas.openxmlformats.org/officeDocument/2006/relationships/image" Target="../media/image4.svg" /><Relationship Id="rId7" Type="http://schemas.openxmlformats.org/officeDocument/2006/relationships/image" Target="../media/image8.svg" /><Relationship Id="rId2" Type="http://schemas.openxmlformats.org/officeDocument/2006/relationships/image" Target="../media/image3.png" /><Relationship Id="rId1" Type="http://schemas.openxmlformats.org/officeDocument/2006/relationships/slideLayout" Target="../slideLayouts/slideLayout7.xml" /><Relationship Id="rId6" Type="http://schemas.openxmlformats.org/officeDocument/2006/relationships/image" Target="../media/image7.png" /><Relationship Id="rId5" Type="http://schemas.openxmlformats.org/officeDocument/2006/relationships/image" Target="../media/image6.svg" /><Relationship Id="rId4" Type="http://schemas.openxmlformats.org/officeDocument/2006/relationships/image" Target="../media/image5.png" /><Relationship Id="rId9" Type="http://schemas.openxmlformats.org/officeDocument/2006/relationships/image" Target="../media/image2.svg" /></Relationships>
</file>

<file path=ppt/slides/_rels/slide20.xml.rels><?xml version="1.0" encoding="UTF-8" standalone="yes"?>
<Relationships xmlns="http://schemas.openxmlformats.org/package/2006/relationships"><Relationship Id="rId8" Type="http://schemas.openxmlformats.org/officeDocument/2006/relationships/image" Target="../media/image1.png" /><Relationship Id="rId3" Type="http://schemas.openxmlformats.org/officeDocument/2006/relationships/image" Target="../media/image4.svg" /><Relationship Id="rId7" Type="http://schemas.openxmlformats.org/officeDocument/2006/relationships/image" Target="../media/image6.svg" /><Relationship Id="rId2" Type="http://schemas.openxmlformats.org/officeDocument/2006/relationships/image" Target="../media/image3.png" /><Relationship Id="rId1" Type="http://schemas.openxmlformats.org/officeDocument/2006/relationships/slideLayout" Target="../slideLayouts/slideLayout7.xml" /><Relationship Id="rId6" Type="http://schemas.openxmlformats.org/officeDocument/2006/relationships/image" Target="../media/image5.png" /><Relationship Id="rId11" Type="http://schemas.openxmlformats.org/officeDocument/2006/relationships/image" Target="../media/image17.svg" /><Relationship Id="rId5" Type="http://schemas.openxmlformats.org/officeDocument/2006/relationships/image" Target="../media/image10.svg" /><Relationship Id="rId10" Type="http://schemas.openxmlformats.org/officeDocument/2006/relationships/image" Target="../media/image16.png" /><Relationship Id="rId4" Type="http://schemas.openxmlformats.org/officeDocument/2006/relationships/image" Target="../media/image9.png" /><Relationship Id="rId9" Type="http://schemas.openxmlformats.org/officeDocument/2006/relationships/image" Target="../media/image2.svg" /></Relationships>
</file>

<file path=ppt/slides/_rels/slide21.xml.rels><?xml version="1.0" encoding="UTF-8" standalone="yes"?>
<Relationships xmlns="http://schemas.openxmlformats.org/package/2006/relationships"><Relationship Id="rId8" Type="http://schemas.openxmlformats.org/officeDocument/2006/relationships/image" Target="../media/image9.png" /><Relationship Id="rId3" Type="http://schemas.openxmlformats.org/officeDocument/2006/relationships/image" Target="../media/image37.svg" /><Relationship Id="rId7" Type="http://schemas.openxmlformats.org/officeDocument/2006/relationships/image" Target="../media/image4.svg" /><Relationship Id="rId2" Type="http://schemas.openxmlformats.org/officeDocument/2006/relationships/image" Target="../media/image36.png" /><Relationship Id="rId1" Type="http://schemas.openxmlformats.org/officeDocument/2006/relationships/slideLayout" Target="../slideLayouts/slideLayout7.xml" /><Relationship Id="rId6" Type="http://schemas.openxmlformats.org/officeDocument/2006/relationships/image" Target="../media/image3.png" /><Relationship Id="rId11" Type="http://schemas.openxmlformats.org/officeDocument/2006/relationships/image" Target="../media/image6.svg" /><Relationship Id="rId5" Type="http://schemas.openxmlformats.org/officeDocument/2006/relationships/image" Target="../media/image2.svg" /><Relationship Id="rId10" Type="http://schemas.openxmlformats.org/officeDocument/2006/relationships/image" Target="../media/image5.png" /><Relationship Id="rId4" Type="http://schemas.openxmlformats.org/officeDocument/2006/relationships/image" Target="../media/image1.png" /><Relationship Id="rId9" Type="http://schemas.openxmlformats.org/officeDocument/2006/relationships/image" Target="../media/image10.svg" /></Relationships>
</file>

<file path=ppt/slides/_rels/slide22.xml.rels><?xml version="1.0" encoding="UTF-8" standalone="yes"?>
<Relationships xmlns="http://schemas.openxmlformats.org/package/2006/relationships"><Relationship Id="rId3" Type="http://schemas.openxmlformats.org/officeDocument/2006/relationships/image" Target="../media/image39.svg" /><Relationship Id="rId2" Type="http://schemas.openxmlformats.org/officeDocument/2006/relationships/image" Target="../media/image38.png" /><Relationship Id="rId1" Type="http://schemas.openxmlformats.org/officeDocument/2006/relationships/slideLayout" Target="../slideLayouts/slideLayout7.xml" /><Relationship Id="rId5" Type="http://schemas.openxmlformats.org/officeDocument/2006/relationships/image" Target="../media/image41.svg" /><Relationship Id="rId4" Type="http://schemas.openxmlformats.org/officeDocument/2006/relationships/image" Target="../media/image40.png" /></Relationships>
</file>

<file path=ppt/slides/_rels/slide23.xml.rels><?xml version="1.0" encoding="UTF-8" standalone="yes"?>
<Relationships xmlns="http://schemas.openxmlformats.org/package/2006/relationships"><Relationship Id="rId8" Type="http://schemas.openxmlformats.org/officeDocument/2006/relationships/image" Target="../media/image1.png" /><Relationship Id="rId3" Type="http://schemas.openxmlformats.org/officeDocument/2006/relationships/image" Target="../media/image4.svg" /><Relationship Id="rId7" Type="http://schemas.openxmlformats.org/officeDocument/2006/relationships/image" Target="../media/image8.svg" /><Relationship Id="rId12" Type="http://schemas.openxmlformats.org/officeDocument/2006/relationships/hyperlink" Target="https://doi.org/10.1080/23311975.2023.2300159" TargetMode="External" /><Relationship Id="rId2" Type="http://schemas.openxmlformats.org/officeDocument/2006/relationships/image" Target="../media/image3.png" /><Relationship Id="rId1" Type="http://schemas.openxmlformats.org/officeDocument/2006/relationships/slideLayout" Target="../slideLayouts/slideLayout7.xml" /><Relationship Id="rId6" Type="http://schemas.openxmlformats.org/officeDocument/2006/relationships/image" Target="../media/image7.png" /><Relationship Id="rId11" Type="http://schemas.openxmlformats.org/officeDocument/2006/relationships/image" Target="../media/image43.svg" /><Relationship Id="rId5" Type="http://schemas.openxmlformats.org/officeDocument/2006/relationships/image" Target="../media/image6.svg" /><Relationship Id="rId10" Type="http://schemas.openxmlformats.org/officeDocument/2006/relationships/image" Target="../media/image42.png" /><Relationship Id="rId4" Type="http://schemas.openxmlformats.org/officeDocument/2006/relationships/image" Target="../media/image5.png" /><Relationship Id="rId9" Type="http://schemas.openxmlformats.org/officeDocument/2006/relationships/image" Target="../media/image2.svg" /></Relationships>
</file>

<file path=ppt/slides/_rels/slide24.xml.rels><?xml version="1.0" encoding="UTF-8" standalone="yes"?>
<Relationships xmlns="http://schemas.openxmlformats.org/package/2006/relationships"><Relationship Id="rId8" Type="http://schemas.openxmlformats.org/officeDocument/2006/relationships/image" Target="../media/image5.png" /><Relationship Id="rId3" Type="http://schemas.openxmlformats.org/officeDocument/2006/relationships/image" Target="../media/image2.svg" /><Relationship Id="rId7" Type="http://schemas.openxmlformats.org/officeDocument/2006/relationships/image" Target="../media/image10.sv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9.png" /><Relationship Id="rId5" Type="http://schemas.openxmlformats.org/officeDocument/2006/relationships/image" Target="../media/image4.svg" /><Relationship Id="rId4" Type="http://schemas.openxmlformats.org/officeDocument/2006/relationships/image" Target="../media/image3.png" /><Relationship Id="rId9" Type="http://schemas.openxmlformats.org/officeDocument/2006/relationships/image" Target="../media/image6.svg" /></Relationships>
</file>

<file path=ppt/slides/_rels/slide25.xml.rels><?xml version="1.0" encoding="UTF-8" standalone="yes"?>
<Relationships xmlns="http://schemas.openxmlformats.org/package/2006/relationships"><Relationship Id="rId8" Type="http://schemas.openxmlformats.org/officeDocument/2006/relationships/image" Target="../media/image5.png" /><Relationship Id="rId3" Type="http://schemas.openxmlformats.org/officeDocument/2006/relationships/image" Target="../media/image2.svg" /><Relationship Id="rId7" Type="http://schemas.openxmlformats.org/officeDocument/2006/relationships/image" Target="../media/image10.sv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9.png" /><Relationship Id="rId5" Type="http://schemas.openxmlformats.org/officeDocument/2006/relationships/image" Target="../media/image4.svg" /><Relationship Id="rId4" Type="http://schemas.openxmlformats.org/officeDocument/2006/relationships/image" Target="../media/image3.png" /><Relationship Id="rId9" Type="http://schemas.openxmlformats.org/officeDocument/2006/relationships/image" Target="../media/image6.svg" /></Relationships>
</file>

<file path=ppt/slides/_rels/slide26.xml.rels><?xml version="1.0" encoding="UTF-8" standalone="yes"?>
<Relationships xmlns="http://schemas.openxmlformats.org/package/2006/relationships"><Relationship Id="rId8" Type="http://schemas.openxmlformats.org/officeDocument/2006/relationships/image" Target="../media/image5.png" /><Relationship Id="rId3" Type="http://schemas.openxmlformats.org/officeDocument/2006/relationships/image" Target="../media/image2.svg" /><Relationship Id="rId7" Type="http://schemas.openxmlformats.org/officeDocument/2006/relationships/image" Target="../media/image10.sv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9.png" /><Relationship Id="rId5" Type="http://schemas.openxmlformats.org/officeDocument/2006/relationships/image" Target="../media/image4.svg" /><Relationship Id="rId4" Type="http://schemas.openxmlformats.org/officeDocument/2006/relationships/image" Target="../media/image3.png" /><Relationship Id="rId9" Type="http://schemas.openxmlformats.org/officeDocument/2006/relationships/image" Target="../media/image6.svg" /></Relationships>
</file>

<file path=ppt/slides/_rels/slide27.xml.rels><?xml version="1.0" encoding="UTF-8" standalone="yes"?>
<Relationships xmlns="http://schemas.openxmlformats.org/package/2006/relationships"><Relationship Id="rId8" Type="http://schemas.openxmlformats.org/officeDocument/2006/relationships/image" Target="../media/image1.png" /><Relationship Id="rId3" Type="http://schemas.openxmlformats.org/officeDocument/2006/relationships/image" Target="../media/image4.svg" /><Relationship Id="rId7" Type="http://schemas.openxmlformats.org/officeDocument/2006/relationships/image" Target="../media/image8.svg" /><Relationship Id="rId2" Type="http://schemas.openxmlformats.org/officeDocument/2006/relationships/image" Target="../media/image3.png" /><Relationship Id="rId1" Type="http://schemas.openxmlformats.org/officeDocument/2006/relationships/slideLayout" Target="../slideLayouts/slideLayout7.xml" /><Relationship Id="rId6" Type="http://schemas.openxmlformats.org/officeDocument/2006/relationships/image" Target="../media/image7.png" /><Relationship Id="rId11" Type="http://schemas.openxmlformats.org/officeDocument/2006/relationships/image" Target="../media/image43.svg" /><Relationship Id="rId5" Type="http://schemas.openxmlformats.org/officeDocument/2006/relationships/image" Target="../media/image6.svg" /><Relationship Id="rId10" Type="http://schemas.openxmlformats.org/officeDocument/2006/relationships/image" Target="../media/image42.png" /><Relationship Id="rId4" Type="http://schemas.openxmlformats.org/officeDocument/2006/relationships/image" Target="../media/image5.png" /><Relationship Id="rId9" Type="http://schemas.openxmlformats.org/officeDocument/2006/relationships/image" Target="../media/image2.svg" /></Relationships>
</file>

<file path=ppt/slides/_rels/slide28.xml.rels><?xml version="1.0" encoding="UTF-8" standalone="yes"?>
<Relationships xmlns="http://schemas.openxmlformats.org/package/2006/relationships"><Relationship Id="rId8" Type="http://schemas.openxmlformats.org/officeDocument/2006/relationships/image" Target="../media/image7.png" /><Relationship Id="rId3" Type="http://schemas.openxmlformats.org/officeDocument/2006/relationships/image" Target="../media/image2.svg" /><Relationship Id="rId7" Type="http://schemas.openxmlformats.org/officeDocument/2006/relationships/image" Target="../media/image6.sv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5.png" /><Relationship Id="rId11" Type="http://schemas.openxmlformats.org/officeDocument/2006/relationships/image" Target="../media/image10.svg" /><Relationship Id="rId5" Type="http://schemas.openxmlformats.org/officeDocument/2006/relationships/image" Target="../media/image4.svg" /><Relationship Id="rId10" Type="http://schemas.openxmlformats.org/officeDocument/2006/relationships/image" Target="../media/image9.png" /><Relationship Id="rId4" Type="http://schemas.openxmlformats.org/officeDocument/2006/relationships/image" Target="../media/image3.png" /><Relationship Id="rId9" Type="http://schemas.openxmlformats.org/officeDocument/2006/relationships/image" Target="../media/image8.svg"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a:off x="14365004" y="5143500"/>
            <a:ext cx="3616776" cy="7883980"/>
          </a:xfrm>
          <a:custGeom>
            <a:avLst/>
            <a:gdLst/>
            <a:ahLst/>
            <a:cxnLst/>
            <a:rect l="l" t="t" r="r" b="b"/>
            <a:pathLst>
              <a:path w="3616776" h="7883980">
                <a:moveTo>
                  <a:pt x="0" y="0"/>
                </a:moveTo>
                <a:lnTo>
                  <a:pt x="3616776" y="0"/>
                </a:lnTo>
                <a:lnTo>
                  <a:pt x="3616776" y="7883980"/>
                </a:lnTo>
                <a:lnTo>
                  <a:pt x="0" y="7883980"/>
                </a:lnTo>
                <a:lnTo>
                  <a:pt x="0" y="0"/>
                </a:lnTo>
                <a:close/>
              </a:path>
            </a:pathLst>
          </a:custGeom>
          <a:blipFill>
            <a:blip r:embed="rId2">
              <a:alphaModFix amt="75000"/>
              <a:extLst>
                <a:ext uri="{96DAC541-7B7A-43D3-8B79-37D633B846F1}">
                  <asvg:svgBlip xmlns:asvg="http://schemas.microsoft.com/office/drawing/2016/SVG/main" r:embed="rId3"/>
                </a:ext>
              </a:extLst>
            </a:blip>
            <a:stretch>
              <a:fillRect t="-39" b="-39"/>
            </a:stretch>
          </a:blipFill>
        </p:spPr>
      </p:sp>
      <p:sp>
        <p:nvSpPr>
          <p:cNvPr id="3" name="Freeform 3"/>
          <p:cNvSpPr/>
          <p:nvPr/>
        </p:nvSpPr>
        <p:spPr>
          <a:xfrm rot="-10800000">
            <a:off x="14077272" y="-1018297"/>
            <a:ext cx="5114584" cy="5142635"/>
          </a:xfrm>
          <a:custGeom>
            <a:avLst/>
            <a:gdLst/>
            <a:ahLst/>
            <a:cxnLst/>
            <a:rect l="l" t="t" r="r" b="b"/>
            <a:pathLst>
              <a:path w="5114584" h="5142635">
                <a:moveTo>
                  <a:pt x="0" y="0"/>
                </a:moveTo>
                <a:lnTo>
                  <a:pt x="5114584" y="0"/>
                </a:lnTo>
                <a:lnTo>
                  <a:pt x="5114584" y="5142635"/>
                </a:lnTo>
                <a:lnTo>
                  <a:pt x="0" y="5142635"/>
                </a:lnTo>
                <a:lnTo>
                  <a:pt x="0" y="0"/>
                </a:lnTo>
                <a:close/>
              </a:path>
            </a:pathLst>
          </a:custGeom>
          <a:blipFill>
            <a:blip r:embed="rId4">
              <a:extLst>
                <a:ext uri="{96DAC541-7B7A-43D3-8B79-37D633B846F1}">
                  <asvg:svgBlip xmlns:asvg="http://schemas.microsoft.com/office/drawing/2016/SVG/main" r:embed="rId5"/>
                </a:ext>
              </a:extLst>
            </a:blip>
            <a:stretch>
              <a:fillRect l="-181" r="-181"/>
            </a:stretch>
          </a:blipFill>
        </p:spPr>
      </p:sp>
      <p:sp>
        <p:nvSpPr>
          <p:cNvPr id="4" name="Freeform 4"/>
          <p:cNvSpPr/>
          <p:nvPr/>
        </p:nvSpPr>
        <p:spPr>
          <a:xfrm rot="-10800000" flipV="1">
            <a:off x="15409344" y="-1555083"/>
            <a:ext cx="2450438" cy="4185866"/>
          </a:xfrm>
          <a:custGeom>
            <a:avLst/>
            <a:gdLst/>
            <a:ahLst/>
            <a:cxnLst/>
            <a:rect l="l" t="t" r="r" b="b"/>
            <a:pathLst>
              <a:path w="2450438" h="4185866">
                <a:moveTo>
                  <a:pt x="0" y="4185866"/>
                </a:moveTo>
                <a:lnTo>
                  <a:pt x="2450438" y="4185866"/>
                </a:lnTo>
                <a:lnTo>
                  <a:pt x="2450438" y="0"/>
                </a:lnTo>
                <a:lnTo>
                  <a:pt x="0" y="0"/>
                </a:lnTo>
                <a:lnTo>
                  <a:pt x="0" y="4185866"/>
                </a:lnTo>
                <a:close/>
              </a:path>
            </a:pathLst>
          </a:custGeom>
          <a:blipFill>
            <a:blip r:embed="rId6">
              <a:extLst>
                <a:ext uri="{96DAC541-7B7A-43D3-8B79-37D633B846F1}">
                  <asvg:svgBlip xmlns:asvg="http://schemas.microsoft.com/office/drawing/2016/SVG/main" r:embed="rId7"/>
                </a:ext>
              </a:extLst>
            </a:blip>
            <a:stretch>
              <a:fillRect l="-81" r="-81"/>
            </a:stretch>
          </a:blipFill>
        </p:spPr>
      </p:sp>
      <p:sp>
        <p:nvSpPr>
          <p:cNvPr id="5" name="Freeform 5"/>
          <p:cNvSpPr/>
          <p:nvPr/>
        </p:nvSpPr>
        <p:spPr>
          <a:xfrm rot="-10800000">
            <a:off x="12176714" y="959404"/>
            <a:ext cx="2909455" cy="1433567"/>
          </a:xfrm>
          <a:custGeom>
            <a:avLst/>
            <a:gdLst/>
            <a:ahLst/>
            <a:cxnLst/>
            <a:rect l="l" t="t" r="r" b="b"/>
            <a:pathLst>
              <a:path w="2909455" h="1433567">
                <a:moveTo>
                  <a:pt x="0" y="0"/>
                </a:moveTo>
                <a:lnTo>
                  <a:pt x="2909455" y="0"/>
                </a:lnTo>
                <a:lnTo>
                  <a:pt x="2909455" y="1433567"/>
                </a:lnTo>
                <a:lnTo>
                  <a:pt x="0" y="1433567"/>
                </a:lnTo>
                <a:lnTo>
                  <a:pt x="0" y="0"/>
                </a:lnTo>
                <a:close/>
              </a:path>
            </a:pathLst>
          </a:custGeom>
          <a:blipFill>
            <a:blip r:embed="rId8">
              <a:extLst>
                <a:ext uri="{96DAC541-7B7A-43D3-8B79-37D633B846F1}">
                  <asvg:svgBlip xmlns:asvg="http://schemas.microsoft.com/office/drawing/2016/SVG/main" r:embed="rId9"/>
                </a:ext>
              </a:extLst>
            </a:blip>
            <a:stretch>
              <a:fillRect l="-88" r="-88"/>
            </a:stretch>
          </a:blipFill>
        </p:spPr>
      </p:sp>
      <p:sp>
        <p:nvSpPr>
          <p:cNvPr id="6" name="Freeform 6"/>
          <p:cNvSpPr/>
          <p:nvPr/>
        </p:nvSpPr>
        <p:spPr>
          <a:xfrm rot="-7023068">
            <a:off x="-1660960" y="6786278"/>
            <a:ext cx="6493939" cy="6529555"/>
          </a:xfrm>
          <a:custGeom>
            <a:avLst/>
            <a:gdLst/>
            <a:ahLst/>
            <a:cxnLst/>
            <a:rect l="l" t="t" r="r" b="b"/>
            <a:pathLst>
              <a:path w="6493939" h="6529555">
                <a:moveTo>
                  <a:pt x="0" y="0"/>
                </a:moveTo>
                <a:lnTo>
                  <a:pt x="6493939" y="0"/>
                </a:lnTo>
                <a:lnTo>
                  <a:pt x="6493939" y="6529555"/>
                </a:lnTo>
                <a:lnTo>
                  <a:pt x="0" y="6529555"/>
                </a:lnTo>
                <a:lnTo>
                  <a:pt x="0" y="0"/>
                </a:lnTo>
                <a:close/>
              </a:path>
            </a:pathLst>
          </a:custGeom>
          <a:blipFill>
            <a:blip r:embed="rId4">
              <a:extLst>
                <a:ext uri="{96DAC541-7B7A-43D3-8B79-37D633B846F1}">
                  <asvg:svgBlip xmlns:asvg="http://schemas.microsoft.com/office/drawing/2016/SVG/main" r:embed="rId5"/>
                </a:ext>
              </a:extLst>
            </a:blip>
            <a:stretch>
              <a:fillRect l="-127" r="-127"/>
            </a:stretch>
          </a:blipFill>
        </p:spPr>
      </p:sp>
      <p:sp>
        <p:nvSpPr>
          <p:cNvPr id="7" name="Freeform 7"/>
          <p:cNvSpPr/>
          <p:nvPr/>
        </p:nvSpPr>
        <p:spPr>
          <a:xfrm rot="-1031629">
            <a:off x="-1305142" y="6597599"/>
            <a:ext cx="4700391" cy="1649410"/>
          </a:xfrm>
          <a:custGeom>
            <a:avLst/>
            <a:gdLst/>
            <a:ahLst/>
            <a:cxnLst/>
            <a:rect l="l" t="t" r="r" b="b"/>
            <a:pathLst>
              <a:path w="4700391" h="1649410">
                <a:moveTo>
                  <a:pt x="0" y="0"/>
                </a:moveTo>
                <a:lnTo>
                  <a:pt x="4700391" y="0"/>
                </a:lnTo>
                <a:lnTo>
                  <a:pt x="4700391" y="1649410"/>
                </a:lnTo>
                <a:lnTo>
                  <a:pt x="0" y="1649410"/>
                </a:lnTo>
                <a:lnTo>
                  <a:pt x="0" y="0"/>
                </a:lnTo>
                <a:close/>
              </a:path>
            </a:pathLst>
          </a:custGeom>
          <a:blipFill>
            <a:blip r:embed="rId10">
              <a:extLst>
                <a:ext uri="{96DAC541-7B7A-43D3-8B79-37D633B846F1}">
                  <asvg:svgBlip xmlns:asvg="http://schemas.microsoft.com/office/drawing/2016/SVG/main" r:embed="rId11"/>
                </a:ext>
              </a:extLst>
            </a:blip>
            <a:stretch>
              <a:fillRect t="-187" b="-187"/>
            </a:stretch>
          </a:blipFill>
        </p:spPr>
      </p:sp>
      <p:sp>
        <p:nvSpPr>
          <p:cNvPr id="8" name="Freeform 8"/>
          <p:cNvSpPr/>
          <p:nvPr/>
        </p:nvSpPr>
        <p:spPr>
          <a:xfrm rot="2909932" flipV="1">
            <a:off x="826415" y="7029018"/>
            <a:ext cx="2450438" cy="4185865"/>
          </a:xfrm>
          <a:custGeom>
            <a:avLst/>
            <a:gdLst/>
            <a:ahLst/>
            <a:cxnLst/>
            <a:rect l="l" t="t" r="r" b="b"/>
            <a:pathLst>
              <a:path w="2450438" h="4185865">
                <a:moveTo>
                  <a:pt x="0" y="4185865"/>
                </a:moveTo>
                <a:lnTo>
                  <a:pt x="2450438" y="4185865"/>
                </a:lnTo>
                <a:lnTo>
                  <a:pt x="2450438" y="0"/>
                </a:lnTo>
                <a:lnTo>
                  <a:pt x="0" y="0"/>
                </a:lnTo>
                <a:lnTo>
                  <a:pt x="0" y="4185865"/>
                </a:lnTo>
                <a:close/>
              </a:path>
            </a:pathLst>
          </a:custGeom>
          <a:blipFill>
            <a:blip r:embed="rId6">
              <a:extLst>
                <a:ext uri="{96DAC541-7B7A-43D3-8B79-37D633B846F1}">
                  <asvg:svgBlip xmlns:asvg="http://schemas.microsoft.com/office/drawing/2016/SVG/main" r:embed="rId7"/>
                </a:ext>
              </a:extLst>
            </a:blip>
            <a:stretch>
              <a:fillRect l="-81" r="-81"/>
            </a:stretch>
          </a:blipFill>
        </p:spPr>
      </p:sp>
      <p:grpSp>
        <p:nvGrpSpPr>
          <p:cNvPr id="9" name="Group 9"/>
          <p:cNvGrpSpPr/>
          <p:nvPr/>
        </p:nvGrpSpPr>
        <p:grpSpPr>
          <a:xfrm>
            <a:off x="3620304" y="-389437"/>
            <a:ext cx="13223742" cy="13062404"/>
            <a:chOff x="0" y="0"/>
            <a:chExt cx="17631656" cy="17416538"/>
          </a:xfrm>
        </p:grpSpPr>
        <p:sp>
          <p:nvSpPr>
            <p:cNvPr id="10" name="Freeform 10"/>
            <p:cNvSpPr/>
            <p:nvPr/>
          </p:nvSpPr>
          <p:spPr>
            <a:xfrm>
              <a:off x="0" y="0"/>
              <a:ext cx="17631656" cy="17416538"/>
            </a:xfrm>
            <a:custGeom>
              <a:avLst/>
              <a:gdLst/>
              <a:ahLst/>
              <a:cxnLst/>
              <a:rect l="l" t="t" r="r" b="b"/>
              <a:pathLst>
                <a:path w="17631656" h="17416538">
                  <a:moveTo>
                    <a:pt x="0" y="0"/>
                  </a:moveTo>
                  <a:lnTo>
                    <a:pt x="17631656" y="0"/>
                  </a:lnTo>
                  <a:lnTo>
                    <a:pt x="17631656" y="17416538"/>
                  </a:lnTo>
                  <a:lnTo>
                    <a:pt x="0" y="17416538"/>
                  </a:lnTo>
                  <a:close/>
                </a:path>
              </a:pathLst>
            </a:custGeom>
            <a:solidFill>
              <a:srgbClr val="000000">
                <a:alpha val="0"/>
              </a:srgbClr>
            </a:solidFill>
          </p:spPr>
        </p:sp>
        <p:sp>
          <p:nvSpPr>
            <p:cNvPr id="11" name="TextBox 11"/>
            <p:cNvSpPr txBox="1"/>
            <p:nvPr/>
          </p:nvSpPr>
          <p:spPr>
            <a:xfrm>
              <a:off x="0" y="-276225"/>
              <a:ext cx="17631656" cy="17692763"/>
            </a:xfrm>
            <a:prstGeom prst="rect">
              <a:avLst/>
            </a:prstGeom>
          </p:spPr>
          <p:txBody>
            <a:bodyPr lIns="0" tIns="0" rIns="0" bIns="0" rtlCol="0" anchor="t"/>
            <a:lstStyle/>
            <a:p>
              <a:pPr algn="l">
                <a:lnSpc>
                  <a:spcPts val="6500"/>
                </a:lnSpc>
              </a:pPr>
              <a:endParaRPr/>
            </a:p>
            <a:p>
              <a:pPr algn="l">
                <a:lnSpc>
                  <a:spcPts val="6500"/>
                </a:lnSpc>
              </a:pPr>
              <a:endParaRPr/>
            </a:p>
            <a:p>
              <a:pPr algn="l">
                <a:lnSpc>
                  <a:spcPts val="10719"/>
                </a:lnSpc>
              </a:pPr>
              <a:r>
                <a:rPr lang="en-US" sz="6098" b="1">
                  <a:solidFill>
                    <a:srgbClr val="A4450A"/>
                  </a:solidFill>
                  <a:latin typeface="Arial Bold"/>
                  <a:ea typeface="Arial Bold"/>
                  <a:cs typeface="Arial Bold"/>
                  <a:sym typeface="Arial Bold"/>
                </a:rPr>
                <a:t>Research Proposal Group 6 </a:t>
              </a:r>
            </a:p>
            <a:p>
              <a:pPr algn="l">
                <a:lnSpc>
                  <a:spcPts val="5179"/>
                </a:lnSpc>
              </a:pPr>
              <a:endParaRPr lang="en-US" sz="6098" b="1">
                <a:solidFill>
                  <a:srgbClr val="A4450A"/>
                </a:solidFill>
                <a:latin typeface="Arial Bold"/>
                <a:ea typeface="Arial Bold"/>
                <a:cs typeface="Arial Bold"/>
                <a:sym typeface="Arial Bold"/>
              </a:endParaRPr>
            </a:p>
            <a:p>
              <a:pPr algn="l">
                <a:lnSpc>
                  <a:spcPts val="5179"/>
                </a:lnSpc>
              </a:pPr>
              <a:r>
                <a:rPr lang="en-US" sz="3699" b="1">
                  <a:solidFill>
                    <a:srgbClr val="A4450A"/>
                  </a:solidFill>
                  <a:latin typeface="Arial Bold"/>
                  <a:ea typeface="Arial Bold"/>
                  <a:cs typeface="Arial Bold"/>
                  <a:sym typeface="Arial Bold"/>
                </a:rPr>
                <a:t>Course Code : ECO 477</a:t>
              </a:r>
            </a:p>
            <a:p>
              <a:pPr algn="l">
                <a:lnSpc>
                  <a:spcPts val="5180"/>
                </a:lnSpc>
              </a:pPr>
              <a:r>
                <a:rPr lang="en-US" sz="3699" b="1">
                  <a:solidFill>
                    <a:srgbClr val="A4450A"/>
                  </a:solidFill>
                  <a:latin typeface="Arial Bold"/>
                  <a:ea typeface="Arial Bold"/>
                  <a:cs typeface="Arial Bold"/>
                  <a:sym typeface="Arial Bold"/>
                </a:rPr>
                <a:t>Course Name : Field Work For Research Methodology </a:t>
              </a:r>
            </a:p>
            <a:p>
              <a:pPr algn="l">
                <a:lnSpc>
                  <a:spcPts val="5180"/>
                </a:lnSpc>
              </a:pPr>
              <a:endParaRPr lang="en-US" sz="3699" b="1">
                <a:solidFill>
                  <a:srgbClr val="A4450A"/>
                </a:solidFill>
                <a:latin typeface="Arial Bold"/>
                <a:ea typeface="Arial Bold"/>
                <a:cs typeface="Arial Bold"/>
                <a:sym typeface="Arial Bold"/>
              </a:endParaRPr>
            </a:p>
            <a:p>
              <a:pPr algn="l">
                <a:lnSpc>
                  <a:spcPts val="5180"/>
                </a:lnSpc>
              </a:pPr>
              <a:r>
                <a:rPr lang="en-US" sz="3699" b="1">
                  <a:solidFill>
                    <a:srgbClr val="A4450A"/>
                  </a:solidFill>
                  <a:latin typeface="Arial Bold"/>
                  <a:ea typeface="Arial Bold"/>
                  <a:cs typeface="Arial Bold"/>
                  <a:sym typeface="Arial Bold"/>
                </a:rPr>
                <a:t>Presented by : </a:t>
              </a:r>
            </a:p>
            <a:p>
              <a:pPr algn="l">
                <a:lnSpc>
                  <a:spcPts val="5180"/>
                </a:lnSpc>
              </a:pPr>
              <a:r>
                <a:rPr lang="en-US" sz="3699" b="1">
                  <a:solidFill>
                    <a:srgbClr val="A4450A"/>
                  </a:solidFill>
                  <a:latin typeface="Arial Bold"/>
                  <a:ea typeface="Arial Bold"/>
                  <a:cs typeface="Arial Bold"/>
                  <a:sym typeface="Arial Bold"/>
                </a:rPr>
                <a:t>1. ANIKA SHEIKH (2019231053)</a:t>
              </a:r>
            </a:p>
            <a:p>
              <a:pPr algn="l">
                <a:lnSpc>
                  <a:spcPts val="5180"/>
                </a:lnSpc>
              </a:pPr>
              <a:r>
                <a:rPr lang="en-US" sz="3699" b="1">
                  <a:solidFill>
                    <a:srgbClr val="A4450A"/>
                  </a:solidFill>
                  <a:latin typeface="Arial Bold"/>
                  <a:ea typeface="Arial Bold"/>
                  <a:cs typeface="Arial Bold"/>
                  <a:sym typeface="Arial Bold"/>
                </a:rPr>
                <a:t>2. NAHIUN NAWAR TORSA (2019231034)</a:t>
              </a:r>
            </a:p>
            <a:p>
              <a:pPr algn="l">
                <a:lnSpc>
                  <a:spcPts val="5179"/>
                </a:lnSpc>
              </a:pPr>
              <a:r>
                <a:rPr lang="en-US" sz="3699" b="1">
                  <a:solidFill>
                    <a:srgbClr val="A4450A"/>
                  </a:solidFill>
                  <a:latin typeface="Arial Bold"/>
                  <a:ea typeface="Arial Bold"/>
                  <a:cs typeface="Arial Bold"/>
                  <a:sym typeface="Arial Bold"/>
                </a:rPr>
                <a:t>3. SYEDA NUSHRAT JAHA NASUHA(2019231050)</a:t>
              </a:r>
            </a:p>
            <a:p>
              <a:pPr algn="l">
                <a:lnSpc>
                  <a:spcPts val="5179"/>
                </a:lnSpc>
              </a:pPr>
              <a:r>
                <a:rPr lang="en-US" sz="3699" b="1">
                  <a:solidFill>
                    <a:srgbClr val="A4450A"/>
                  </a:solidFill>
                  <a:latin typeface="Arial Bold"/>
                  <a:ea typeface="Arial Bold"/>
                  <a:cs typeface="Arial Bold"/>
                  <a:sym typeface="Arial Bold"/>
                </a:rPr>
                <a:t>Supervisor : Mohammad Sadiqunnabi Choudhury, PhD.</a:t>
              </a:r>
            </a:p>
            <a:p>
              <a:pPr algn="l">
                <a:lnSpc>
                  <a:spcPts val="5179"/>
                </a:lnSpc>
              </a:pPr>
              <a:endParaRPr lang="en-US" sz="3699" b="1">
                <a:solidFill>
                  <a:srgbClr val="A4450A"/>
                </a:solidFill>
                <a:latin typeface="Arial Bold"/>
                <a:ea typeface="Arial Bold"/>
                <a:cs typeface="Arial Bold"/>
                <a:sym typeface="Arial Bold"/>
              </a:endParaRPr>
            </a:p>
            <a:p>
              <a:pPr algn="l">
                <a:lnSpc>
                  <a:spcPts val="5179"/>
                </a:lnSpc>
              </a:pPr>
              <a:endParaRPr lang="en-US" sz="3699" b="1">
                <a:solidFill>
                  <a:srgbClr val="A4450A"/>
                </a:solidFill>
                <a:latin typeface="Arial Bold"/>
                <a:ea typeface="Arial Bold"/>
                <a:cs typeface="Arial Bold"/>
                <a:sym typeface="Arial Bold"/>
              </a:endParaRPr>
            </a:p>
            <a:p>
              <a:pPr algn="l">
                <a:lnSpc>
                  <a:spcPts val="5179"/>
                </a:lnSpc>
              </a:pPr>
              <a:endParaRPr lang="en-US" sz="3699" b="1">
                <a:solidFill>
                  <a:srgbClr val="A4450A"/>
                </a:solidFill>
                <a:latin typeface="Arial Bold"/>
                <a:ea typeface="Arial Bold"/>
                <a:cs typeface="Arial Bold"/>
                <a:sym typeface="Arial Bold"/>
              </a:endParaRPr>
            </a:p>
            <a:p>
              <a:pPr algn="l">
                <a:lnSpc>
                  <a:spcPts val="5179"/>
                </a:lnSpc>
              </a:pPr>
              <a:endParaRPr lang="en-US" sz="3699" b="1">
                <a:solidFill>
                  <a:srgbClr val="A4450A"/>
                </a:solidFill>
                <a:latin typeface="Arial Bold"/>
                <a:ea typeface="Arial Bold"/>
                <a:cs typeface="Arial Bold"/>
                <a:sym typeface="Arial Bold"/>
              </a:endParaRPr>
            </a:p>
            <a:p>
              <a:pPr algn="l">
                <a:lnSpc>
                  <a:spcPts val="5180"/>
                </a:lnSpc>
              </a:pPr>
              <a:endParaRPr lang="en-US" sz="3699" b="1">
                <a:solidFill>
                  <a:srgbClr val="A4450A"/>
                </a:solidFill>
                <a:latin typeface="Arial Bold"/>
                <a:ea typeface="Arial Bold"/>
                <a:cs typeface="Arial Bold"/>
                <a:sym typeface="Arial Bold"/>
              </a:endParaRPr>
            </a:p>
          </p:txBody>
        </p:sp>
      </p:grpSp>
      <p:sp>
        <p:nvSpPr>
          <p:cNvPr id="12" name="Freeform 12"/>
          <p:cNvSpPr/>
          <p:nvPr/>
        </p:nvSpPr>
        <p:spPr>
          <a:xfrm rot="1363955" flipH="1">
            <a:off x="-1407618" y="-242438"/>
            <a:ext cx="3637262" cy="7928637"/>
          </a:xfrm>
          <a:custGeom>
            <a:avLst/>
            <a:gdLst/>
            <a:ahLst/>
            <a:cxnLst/>
            <a:rect l="l" t="t" r="r" b="b"/>
            <a:pathLst>
              <a:path w="3637262" h="7928637">
                <a:moveTo>
                  <a:pt x="3637262" y="0"/>
                </a:moveTo>
                <a:lnTo>
                  <a:pt x="0" y="0"/>
                </a:lnTo>
                <a:lnTo>
                  <a:pt x="0" y="7928637"/>
                </a:lnTo>
                <a:lnTo>
                  <a:pt x="3637262" y="7928637"/>
                </a:lnTo>
                <a:lnTo>
                  <a:pt x="3637262" y="0"/>
                </a:lnTo>
                <a:close/>
              </a:path>
            </a:pathLst>
          </a:custGeom>
          <a:blipFill>
            <a:blip r:embed="rId2">
              <a:alphaModFix amt="75000"/>
              <a:extLst>
                <a:ext uri="{96DAC541-7B7A-43D3-8B79-37D633B846F1}">
                  <asvg:svgBlip xmlns:asvg="http://schemas.microsoft.com/office/drawing/2016/SVG/main" r:embed="rId3"/>
                </a:ext>
              </a:extLst>
            </a:blip>
            <a:stretch>
              <a:fillRect t="-78" b="-78"/>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403879" y="469182"/>
            <a:ext cx="13445203" cy="7562946"/>
            <a:chOff x="0" y="0"/>
            <a:chExt cx="17926937" cy="10083928"/>
          </a:xfrm>
        </p:grpSpPr>
        <p:sp>
          <p:nvSpPr>
            <p:cNvPr id="3" name="Freeform 3"/>
            <p:cNvSpPr/>
            <p:nvPr/>
          </p:nvSpPr>
          <p:spPr>
            <a:xfrm>
              <a:off x="0" y="0"/>
              <a:ext cx="17926938" cy="10083927"/>
            </a:xfrm>
            <a:custGeom>
              <a:avLst/>
              <a:gdLst/>
              <a:ahLst/>
              <a:cxnLst/>
              <a:rect l="l" t="t" r="r" b="b"/>
              <a:pathLst>
                <a:path w="17926938" h="10083927">
                  <a:moveTo>
                    <a:pt x="0" y="0"/>
                  </a:moveTo>
                  <a:lnTo>
                    <a:pt x="17926938" y="0"/>
                  </a:lnTo>
                  <a:lnTo>
                    <a:pt x="17926938" y="10083927"/>
                  </a:lnTo>
                  <a:lnTo>
                    <a:pt x="0" y="10083927"/>
                  </a:lnTo>
                  <a:close/>
                </a:path>
              </a:pathLst>
            </a:custGeom>
            <a:solidFill>
              <a:srgbClr val="EFEFEF"/>
            </a:solidFill>
          </p:spPr>
        </p:sp>
      </p:grpSp>
      <p:sp>
        <p:nvSpPr>
          <p:cNvPr id="4" name="Freeform 4"/>
          <p:cNvSpPr/>
          <p:nvPr/>
        </p:nvSpPr>
        <p:spPr>
          <a:xfrm rot="-10057392">
            <a:off x="12705660" y="5026813"/>
            <a:ext cx="4774305" cy="4800490"/>
          </a:xfrm>
          <a:custGeom>
            <a:avLst/>
            <a:gdLst/>
            <a:ahLst/>
            <a:cxnLst/>
            <a:rect l="l" t="t" r="r" b="b"/>
            <a:pathLst>
              <a:path w="4774305" h="4800490">
                <a:moveTo>
                  <a:pt x="0" y="0"/>
                </a:moveTo>
                <a:lnTo>
                  <a:pt x="4774305" y="0"/>
                </a:lnTo>
                <a:lnTo>
                  <a:pt x="4774305" y="4800490"/>
                </a:lnTo>
                <a:lnTo>
                  <a:pt x="0" y="4800490"/>
                </a:lnTo>
                <a:lnTo>
                  <a:pt x="0" y="0"/>
                </a:lnTo>
                <a:close/>
              </a:path>
            </a:pathLst>
          </a:custGeom>
          <a:blipFill>
            <a:blip r:embed="rId2">
              <a:extLst>
                <a:ext uri="{96DAC541-7B7A-43D3-8B79-37D633B846F1}">
                  <asvg:svgBlip xmlns:asvg="http://schemas.microsoft.com/office/drawing/2016/SVG/main" r:embed="rId3"/>
                </a:ext>
              </a:extLst>
            </a:blip>
            <a:stretch>
              <a:fillRect l="-174" r="-174"/>
            </a:stretch>
          </a:blipFill>
        </p:spPr>
      </p:sp>
      <p:sp>
        <p:nvSpPr>
          <p:cNvPr id="5" name="Freeform 5"/>
          <p:cNvSpPr/>
          <p:nvPr/>
        </p:nvSpPr>
        <p:spPr>
          <a:xfrm rot="-4065954">
            <a:off x="11619556" y="5900503"/>
            <a:ext cx="3455700" cy="1212637"/>
          </a:xfrm>
          <a:custGeom>
            <a:avLst/>
            <a:gdLst/>
            <a:ahLst/>
            <a:cxnLst/>
            <a:rect l="l" t="t" r="r" b="b"/>
            <a:pathLst>
              <a:path w="3455700" h="1212637">
                <a:moveTo>
                  <a:pt x="0" y="0"/>
                </a:moveTo>
                <a:lnTo>
                  <a:pt x="3455700" y="0"/>
                </a:lnTo>
                <a:lnTo>
                  <a:pt x="3455700" y="1212637"/>
                </a:lnTo>
                <a:lnTo>
                  <a:pt x="0" y="1212637"/>
                </a:lnTo>
                <a:lnTo>
                  <a:pt x="0" y="0"/>
                </a:lnTo>
                <a:close/>
              </a:path>
            </a:pathLst>
          </a:custGeom>
          <a:blipFill>
            <a:blip r:embed="rId4">
              <a:extLst>
                <a:ext uri="{96DAC541-7B7A-43D3-8B79-37D633B846F1}">
                  <asvg:svgBlip xmlns:asvg="http://schemas.microsoft.com/office/drawing/2016/SVG/main" r:embed="rId5"/>
                </a:ext>
              </a:extLst>
            </a:blip>
            <a:stretch>
              <a:fillRect t="-243" b="-243"/>
            </a:stretch>
          </a:blipFill>
        </p:spPr>
      </p:sp>
      <p:sp>
        <p:nvSpPr>
          <p:cNvPr id="6" name="Freeform 6"/>
          <p:cNvSpPr/>
          <p:nvPr/>
        </p:nvSpPr>
        <p:spPr>
          <a:xfrm rot="-124390" flipV="1">
            <a:off x="13881830" y="5190102"/>
            <a:ext cx="1801547" cy="3077423"/>
          </a:xfrm>
          <a:custGeom>
            <a:avLst/>
            <a:gdLst/>
            <a:ahLst/>
            <a:cxnLst/>
            <a:rect l="l" t="t" r="r" b="b"/>
            <a:pathLst>
              <a:path w="1801547" h="3077423">
                <a:moveTo>
                  <a:pt x="0" y="3077423"/>
                </a:moveTo>
                <a:lnTo>
                  <a:pt x="1801547" y="3077423"/>
                </a:lnTo>
                <a:lnTo>
                  <a:pt x="1801547" y="0"/>
                </a:lnTo>
                <a:lnTo>
                  <a:pt x="0" y="0"/>
                </a:lnTo>
                <a:lnTo>
                  <a:pt x="0" y="3077423"/>
                </a:lnTo>
                <a:close/>
              </a:path>
            </a:pathLst>
          </a:custGeom>
          <a:blipFill>
            <a:blip r:embed="rId6">
              <a:extLst>
                <a:ext uri="{96DAC541-7B7A-43D3-8B79-37D633B846F1}">
                  <asvg:svgBlip xmlns:asvg="http://schemas.microsoft.com/office/drawing/2016/SVG/main" r:embed="rId7"/>
                </a:ext>
              </a:extLst>
            </a:blip>
            <a:stretch>
              <a:fillRect l="-86" r="-86"/>
            </a:stretch>
          </a:blipFill>
        </p:spPr>
      </p:sp>
      <p:sp>
        <p:nvSpPr>
          <p:cNvPr id="7" name="Freeform 7"/>
          <p:cNvSpPr/>
          <p:nvPr/>
        </p:nvSpPr>
        <p:spPr>
          <a:xfrm rot="1363955" flipH="1">
            <a:off x="1369007" y="290944"/>
            <a:ext cx="2674093" cy="5829086"/>
          </a:xfrm>
          <a:custGeom>
            <a:avLst/>
            <a:gdLst/>
            <a:ahLst/>
            <a:cxnLst/>
            <a:rect l="l" t="t" r="r" b="b"/>
            <a:pathLst>
              <a:path w="2674093" h="5829086">
                <a:moveTo>
                  <a:pt x="2674093" y="0"/>
                </a:moveTo>
                <a:lnTo>
                  <a:pt x="0" y="0"/>
                </a:lnTo>
                <a:lnTo>
                  <a:pt x="0" y="5829086"/>
                </a:lnTo>
                <a:lnTo>
                  <a:pt x="2674093" y="5829086"/>
                </a:lnTo>
                <a:lnTo>
                  <a:pt x="2674093" y="0"/>
                </a:lnTo>
                <a:close/>
              </a:path>
            </a:pathLst>
          </a:custGeom>
          <a:blipFill>
            <a:blip r:embed="rId8">
              <a:alphaModFix amt="75000"/>
              <a:extLst>
                <a:ext uri="{96DAC541-7B7A-43D3-8B79-37D633B846F1}">
                  <asvg:svgBlip xmlns:asvg="http://schemas.microsoft.com/office/drawing/2016/SVG/main" r:embed="rId9"/>
                </a:ext>
              </a:extLst>
            </a:blip>
            <a:stretch>
              <a:fillRect t="-38" b="-38"/>
            </a:stretch>
          </a:blipFill>
        </p:spPr>
      </p:sp>
      <p:grpSp>
        <p:nvGrpSpPr>
          <p:cNvPr id="8" name="Group 8"/>
          <p:cNvGrpSpPr/>
          <p:nvPr/>
        </p:nvGrpSpPr>
        <p:grpSpPr>
          <a:xfrm>
            <a:off x="2706053" y="3901096"/>
            <a:ext cx="12076551" cy="2330011"/>
            <a:chOff x="0" y="0"/>
            <a:chExt cx="16102068" cy="3106682"/>
          </a:xfrm>
        </p:grpSpPr>
        <p:sp>
          <p:nvSpPr>
            <p:cNvPr id="9" name="Freeform 9"/>
            <p:cNvSpPr/>
            <p:nvPr/>
          </p:nvSpPr>
          <p:spPr>
            <a:xfrm>
              <a:off x="0" y="0"/>
              <a:ext cx="16102068" cy="3106682"/>
            </a:xfrm>
            <a:custGeom>
              <a:avLst/>
              <a:gdLst/>
              <a:ahLst/>
              <a:cxnLst/>
              <a:rect l="l" t="t" r="r" b="b"/>
              <a:pathLst>
                <a:path w="16102068" h="3106682">
                  <a:moveTo>
                    <a:pt x="0" y="0"/>
                  </a:moveTo>
                  <a:lnTo>
                    <a:pt x="16102068" y="0"/>
                  </a:lnTo>
                  <a:lnTo>
                    <a:pt x="16102068" y="3106682"/>
                  </a:lnTo>
                  <a:lnTo>
                    <a:pt x="0" y="3106682"/>
                  </a:lnTo>
                  <a:close/>
                </a:path>
              </a:pathLst>
            </a:custGeom>
            <a:solidFill>
              <a:srgbClr val="000000">
                <a:alpha val="0"/>
              </a:srgbClr>
            </a:solidFill>
          </p:spPr>
        </p:sp>
        <p:sp>
          <p:nvSpPr>
            <p:cNvPr id="10" name="TextBox 10"/>
            <p:cNvSpPr txBox="1"/>
            <p:nvPr/>
          </p:nvSpPr>
          <p:spPr>
            <a:xfrm>
              <a:off x="0" y="-142875"/>
              <a:ext cx="16102068" cy="3249557"/>
            </a:xfrm>
            <a:prstGeom prst="rect">
              <a:avLst/>
            </a:prstGeom>
          </p:spPr>
          <p:txBody>
            <a:bodyPr lIns="0" tIns="0" rIns="0" bIns="0" rtlCol="0" anchor="t"/>
            <a:lstStyle/>
            <a:p>
              <a:pPr algn="ctr">
                <a:lnSpc>
                  <a:spcPts val="5179"/>
                </a:lnSpc>
              </a:pPr>
              <a:r>
                <a:rPr lang="en-US" sz="3699" b="1">
                  <a:solidFill>
                    <a:srgbClr val="5E17EB"/>
                  </a:solidFill>
                  <a:latin typeface="Arial Bold"/>
                  <a:ea typeface="Arial Bold"/>
                  <a:cs typeface="Arial Bold"/>
                  <a:sym typeface="Arial Bold"/>
                </a:rPr>
                <a:t> </a:t>
              </a:r>
              <a:r>
                <a:rPr lang="en-US" sz="3699" b="1">
                  <a:solidFill>
                    <a:srgbClr val="984807"/>
                  </a:solidFill>
                  <a:latin typeface="Arial Bold"/>
                  <a:ea typeface="Arial Bold"/>
                  <a:cs typeface="Arial Bold"/>
                  <a:sym typeface="Arial Bold"/>
                </a:rPr>
                <a:t>The Role of Discounts and Promotions in Shaping Consumer Buying Decisions: Evidence from North East, Bangladesh </a:t>
              </a:r>
            </a:p>
          </p:txBody>
        </p:sp>
      </p:grpSp>
      <p:grpSp>
        <p:nvGrpSpPr>
          <p:cNvPr id="11" name="Group 11"/>
          <p:cNvGrpSpPr/>
          <p:nvPr/>
        </p:nvGrpSpPr>
        <p:grpSpPr>
          <a:xfrm>
            <a:off x="6624792" y="2071376"/>
            <a:ext cx="4642038" cy="2890970"/>
            <a:chOff x="0" y="0"/>
            <a:chExt cx="6189384" cy="3854627"/>
          </a:xfrm>
        </p:grpSpPr>
        <p:sp>
          <p:nvSpPr>
            <p:cNvPr id="12" name="Freeform 12"/>
            <p:cNvSpPr/>
            <p:nvPr/>
          </p:nvSpPr>
          <p:spPr>
            <a:xfrm>
              <a:off x="0" y="0"/>
              <a:ext cx="6189384" cy="3854627"/>
            </a:xfrm>
            <a:custGeom>
              <a:avLst/>
              <a:gdLst/>
              <a:ahLst/>
              <a:cxnLst/>
              <a:rect l="l" t="t" r="r" b="b"/>
              <a:pathLst>
                <a:path w="6189384" h="3854627">
                  <a:moveTo>
                    <a:pt x="0" y="0"/>
                  </a:moveTo>
                  <a:lnTo>
                    <a:pt x="6189384" y="0"/>
                  </a:lnTo>
                  <a:lnTo>
                    <a:pt x="6189384" y="3854627"/>
                  </a:lnTo>
                  <a:lnTo>
                    <a:pt x="0" y="3854627"/>
                  </a:lnTo>
                  <a:close/>
                </a:path>
              </a:pathLst>
            </a:custGeom>
            <a:solidFill>
              <a:srgbClr val="000000">
                <a:alpha val="0"/>
              </a:srgbClr>
            </a:solidFill>
          </p:spPr>
        </p:sp>
        <p:sp>
          <p:nvSpPr>
            <p:cNvPr id="13" name="TextBox 13"/>
            <p:cNvSpPr txBox="1"/>
            <p:nvPr/>
          </p:nvSpPr>
          <p:spPr>
            <a:xfrm>
              <a:off x="0" y="-266700"/>
              <a:ext cx="6189384" cy="4121327"/>
            </a:xfrm>
            <a:prstGeom prst="rect">
              <a:avLst/>
            </a:prstGeom>
          </p:spPr>
          <p:txBody>
            <a:bodyPr lIns="0" tIns="0" rIns="0" bIns="0" rtlCol="0" anchor="t"/>
            <a:lstStyle/>
            <a:p>
              <a:pPr algn="ctr">
                <a:lnSpc>
                  <a:spcPts val="9657"/>
                </a:lnSpc>
              </a:pPr>
              <a:r>
                <a:rPr lang="en-US" sz="6897" b="1">
                  <a:solidFill>
                    <a:srgbClr val="A4450A"/>
                  </a:solidFill>
                  <a:latin typeface="Arial Bold"/>
                  <a:ea typeface="Arial Bold"/>
                  <a:cs typeface="Arial Bold"/>
                  <a:sym typeface="Arial Bold"/>
                </a:rPr>
                <a:t>Tittle</a:t>
              </a:r>
              <a:r>
                <a:rPr lang="en-US" sz="6897" b="1">
                  <a:solidFill>
                    <a:srgbClr val="632523"/>
                  </a:solidFill>
                  <a:latin typeface="Arial Bold"/>
                  <a:ea typeface="Arial Bold"/>
                  <a:cs typeface="Arial Bold"/>
                  <a:sym typeface="Arial Bold"/>
                </a:rPr>
                <a:t>  </a:t>
              </a:r>
            </a:p>
            <a:p>
              <a:pPr algn="ctr">
                <a:lnSpc>
                  <a:spcPts val="9657"/>
                </a:lnSpc>
              </a:pPr>
              <a:endParaRPr lang="en-US" sz="6897" b="1">
                <a:solidFill>
                  <a:srgbClr val="632523"/>
                </a:solidFill>
                <a:latin typeface="Arial Bold"/>
                <a:ea typeface="Arial Bold"/>
                <a:cs typeface="Arial Bold"/>
                <a:sym typeface="Arial Bold"/>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TextBox 2"/>
          <p:cNvSpPr txBox="1"/>
          <p:nvPr/>
        </p:nvSpPr>
        <p:spPr>
          <a:xfrm>
            <a:off x="6240355" y="790575"/>
            <a:ext cx="5936359" cy="1152525"/>
          </a:xfrm>
          <a:prstGeom prst="rect">
            <a:avLst/>
          </a:prstGeom>
        </p:spPr>
        <p:txBody>
          <a:bodyPr lIns="0" tIns="0" rIns="0" bIns="0" rtlCol="0" anchor="t">
            <a:spAutoFit/>
          </a:bodyPr>
          <a:lstStyle/>
          <a:p>
            <a:pPr algn="ctr">
              <a:lnSpc>
                <a:spcPts val="8400"/>
              </a:lnSpc>
            </a:pPr>
            <a:r>
              <a:rPr lang="en-US" sz="6000" b="1">
                <a:solidFill>
                  <a:srgbClr val="A4450A"/>
                </a:solidFill>
                <a:latin typeface="Arial Bold"/>
                <a:ea typeface="Arial Bold"/>
                <a:cs typeface="Arial Bold"/>
                <a:sym typeface="Arial Bold"/>
              </a:rPr>
              <a:t>Introduction</a:t>
            </a:r>
          </a:p>
        </p:txBody>
      </p:sp>
      <p:sp>
        <p:nvSpPr>
          <p:cNvPr id="3" name="TextBox 3"/>
          <p:cNvSpPr txBox="1"/>
          <p:nvPr/>
        </p:nvSpPr>
        <p:spPr>
          <a:xfrm>
            <a:off x="2692931" y="2464344"/>
            <a:ext cx="14566369" cy="6621145"/>
          </a:xfrm>
          <a:prstGeom prst="rect">
            <a:avLst/>
          </a:prstGeom>
        </p:spPr>
        <p:txBody>
          <a:bodyPr lIns="0" tIns="0" rIns="0" bIns="0" rtlCol="0" anchor="t">
            <a:spAutoFit/>
          </a:bodyPr>
          <a:lstStyle/>
          <a:p>
            <a:pPr algn="ctr">
              <a:lnSpc>
                <a:spcPts val="5179"/>
              </a:lnSpc>
            </a:pPr>
            <a:r>
              <a:rPr lang="en-US" sz="3699">
                <a:solidFill>
                  <a:srgbClr val="000000"/>
                </a:solidFill>
                <a:latin typeface="Arial"/>
                <a:ea typeface="Arial"/>
                <a:cs typeface="Arial"/>
                <a:sym typeface="Arial"/>
              </a:rPr>
              <a:t>These marketing tools significantly : </a:t>
            </a:r>
          </a:p>
          <a:p>
            <a:pPr algn="ctr">
              <a:lnSpc>
                <a:spcPts val="5179"/>
              </a:lnSpc>
            </a:pPr>
            <a:endParaRPr lang="en-US" sz="3699">
              <a:solidFill>
                <a:srgbClr val="000000"/>
              </a:solidFill>
              <a:latin typeface="Arial"/>
              <a:ea typeface="Arial"/>
              <a:cs typeface="Arial"/>
              <a:sym typeface="Arial"/>
            </a:endParaRPr>
          </a:p>
          <a:p>
            <a:pPr algn="ctr">
              <a:lnSpc>
                <a:spcPts val="5179"/>
              </a:lnSpc>
            </a:pPr>
            <a:r>
              <a:rPr lang="en-US" sz="3699">
                <a:solidFill>
                  <a:srgbClr val="000000"/>
                </a:solidFill>
                <a:latin typeface="Arial"/>
                <a:ea typeface="Arial"/>
                <a:cs typeface="Arial"/>
                <a:sym typeface="Arial"/>
              </a:rPr>
              <a:t>‌‌‌‌‌‌‌‌‌=&gt; influence consumer behavior</a:t>
            </a:r>
          </a:p>
          <a:p>
            <a:pPr algn="ctr">
              <a:lnSpc>
                <a:spcPts val="5179"/>
              </a:lnSpc>
            </a:pPr>
            <a:r>
              <a:rPr lang="en-US" sz="3699">
                <a:solidFill>
                  <a:srgbClr val="000000"/>
                </a:solidFill>
                <a:latin typeface="Arial"/>
                <a:ea typeface="Arial"/>
                <a:cs typeface="Arial"/>
                <a:sym typeface="Arial"/>
              </a:rPr>
              <a:t>=&gt; prompt immediate purchases</a:t>
            </a:r>
          </a:p>
          <a:p>
            <a:pPr algn="ctr">
              <a:lnSpc>
                <a:spcPts val="5179"/>
              </a:lnSpc>
            </a:pPr>
            <a:r>
              <a:rPr lang="en-US" sz="3699">
                <a:solidFill>
                  <a:srgbClr val="000000"/>
                </a:solidFill>
                <a:latin typeface="Arial"/>
                <a:ea typeface="Arial"/>
                <a:cs typeface="Arial"/>
                <a:sym typeface="Arial"/>
              </a:rPr>
              <a:t>=&gt; brand switching</a:t>
            </a:r>
          </a:p>
          <a:p>
            <a:pPr algn="ctr">
              <a:lnSpc>
                <a:spcPts val="5179"/>
              </a:lnSpc>
            </a:pPr>
            <a:r>
              <a:rPr lang="en-US" sz="3699">
                <a:solidFill>
                  <a:srgbClr val="000000"/>
                </a:solidFill>
                <a:latin typeface="Arial"/>
                <a:ea typeface="Arial"/>
                <a:cs typeface="Arial"/>
                <a:sym typeface="Arial"/>
              </a:rPr>
              <a:t>=&gt; higher sales volume.</a:t>
            </a:r>
          </a:p>
          <a:p>
            <a:pPr algn="ctr">
              <a:lnSpc>
                <a:spcPts val="5179"/>
              </a:lnSpc>
            </a:pPr>
            <a:endParaRPr lang="en-US" sz="3699">
              <a:solidFill>
                <a:srgbClr val="000000"/>
              </a:solidFill>
              <a:latin typeface="Arial"/>
              <a:ea typeface="Arial"/>
              <a:cs typeface="Arial"/>
              <a:sym typeface="Arial"/>
            </a:endParaRPr>
          </a:p>
          <a:p>
            <a:pPr algn="ctr">
              <a:lnSpc>
                <a:spcPts val="5179"/>
              </a:lnSpc>
            </a:pPr>
            <a:r>
              <a:rPr lang="en-US" sz="3699">
                <a:solidFill>
                  <a:srgbClr val="000000"/>
                </a:solidFill>
                <a:latin typeface="Arial"/>
                <a:ea typeface="Arial"/>
                <a:cs typeface="Arial"/>
                <a:sym typeface="Arial"/>
              </a:rPr>
              <a:t>One of the benefits of promotions is that they stimulate the consumers to compare different brands and evaluate the purchase possibilities in such cases (Wathieu &amp; Murre, 2007)</a:t>
            </a:r>
          </a:p>
        </p:txBody>
      </p:sp>
      <p:grpSp>
        <p:nvGrpSpPr>
          <p:cNvPr id="4" name="Group 4"/>
          <p:cNvGrpSpPr/>
          <p:nvPr/>
        </p:nvGrpSpPr>
        <p:grpSpPr>
          <a:xfrm rot="-10800000">
            <a:off x="12176714" y="-1555083"/>
            <a:ext cx="7015142" cy="5679421"/>
            <a:chOff x="0" y="0"/>
            <a:chExt cx="9353523" cy="7572561"/>
          </a:xfrm>
        </p:grpSpPr>
        <p:sp>
          <p:nvSpPr>
            <p:cNvPr id="5" name="Freeform 5"/>
            <p:cNvSpPr/>
            <p:nvPr/>
          </p:nvSpPr>
          <p:spPr>
            <a:xfrm>
              <a:off x="0" y="0"/>
              <a:ext cx="6819446" cy="6856847"/>
            </a:xfrm>
            <a:custGeom>
              <a:avLst/>
              <a:gdLst/>
              <a:ahLst/>
              <a:cxnLst/>
              <a:rect l="l" t="t" r="r" b="b"/>
              <a:pathLst>
                <a:path w="6819446" h="6856847">
                  <a:moveTo>
                    <a:pt x="0" y="0"/>
                  </a:moveTo>
                  <a:lnTo>
                    <a:pt x="6819446" y="0"/>
                  </a:lnTo>
                  <a:lnTo>
                    <a:pt x="6819446" y="6856847"/>
                  </a:lnTo>
                  <a:lnTo>
                    <a:pt x="0" y="685684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flipV="1">
              <a:off x="1776098" y="1991407"/>
              <a:ext cx="3267251" cy="5581154"/>
            </a:xfrm>
            <a:custGeom>
              <a:avLst/>
              <a:gdLst/>
              <a:ahLst/>
              <a:cxnLst/>
              <a:rect l="l" t="t" r="r" b="b"/>
              <a:pathLst>
                <a:path w="3267251" h="5581154">
                  <a:moveTo>
                    <a:pt x="0" y="5581154"/>
                  </a:moveTo>
                  <a:lnTo>
                    <a:pt x="3267251" y="5581154"/>
                  </a:lnTo>
                  <a:lnTo>
                    <a:pt x="3267251" y="0"/>
                  </a:lnTo>
                  <a:lnTo>
                    <a:pt x="0" y="0"/>
                  </a:lnTo>
                  <a:lnTo>
                    <a:pt x="0" y="5581154"/>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5474250" y="2308489"/>
              <a:ext cx="3879273" cy="1911423"/>
            </a:xfrm>
            <a:custGeom>
              <a:avLst/>
              <a:gdLst/>
              <a:ahLst/>
              <a:cxnLst/>
              <a:rect l="l" t="t" r="r" b="b"/>
              <a:pathLst>
                <a:path w="3879273" h="1911423">
                  <a:moveTo>
                    <a:pt x="0" y="0"/>
                  </a:moveTo>
                  <a:lnTo>
                    <a:pt x="3879273" y="0"/>
                  </a:lnTo>
                  <a:lnTo>
                    <a:pt x="3879273" y="1911424"/>
                  </a:lnTo>
                  <a:lnTo>
                    <a:pt x="0" y="191142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sp>
        <p:nvSpPr>
          <p:cNvPr id="8" name="Freeform 8"/>
          <p:cNvSpPr/>
          <p:nvPr/>
        </p:nvSpPr>
        <p:spPr>
          <a:xfrm flipH="1">
            <a:off x="0" y="5143500"/>
            <a:ext cx="3616776" cy="7883980"/>
          </a:xfrm>
          <a:custGeom>
            <a:avLst/>
            <a:gdLst/>
            <a:ahLst/>
            <a:cxnLst/>
            <a:rect l="l" t="t" r="r" b="b"/>
            <a:pathLst>
              <a:path w="3616776" h="7883980">
                <a:moveTo>
                  <a:pt x="3616776" y="0"/>
                </a:moveTo>
                <a:lnTo>
                  <a:pt x="0" y="0"/>
                </a:lnTo>
                <a:lnTo>
                  <a:pt x="0" y="7883980"/>
                </a:lnTo>
                <a:lnTo>
                  <a:pt x="3616776" y="7883980"/>
                </a:lnTo>
                <a:lnTo>
                  <a:pt x="3616776" y="0"/>
                </a:lnTo>
                <a:close/>
              </a:path>
            </a:pathLst>
          </a:custGeom>
          <a:blipFill>
            <a:blip r:embed="rId8">
              <a:alphaModFix amt="75000"/>
              <a:extLst>
                <a:ext uri="{96DAC541-7B7A-43D3-8B79-37D633B846F1}">
                  <asvg:svgBlip xmlns:asvg="http://schemas.microsoft.com/office/drawing/2016/SVG/main" r:embed="rId9"/>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TextBox 2"/>
          <p:cNvSpPr txBox="1"/>
          <p:nvPr/>
        </p:nvSpPr>
        <p:spPr>
          <a:xfrm>
            <a:off x="4623943" y="790575"/>
            <a:ext cx="9040115" cy="1152525"/>
          </a:xfrm>
          <a:prstGeom prst="rect">
            <a:avLst/>
          </a:prstGeom>
        </p:spPr>
        <p:txBody>
          <a:bodyPr lIns="0" tIns="0" rIns="0" bIns="0" rtlCol="0" anchor="t">
            <a:spAutoFit/>
          </a:bodyPr>
          <a:lstStyle/>
          <a:p>
            <a:pPr algn="ctr">
              <a:lnSpc>
                <a:spcPts val="8400"/>
              </a:lnSpc>
            </a:pPr>
            <a:r>
              <a:rPr lang="en-US" sz="6000" b="1">
                <a:solidFill>
                  <a:srgbClr val="A4450A"/>
                </a:solidFill>
                <a:latin typeface="Arial Bold"/>
                <a:ea typeface="Arial Bold"/>
                <a:cs typeface="Arial Bold"/>
                <a:sym typeface="Arial Bold"/>
              </a:rPr>
              <a:t>Background of the study</a:t>
            </a:r>
          </a:p>
        </p:txBody>
      </p:sp>
      <p:sp>
        <p:nvSpPr>
          <p:cNvPr id="3" name="Freeform 3"/>
          <p:cNvSpPr/>
          <p:nvPr/>
        </p:nvSpPr>
        <p:spPr>
          <a:xfrm>
            <a:off x="-1699183" y="-1162878"/>
            <a:ext cx="5114585" cy="5142635"/>
          </a:xfrm>
          <a:custGeom>
            <a:avLst/>
            <a:gdLst/>
            <a:ahLst/>
            <a:cxnLst/>
            <a:rect l="l" t="t" r="r" b="b"/>
            <a:pathLst>
              <a:path w="5114585" h="5142635">
                <a:moveTo>
                  <a:pt x="0" y="0"/>
                </a:moveTo>
                <a:lnTo>
                  <a:pt x="5114584" y="0"/>
                </a:lnTo>
                <a:lnTo>
                  <a:pt x="5114584" y="5142636"/>
                </a:lnTo>
                <a:lnTo>
                  <a:pt x="0" y="51426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V="1">
            <a:off x="-367110" y="330677"/>
            <a:ext cx="2450438" cy="4185866"/>
          </a:xfrm>
          <a:custGeom>
            <a:avLst/>
            <a:gdLst/>
            <a:ahLst/>
            <a:cxnLst/>
            <a:rect l="l" t="t" r="r" b="b"/>
            <a:pathLst>
              <a:path w="2450438" h="4185866">
                <a:moveTo>
                  <a:pt x="0" y="4185866"/>
                </a:moveTo>
                <a:lnTo>
                  <a:pt x="2450438" y="4185866"/>
                </a:lnTo>
                <a:lnTo>
                  <a:pt x="2450438" y="0"/>
                </a:lnTo>
                <a:lnTo>
                  <a:pt x="0" y="0"/>
                </a:lnTo>
                <a:lnTo>
                  <a:pt x="0" y="4185866"/>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2406504" y="568489"/>
            <a:ext cx="2909455" cy="1433568"/>
          </a:xfrm>
          <a:custGeom>
            <a:avLst/>
            <a:gdLst/>
            <a:ahLst/>
            <a:cxnLst/>
            <a:rect l="l" t="t" r="r" b="b"/>
            <a:pathLst>
              <a:path w="2909455" h="1433568">
                <a:moveTo>
                  <a:pt x="2909455" y="0"/>
                </a:moveTo>
                <a:lnTo>
                  <a:pt x="0" y="0"/>
                </a:lnTo>
                <a:lnTo>
                  <a:pt x="0" y="1433568"/>
                </a:lnTo>
                <a:lnTo>
                  <a:pt x="2909455" y="1433568"/>
                </a:lnTo>
                <a:lnTo>
                  <a:pt x="2909455"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4978457" y="3979758"/>
            <a:ext cx="3616776" cy="7883980"/>
          </a:xfrm>
          <a:custGeom>
            <a:avLst/>
            <a:gdLst/>
            <a:ahLst/>
            <a:cxnLst/>
            <a:rect l="l" t="t" r="r" b="b"/>
            <a:pathLst>
              <a:path w="3616776" h="7883980">
                <a:moveTo>
                  <a:pt x="0" y="0"/>
                </a:moveTo>
                <a:lnTo>
                  <a:pt x="3616776" y="0"/>
                </a:lnTo>
                <a:lnTo>
                  <a:pt x="3616776" y="7883979"/>
                </a:lnTo>
                <a:lnTo>
                  <a:pt x="0" y="7883979"/>
                </a:lnTo>
                <a:lnTo>
                  <a:pt x="0" y="0"/>
                </a:lnTo>
                <a:close/>
              </a:path>
            </a:pathLst>
          </a:custGeom>
          <a:blipFill>
            <a:blip r:embed="rId8">
              <a:alphaModFix amt="75000"/>
              <a:extLst>
                <a:ext uri="{96DAC541-7B7A-43D3-8B79-37D633B846F1}">
                  <asvg:svgBlip xmlns:asvg="http://schemas.microsoft.com/office/drawing/2016/SVG/main" r:embed="rId9"/>
                </a:ext>
              </a:extLst>
            </a:blip>
            <a:stretch>
              <a:fillRect/>
            </a:stretch>
          </a:blipFill>
        </p:spPr>
      </p:sp>
      <p:sp>
        <p:nvSpPr>
          <p:cNvPr id="7" name="TextBox 7"/>
          <p:cNvSpPr txBox="1"/>
          <p:nvPr/>
        </p:nvSpPr>
        <p:spPr>
          <a:xfrm>
            <a:off x="2083328" y="2726705"/>
            <a:ext cx="13343286" cy="6621145"/>
          </a:xfrm>
          <a:prstGeom prst="rect">
            <a:avLst/>
          </a:prstGeom>
        </p:spPr>
        <p:txBody>
          <a:bodyPr lIns="0" tIns="0" rIns="0" bIns="0" rtlCol="0" anchor="t">
            <a:spAutoFit/>
          </a:bodyPr>
          <a:lstStyle/>
          <a:p>
            <a:pPr algn="l">
              <a:lnSpc>
                <a:spcPts val="5179"/>
              </a:lnSpc>
              <a:spcBef>
                <a:spcPct val="0"/>
              </a:spcBef>
            </a:pPr>
            <a:r>
              <a:rPr lang="en-US" sz="3699">
                <a:solidFill>
                  <a:srgbClr val="000000"/>
                </a:solidFill>
                <a:latin typeface="Arial"/>
                <a:ea typeface="Arial"/>
                <a:cs typeface="Arial"/>
                <a:sym typeface="Arial"/>
              </a:rPr>
              <a:t>📌 Why Discounts Matter?</a:t>
            </a:r>
          </a:p>
          <a:p>
            <a:pPr algn="l">
              <a:lnSpc>
                <a:spcPts val="5179"/>
              </a:lnSpc>
              <a:spcBef>
                <a:spcPct val="0"/>
              </a:spcBef>
            </a:pPr>
            <a:endParaRPr lang="en-US" sz="3699">
              <a:solidFill>
                <a:srgbClr val="000000"/>
              </a:solidFill>
              <a:latin typeface="Arial"/>
              <a:ea typeface="Arial"/>
              <a:cs typeface="Arial"/>
              <a:sym typeface="Arial"/>
            </a:endParaRPr>
          </a:p>
          <a:p>
            <a:pPr algn="l">
              <a:lnSpc>
                <a:spcPts val="5179"/>
              </a:lnSpc>
              <a:spcBef>
                <a:spcPct val="0"/>
              </a:spcBef>
            </a:pPr>
            <a:r>
              <a:rPr lang="en-US" sz="3699">
                <a:solidFill>
                  <a:srgbClr val="000000"/>
                </a:solidFill>
                <a:latin typeface="Arial"/>
                <a:ea typeface="Arial"/>
                <a:cs typeface="Arial"/>
                <a:sym typeface="Arial"/>
              </a:rPr>
              <a:t>Boost sales, attract consumers, and influence buying behavior.</a:t>
            </a:r>
          </a:p>
          <a:p>
            <a:pPr algn="l">
              <a:lnSpc>
                <a:spcPts val="5179"/>
              </a:lnSpc>
              <a:spcBef>
                <a:spcPct val="0"/>
              </a:spcBef>
            </a:pPr>
            <a:r>
              <a:rPr lang="en-US" sz="3699">
                <a:solidFill>
                  <a:srgbClr val="000000"/>
                </a:solidFill>
                <a:latin typeface="Arial"/>
                <a:ea typeface="Arial"/>
                <a:cs typeface="Arial"/>
                <a:sym typeface="Arial"/>
              </a:rPr>
              <a:t>Create short-term gains, but long-term brand impact is uncertain</a:t>
            </a:r>
          </a:p>
          <a:p>
            <a:pPr algn="l">
              <a:lnSpc>
                <a:spcPts val="5179"/>
              </a:lnSpc>
              <a:spcBef>
                <a:spcPct val="0"/>
              </a:spcBef>
            </a:pPr>
            <a:endParaRPr lang="en-US" sz="3699">
              <a:solidFill>
                <a:srgbClr val="000000"/>
              </a:solidFill>
              <a:latin typeface="Arial"/>
              <a:ea typeface="Arial"/>
              <a:cs typeface="Arial"/>
              <a:sym typeface="Arial"/>
            </a:endParaRPr>
          </a:p>
          <a:p>
            <a:pPr algn="l">
              <a:lnSpc>
                <a:spcPts val="5179"/>
              </a:lnSpc>
              <a:spcBef>
                <a:spcPct val="0"/>
              </a:spcBef>
            </a:pPr>
            <a:r>
              <a:rPr lang="en-US" sz="3699">
                <a:solidFill>
                  <a:srgbClr val="000000"/>
                </a:solidFill>
                <a:latin typeface="Arial"/>
                <a:ea typeface="Arial"/>
                <a:cs typeface="Arial"/>
                <a:sym typeface="Arial"/>
              </a:rPr>
              <a:t>📊 Economic &amp; Psychological Impact</a:t>
            </a:r>
          </a:p>
          <a:p>
            <a:pPr algn="l">
              <a:lnSpc>
                <a:spcPts val="5179"/>
              </a:lnSpc>
              <a:spcBef>
                <a:spcPct val="0"/>
              </a:spcBef>
            </a:pPr>
            <a:endParaRPr lang="en-US" sz="3699">
              <a:solidFill>
                <a:srgbClr val="000000"/>
              </a:solidFill>
              <a:latin typeface="Arial"/>
              <a:ea typeface="Arial"/>
              <a:cs typeface="Arial"/>
              <a:sym typeface="Arial"/>
            </a:endParaRPr>
          </a:p>
          <a:p>
            <a:pPr algn="l">
              <a:lnSpc>
                <a:spcPts val="5179"/>
              </a:lnSpc>
              <a:spcBef>
                <a:spcPct val="0"/>
              </a:spcBef>
            </a:pPr>
            <a:r>
              <a:rPr lang="en-US" sz="3699">
                <a:solidFill>
                  <a:srgbClr val="000000"/>
                </a:solidFill>
                <a:latin typeface="Arial"/>
                <a:ea typeface="Arial"/>
                <a:cs typeface="Arial"/>
                <a:sym typeface="Arial"/>
              </a:rPr>
              <a:t>Price Sensitivity : Consumers react to price drops.</a:t>
            </a:r>
          </a:p>
          <a:p>
            <a:pPr algn="l">
              <a:lnSpc>
                <a:spcPts val="5179"/>
              </a:lnSpc>
              <a:spcBef>
                <a:spcPct val="0"/>
              </a:spcBef>
            </a:pPr>
            <a:r>
              <a:rPr lang="en-US" sz="3699">
                <a:solidFill>
                  <a:srgbClr val="000000"/>
                </a:solidFill>
                <a:latin typeface="Arial"/>
                <a:ea typeface="Arial"/>
                <a:cs typeface="Arial"/>
                <a:sym typeface="Arial"/>
              </a:rPr>
              <a:t>Scarcity &amp; FOMO: Urgency drives quick purchases.</a:t>
            </a:r>
          </a:p>
          <a:p>
            <a:pPr algn="l">
              <a:lnSpc>
                <a:spcPts val="5179"/>
              </a:lnSpc>
              <a:spcBef>
                <a:spcPct val="0"/>
              </a:spcBef>
            </a:pPr>
            <a:r>
              <a:rPr lang="en-US" sz="3699">
                <a:solidFill>
                  <a:srgbClr val="000000"/>
                </a:solidFill>
                <a:latin typeface="Arial"/>
                <a:ea typeface="Arial"/>
                <a:cs typeface="Arial"/>
                <a:sym typeface="Arial"/>
              </a:rPr>
              <a:t>Perceived Value: Excessive discounts may lower trust in quality.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grpSp>
        <p:nvGrpSpPr>
          <p:cNvPr id="2" name="Group 2"/>
          <p:cNvGrpSpPr/>
          <p:nvPr/>
        </p:nvGrpSpPr>
        <p:grpSpPr>
          <a:xfrm>
            <a:off x="3708613" y="611981"/>
            <a:ext cx="10870774" cy="1331119"/>
            <a:chOff x="0" y="0"/>
            <a:chExt cx="14494365" cy="1774825"/>
          </a:xfrm>
        </p:grpSpPr>
        <p:sp>
          <p:nvSpPr>
            <p:cNvPr id="3" name="Freeform 3"/>
            <p:cNvSpPr/>
            <p:nvPr/>
          </p:nvSpPr>
          <p:spPr>
            <a:xfrm>
              <a:off x="0" y="0"/>
              <a:ext cx="14494365" cy="1774825"/>
            </a:xfrm>
            <a:custGeom>
              <a:avLst/>
              <a:gdLst/>
              <a:ahLst/>
              <a:cxnLst/>
              <a:rect l="l" t="t" r="r" b="b"/>
              <a:pathLst>
                <a:path w="14494365" h="1774825">
                  <a:moveTo>
                    <a:pt x="0" y="0"/>
                  </a:moveTo>
                  <a:lnTo>
                    <a:pt x="14494365" y="0"/>
                  </a:lnTo>
                  <a:lnTo>
                    <a:pt x="14494365" y="1774825"/>
                  </a:lnTo>
                  <a:lnTo>
                    <a:pt x="0" y="1774825"/>
                  </a:lnTo>
                  <a:close/>
                </a:path>
              </a:pathLst>
            </a:custGeom>
            <a:solidFill>
              <a:srgbClr val="000000">
                <a:alpha val="0"/>
              </a:srgbClr>
            </a:solidFill>
          </p:spPr>
        </p:sp>
        <p:sp>
          <p:nvSpPr>
            <p:cNvPr id="4" name="TextBox 4"/>
            <p:cNvSpPr txBox="1"/>
            <p:nvPr/>
          </p:nvSpPr>
          <p:spPr>
            <a:xfrm>
              <a:off x="0" y="-238125"/>
              <a:ext cx="14494365" cy="2012950"/>
            </a:xfrm>
            <a:prstGeom prst="rect">
              <a:avLst/>
            </a:prstGeom>
          </p:spPr>
          <p:txBody>
            <a:bodyPr lIns="0" tIns="0" rIns="0" bIns="0" rtlCol="0" anchor="t"/>
            <a:lstStyle/>
            <a:p>
              <a:pPr algn="ctr">
                <a:lnSpc>
                  <a:spcPts val="8400"/>
                </a:lnSpc>
              </a:pPr>
              <a:r>
                <a:rPr lang="en-US" sz="6000" b="1">
                  <a:solidFill>
                    <a:srgbClr val="984807"/>
                  </a:solidFill>
                  <a:latin typeface="Arial Bold"/>
                  <a:ea typeface="Arial Bold"/>
                  <a:cs typeface="Arial Bold"/>
                  <a:sym typeface="Arial Bold"/>
                </a:rPr>
                <a:t>Definition &amp; Concept </a:t>
              </a:r>
            </a:p>
          </p:txBody>
        </p:sp>
      </p:grpSp>
      <p:sp>
        <p:nvSpPr>
          <p:cNvPr id="5" name="Freeform 5"/>
          <p:cNvSpPr/>
          <p:nvPr/>
        </p:nvSpPr>
        <p:spPr>
          <a:xfrm rot="-10800000">
            <a:off x="14077272" y="-1018297"/>
            <a:ext cx="5114584" cy="5142635"/>
          </a:xfrm>
          <a:custGeom>
            <a:avLst/>
            <a:gdLst/>
            <a:ahLst/>
            <a:cxnLst/>
            <a:rect l="l" t="t" r="r" b="b"/>
            <a:pathLst>
              <a:path w="5114584" h="5142635">
                <a:moveTo>
                  <a:pt x="0" y="0"/>
                </a:moveTo>
                <a:lnTo>
                  <a:pt x="5114584" y="0"/>
                </a:lnTo>
                <a:lnTo>
                  <a:pt x="5114584" y="5142635"/>
                </a:lnTo>
                <a:lnTo>
                  <a:pt x="0" y="5142635"/>
                </a:lnTo>
                <a:lnTo>
                  <a:pt x="0" y="0"/>
                </a:lnTo>
                <a:close/>
              </a:path>
            </a:pathLst>
          </a:custGeom>
          <a:blipFill>
            <a:blip r:embed="rId2">
              <a:extLst>
                <a:ext uri="{96DAC541-7B7A-43D3-8B79-37D633B846F1}">
                  <asvg:svgBlip xmlns:asvg="http://schemas.microsoft.com/office/drawing/2016/SVG/main" r:embed="rId3"/>
                </a:ext>
              </a:extLst>
            </a:blip>
            <a:stretch>
              <a:fillRect l="-181" r="-181"/>
            </a:stretch>
          </a:blipFill>
        </p:spPr>
      </p:sp>
      <p:sp>
        <p:nvSpPr>
          <p:cNvPr id="6" name="Freeform 6"/>
          <p:cNvSpPr/>
          <p:nvPr/>
        </p:nvSpPr>
        <p:spPr>
          <a:xfrm rot="-10800000" flipV="1">
            <a:off x="15409344" y="-1555083"/>
            <a:ext cx="2450438" cy="4185866"/>
          </a:xfrm>
          <a:custGeom>
            <a:avLst/>
            <a:gdLst/>
            <a:ahLst/>
            <a:cxnLst/>
            <a:rect l="l" t="t" r="r" b="b"/>
            <a:pathLst>
              <a:path w="2450438" h="4185866">
                <a:moveTo>
                  <a:pt x="0" y="4185866"/>
                </a:moveTo>
                <a:lnTo>
                  <a:pt x="2450438" y="4185866"/>
                </a:lnTo>
                <a:lnTo>
                  <a:pt x="2450438" y="0"/>
                </a:lnTo>
                <a:lnTo>
                  <a:pt x="0" y="0"/>
                </a:lnTo>
                <a:lnTo>
                  <a:pt x="0" y="4185866"/>
                </a:lnTo>
                <a:close/>
              </a:path>
            </a:pathLst>
          </a:custGeom>
          <a:blipFill>
            <a:blip r:embed="rId4">
              <a:extLst>
                <a:ext uri="{96DAC541-7B7A-43D3-8B79-37D633B846F1}">
                  <asvg:svgBlip xmlns:asvg="http://schemas.microsoft.com/office/drawing/2016/SVG/main" r:embed="rId5"/>
                </a:ext>
              </a:extLst>
            </a:blip>
            <a:stretch>
              <a:fillRect l="-81" r="-81"/>
            </a:stretch>
          </a:blipFill>
        </p:spPr>
      </p:sp>
      <p:sp>
        <p:nvSpPr>
          <p:cNvPr id="7" name="Freeform 7"/>
          <p:cNvSpPr/>
          <p:nvPr/>
        </p:nvSpPr>
        <p:spPr>
          <a:xfrm rot="-10800000">
            <a:off x="12176714" y="959404"/>
            <a:ext cx="2909455" cy="1433567"/>
          </a:xfrm>
          <a:custGeom>
            <a:avLst/>
            <a:gdLst/>
            <a:ahLst/>
            <a:cxnLst/>
            <a:rect l="l" t="t" r="r" b="b"/>
            <a:pathLst>
              <a:path w="2909455" h="1433567">
                <a:moveTo>
                  <a:pt x="0" y="0"/>
                </a:moveTo>
                <a:lnTo>
                  <a:pt x="2909455" y="0"/>
                </a:lnTo>
                <a:lnTo>
                  <a:pt x="2909455" y="1433567"/>
                </a:lnTo>
                <a:lnTo>
                  <a:pt x="0" y="1433567"/>
                </a:lnTo>
                <a:lnTo>
                  <a:pt x="0" y="0"/>
                </a:lnTo>
                <a:close/>
              </a:path>
            </a:pathLst>
          </a:custGeom>
          <a:blipFill>
            <a:blip r:embed="rId6">
              <a:extLst>
                <a:ext uri="{96DAC541-7B7A-43D3-8B79-37D633B846F1}">
                  <asvg:svgBlip xmlns:asvg="http://schemas.microsoft.com/office/drawing/2016/SVG/main" r:embed="rId7"/>
                </a:ext>
              </a:extLst>
            </a:blip>
            <a:stretch>
              <a:fillRect l="-88" r="-88"/>
            </a:stretch>
          </a:blipFill>
        </p:spPr>
      </p:sp>
      <p:sp>
        <p:nvSpPr>
          <p:cNvPr id="8" name="Freeform 8"/>
          <p:cNvSpPr/>
          <p:nvPr/>
        </p:nvSpPr>
        <p:spPr>
          <a:xfrm flipH="1">
            <a:off x="0" y="5143500"/>
            <a:ext cx="3616776" cy="7883980"/>
          </a:xfrm>
          <a:custGeom>
            <a:avLst/>
            <a:gdLst/>
            <a:ahLst/>
            <a:cxnLst/>
            <a:rect l="l" t="t" r="r" b="b"/>
            <a:pathLst>
              <a:path w="3616776" h="7883980">
                <a:moveTo>
                  <a:pt x="3616776" y="0"/>
                </a:moveTo>
                <a:lnTo>
                  <a:pt x="0" y="0"/>
                </a:lnTo>
                <a:lnTo>
                  <a:pt x="0" y="7883980"/>
                </a:lnTo>
                <a:lnTo>
                  <a:pt x="3616776" y="7883980"/>
                </a:lnTo>
                <a:lnTo>
                  <a:pt x="3616776" y="0"/>
                </a:lnTo>
                <a:close/>
              </a:path>
            </a:pathLst>
          </a:custGeom>
          <a:blipFill>
            <a:blip r:embed="rId8">
              <a:alphaModFix amt="75000"/>
              <a:extLst>
                <a:ext uri="{96DAC541-7B7A-43D3-8B79-37D633B846F1}">
                  <asvg:svgBlip xmlns:asvg="http://schemas.microsoft.com/office/drawing/2016/SVG/main" r:embed="rId9"/>
                </a:ext>
              </a:extLst>
            </a:blip>
            <a:stretch>
              <a:fillRect t="-39" b="-39"/>
            </a:stretch>
          </a:blipFill>
        </p:spPr>
      </p:sp>
      <p:grpSp>
        <p:nvGrpSpPr>
          <p:cNvPr id="9" name="Group 9"/>
          <p:cNvGrpSpPr/>
          <p:nvPr/>
        </p:nvGrpSpPr>
        <p:grpSpPr>
          <a:xfrm>
            <a:off x="2484867" y="1441623"/>
            <a:ext cx="15328281" cy="8454852"/>
            <a:chOff x="0" y="0"/>
            <a:chExt cx="20437708" cy="11273136"/>
          </a:xfrm>
        </p:grpSpPr>
        <p:sp>
          <p:nvSpPr>
            <p:cNvPr id="10" name="Freeform 10"/>
            <p:cNvSpPr/>
            <p:nvPr/>
          </p:nvSpPr>
          <p:spPr>
            <a:xfrm>
              <a:off x="0" y="0"/>
              <a:ext cx="20437708" cy="11273137"/>
            </a:xfrm>
            <a:custGeom>
              <a:avLst/>
              <a:gdLst/>
              <a:ahLst/>
              <a:cxnLst/>
              <a:rect l="l" t="t" r="r" b="b"/>
              <a:pathLst>
                <a:path w="20437708" h="11273137">
                  <a:moveTo>
                    <a:pt x="0" y="0"/>
                  </a:moveTo>
                  <a:lnTo>
                    <a:pt x="20437708" y="0"/>
                  </a:lnTo>
                  <a:lnTo>
                    <a:pt x="20437708" y="11273137"/>
                  </a:lnTo>
                  <a:lnTo>
                    <a:pt x="0" y="11273137"/>
                  </a:lnTo>
                  <a:close/>
                </a:path>
              </a:pathLst>
            </a:custGeom>
            <a:solidFill>
              <a:srgbClr val="000000">
                <a:alpha val="0"/>
              </a:srgbClr>
            </a:solidFill>
          </p:spPr>
        </p:sp>
        <p:sp>
          <p:nvSpPr>
            <p:cNvPr id="11" name="TextBox 11"/>
            <p:cNvSpPr txBox="1"/>
            <p:nvPr/>
          </p:nvSpPr>
          <p:spPr>
            <a:xfrm>
              <a:off x="0" y="-142875"/>
              <a:ext cx="20437708" cy="11416011"/>
            </a:xfrm>
            <a:prstGeom prst="rect">
              <a:avLst/>
            </a:prstGeom>
          </p:spPr>
          <p:txBody>
            <a:bodyPr lIns="0" tIns="0" rIns="0" bIns="0" rtlCol="0" anchor="t"/>
            <a:lstStyle/>
            <a:p>
              <a:pPr algn="l">
                <a:lnSpc>
                  <a:spcPts val="5040"/>
                </a:lnSpc>
              </a:pPr>
              <a:endParaRPr/>
            </a:p>
            <a:p>
              <a:pPr algn="l">
                <a:lnSpc>
                  <a:spcPts val="5040"/>
                </a:lnSpc>
              </a:pPr>
              <a:r>
                <a:rPr lang="en-US" sz="3600">
                  <a:solidFill>
                    <a:srgbClr val="000000"/>
                  </a:solidFill>
                  <a:latin typeface="Arial"/>
                  <a:ea typeface="Arial"/>
                  <a:cs typeface="Arial"/>
                  <a:sym typeface="Arial"/>
                </a:rPr>
                <a:t>📌 </a:t>
              </a:r>
              <a:r>
                <a:rPr lang="en-US" sz="3600" b="1">
                  <a:solidFill>
                    <a:srgbClr val="A4450A"/>
                  </a:solidFill>
                  <a:latin typeface="Arial Bold"/>
                  <a:ea typeface="Arial Bold"/>
                  <a:cs typeface="Arial Bold"/>
                  <a:sym typeface="Arial Bold"/>
                </a:rPr>
                <a:t>What Are Discounts &amp; Promotions?</a:t>
              </a:r>
            </a:p>
            <a:p>
              <a:pPr algn="l">
                <a:lnSpc>
                  <a:spcPts val="5040"/>
                </a:lnSpc>
              </a:pPr>
              <a:endParaRPr lang="en-US" sz="3600" b="1">
                <a:solidFill>
                  <a:srgbClr val="A4450A"/>
                </a:solidFill>
                <a:latin typeface="Arial Bold"/>
                <a:ea typeface="Arial Bold"/>
                <a:cs typeface="Arial Bold"/>
                <a:sym typeface="Arial Bold"/>
              </a:endParaRPr>
            </a:p>
            <a:p>
              <a:pPr algn="l">
                <a:lnSpc>
                  <a:spcPts val="5040"/>
                </a:lnSpc>
              </a:pPr>
              <a:r>
                <a:rPr lang="en-US" sz="3600">
                  <a:solidFill>
                    <a:srgbClr val="000000"/>
                  </a:solidFill>
                  <a:latin typeface="Arial"/>
                  <a:ea typeface="Arial"/>
                  <a:cs typeface="Arial"/>
                  <a:sym typeface="Arial"/>
                </a:rPr>
                <a:t>Discounts: Temporary price reductions to attract customers.</a:t>
              </a:r>
            </a:p>
            <a:p>
              <a:pPr algn="l">
                <a:lnSpc>
                  <a:spcPts val="5040"/>
                </a:lnSpc>
              </a:pPr>
              <a:r>
                <a:rPr lang="en-US" sz="3600">
                  <a:solidFill>
                    <a:srgbClr val="000000"/>
                  </a:solidFill>
                  <a:latin typeface="Arial"/>
                  <a:ea typeface="Arial"/>
                  <a:cs typeface="Arial"/>
                  <a:sym typeface="Arial"/>
                </a:rPr>
                <a:t>Promotions: Marketing tactics like BOGO (Buy One Get One), flash sales, and seasonal offers to boost sales.</a:t>
              </a:r>
            </a:p>
            <a:p>
              <a:pPr algn="l">
                <a:lnSpc>
                  <a:spcPts val="5040"/>
                </a:lnSpc>
              </a:pPr>
              <a:endParaRPr lang="en-US" sz="3600">
                <a:solidFill>
                  <a:srgbClr val="000000"/>
                </a:solidFill>
                <a:latin typeface="Arial"/>
                <a:ea typeface="Arial"/>
                <a:cs typeface="Arial"/>
                <a:sym typeface="Arial"/>
              </a:endParaRPr>
            </a:p>
            <a:p>
              <a:pPr algn="l">
                <a:lnSpc>
                  <a:spcPts val="5040"/>
                </a:lnSpc>
              </a:pPr>
              <a:r>
                <a:rPr lang="en-US" sz="3600" b="1">
                  <a:solidFill>
                    <a:srgbClr val="A4450A"/>
                  </a:solidFill>
                  <a:latin typeface="Arial Bold"/>
                  <a:ea typeface="Arial Bold"/>
                  <a:cs typeface="Arial Bold"/>
                  <a:sym typeface="Arial Bold"/>
                </a:rPr>
                <a:t>How They Influence Consumers</a:t>
              </a:r>
            </a:p>
            <a:p>
              <a:pPr algn="l">
                <a:lnSpc>
                  <a:spcPts val="5040"/>
                </a:lnSpc>
              </a:pPr>
              <a:endParaRPr lang="en-US" sz="3600" b="1">
                <a:solidFill>
                  <a:srgbClr val="A4450A"/>
                </a:solidFill>
                <a:latin typeface="Arial Bold"/>
                <a:ea typeface="Arial Bold"/>
                <a:cs typeface="Arial Bold"/>
                <a:sym typeface="Arial Bold"/>
              </a:endParaRPr>
            </a:p>
            <a:p>
              <a:pPr algn="l">
                <a:lnSpc>
                  <a:spcPts val="5040"/>
                </a:lnSpc>
              </a:pPr>
              <a:r>
                <a:rPr lang="en-US" sz="3600">
                  <a:solidFill>
                    <a:srgbClr val="000000"/>
                  </a:solidFill>
                  <a:latin typeface="Arial"/>
                  <a:ea typeface="Arial"/>
                  <a:cs typeface="Arial"/>
                  <a:sym typeface="Arial"/>
                </a:rPr>
                <a:t>Economic Impact: Increases demand and sales.</a:t>
              </a:r>
            </a:p>
            <a:p>
              <a:pPr algn="l">
                <a:lnSpc>
                  <a:spcPts val="5040"/>
                </a:lnSpc>
              </a:pPr>
              <a:r>
                <a:rPr lang="en-US" sz="3600">
                  <a:solidFill>
                    <a:srgbClr val="000000"/>
                  </a:solidFill>
                  <a:latin typeface="Arial"/>
                  <a:ea typeface="Arial"/>
                  <a:cs typeface="Arial"/>
                  <a:sym typeface="Arial"/>
                </a:rPr>
                <a:t>Psychological Effect: Triggers FOMO (Fear of Missing Out) and impulse buying.</a:t>
              </a:r>
            </a:p>
            <a:p>
              <a:pPr algn="l">
                <a:lnSpc>
                  <a:spcPts val="5040"/>
                </a:lnSpc>
              </a:pPr>
              <a:r>
                <a:rPr lang="en-US" sz="3600">
                  <a:solidFill>
                    <a:srgbClr val="000000"/>
                  </a:solidFill>
                  <a:latin typeface="Arial"/>
                  <a:ea typeface="Arial"/>
                  <a:cs typeface="Arial"/>
                  <a:sym typeface="Arial"/>
                </a:rPr>
                <a:t>Long-Term Question: Do they build loyalty or just short-term spending?</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grpSp>
        <p:nvGrpSpPr>
          <p:cNvPr id="2" name="Group 2"/>
          <p:cNvGrpSpPr/>
          <p:nvPr/>
        </p:nvGrpSpPr>
        <p:grpSpPr>
          <a:xfrm>
            <a:off x="-1589049" y="611981"/>
            <a:ext cx="20316427" cy="1331119"/>
            <a:chOff x="0" y="0"/>
            <a:chExt cx="27088569" cy="1774825"/>
          </a:xfrm>
        </p:grpSpPr>
        <p:sp>
          <p:nvSpPr>
            <p:cNvPr id="3" name="Freeform 3"/>
            <p:cNvSpPr/>
            <p:nvPr/>
          </p:nvSpPr>
          <p:spPr>
            <a:xfrm>
              <a:off x="0" y="0"/>
              <a:ext cx="27088570" cy="1774825"/>
            </a:xfrm>
            <a:custGeom>
              <a:avLst/>
              <a:gdLst/>
              <a:ahLst/>
              <a:cxnLst/>
              <a:rect l="l" t="t" r="r" b="b"/>
              <a:pathLst>
                <a:path w="27088570" h="1774825">
                  <a:moveTo>
                    <a:pt x="0" y="0"/>
                  </a:moveTo>
                  <a:lnTo>
                    <a:pt x="27088570" y="0"/>
                  </a:lnTo>
                  <a:lnTo>
                    <a:pt x="27088570" y="1774825"/>
                  </a:lnTo>
                  <a:lnTo>
                    <a:pt x="0" y="1774825"/>
                  </a:lnTo>
                  <a:close/>
                </a:path>
              </a:pathLst>
            </a:custGeom>
            <a:solidFill>
              <a:srgbClr val="000000">
                <a:alpha val="0"/>
              </a:srgbClr>
            </a:solidFill>
          </p:spPr>
        </p:sp>
        <p:sp>
          <p:nvSpPr>
            <p:cNvPr id="4" name="TextBox 4"/>
            <p:cNvSpPr txBox="1"/>
            <p:nvPr/>
          </p:nvSpPr>
          <p:spPr>
            <a:xfrm>
              <a:off x="0" y="-238125"/>
              <a:ext cx="27088569" cy="2012950"/>
            </a:xfrm>
            <a:prstGeom prst="rect">
              <a:avLst/>
            </a:prstGeom>
          </p:spPr>
          <p:txBody>
            <a:bodyPr lIns="0" tIns="0" rIns="0" bIns="0" rtlCol="0" anchor="t"/>
            <a:lstStyle/>
            <a:p>
              <a:pPr algn="ctr">
                <a:lnSpc>
                  <a:spcPts val="8400"/>
                </a:lnSpc>
              </a:pPr>
              <a:r>
                <a:rPr lang="en-US" sz="6000" b="1">
                  <a:solidFill>
                    <a:srgbClr val="984807"/>
                  </a:solidFill>
                  <a:latin typeface="Arial Bold"/>
                  <a:ea typeface="Arial Bold"/>
                  <a:cs typeface="Arial Bold"/>
                  <a:sym typeface="Arial Bold"/>
                </a:rPr>
                <a:t>Statement of the  Nature of the Problem </a:t>
              </a:r>
            </a:p>
          </p:txBody>
        </p:sp>
      </p:grpSp>
      <p:sp>
        <p:nvSpPr>
          <p:cNvPr id="5" name="Freeform 5"/>
          <p:cNvSpPr/>
          <p:nvPr/>
        </p:nvSpPr>
        <p:spPr>
          <a:xfrm rot="-1279815">
            <a:off x="16479612" y="1697"/>
            <a:ext cx="3616776" cy="7883980"/>
          </a:xfrm>
          <a:custGeom>
            <a:avLst/>
            <a:gdLst/>
            <a:ahLst/>
            <a:cxnLst/>
            <a:rect l="l" t="t" r="r" b="b"/>
            <a:pathLst>
              <a:path w="3616776" h="7883980">
                <a:moveTo>
                  <a:pt x="0" y="0"/>
                </a:moveTo>
                <a:lnTo>
                  <a:pt x="3616776" y="0"/>
                </a:lnTo>
                <a:lnTo>
                  <a:pt x="3616776" y="7883980"/>
                </a:lnTo>
                <a:lnTo>
                  <a:pt x="0" y="7883980"/>
                </a:lnTo>
                <a:lnTo>
                  <a:pt x="0" y="0"/>
                </a:lnTo>
                <a:close/>
              </a:path>
            </a:pathLst>
          </a:custGeom>
          <a:blipFill>
            <a:blip r:embed="rId2">
              <a:alphaModFix amt="75000"/>
              <a:extLst>
                <a:ext uri="{96DAC541-7B7A-43D3-8B79-37D633B846F1}">
                  <asvg:svgBlip xmlns:asvg="http://schemas.microsoft.com/office/drawing/2016/SVG/main" r:embed="rId3"/>
                </a:ext>
              </a:extLst>
            </a:blip>
            <a:stretch>
              <a:fillRect t="-39" b="-39"/>
            </a:stretch>
          </a:blipFill>
        </p:spPr>
      </p:sp>
      <p:sp>
        <p:nvSpPr>
          <p:cNvPr id="6" name="Freeform 6"/>
          <p:cNvSpPr/>
          <p:nvPr/>
        </p:nvSpPr>
        <p:spPr>
          <a:xfrm>
            <a:off x="-2014169" y="6326281"/>
            <a:ext cx="6493940" cy="6529555"/>
          </a:xfrm>
          <a:custGeom>
            <a:avLst/>
            <a:gdLst/>
            <a:ahLst/>
            <a:cxnLst/>
            <a:rect l="l" t="t" r="r" b="b"/>
            <a:pathLst>
              <a:path w="6493940" h="6529555">
                <a:moveTo>
                  <a:pt x="0" y="0"/>
                </a:moveTo>
                <a:lnTo>
                  <a:pt x="6493940" y="0"/>
                </a:lnTo>
                <a:lnTo>
                  <a:pt x="6493940" y="6529555"/>
                </a:lnTo>
                <a:lnTo>
                  <a:pt x="0" y="6529555"/>
                </a:lnTo>
                <a:lnTo>
                  <a:pt x="0" y="0"/>
                </a:lnTo>
                <a:close/>
              </a:path>
            </a:pathLst>
          </a:custGeom>
          <a:blipFill>
            <a:blip r:embed="rId4">
              <a:extLst>
                <a:ext uri="{96DAC541-7B7A-43D3-8B79-37D633B846F1}">
                  <asvg:svgBlip xmlns:asvg="http://schemas.microsoft.com/office/drawing/2016/SVG/main" r:embed="rId5"/>
                </a:ext>
              </a:extLst>
            </a:blip>
            <a:stretch>
              <a:fillRect l="-127" r="-127"/>
            </a:stretch>
          </a:blipFill>
        </p:spPr>
      </p:sp>
      <p:sp>
        <p:nvSpPr>
          <p:cNvPr id="7" name="Freeform 7"/>
          <p:cNvSpPr/>
          <p:nvPr/>
        </p:nvSpPr>
        <p:spPr>
          <a:xfrm rot="4368370">
            <a:off x="-636901" y="4079291"/>
            <a:ext cx="2689927" cy="1649410"/>
          </a:xfrm>
          <a:custGeom>
            <a:avLst/>
            <a:gdLst/>
            <a:ahLst/>
            <a:cxnLst/>
            <a:rect l="l" t="t" r="r" b="b"/>
            <a:pathLst>
              <a:path w="2689927" h="1649410">
                <a:moveTo>
                  <a:pt x="0" y="0"/>
                </a:moveTo>
                <a:lnTo>
                  <a:pt x="2689927" y="0"/>
                </a:lnTo>
                <a:lnTo>
                  <a:pt x="2689927" y="1649410"/>
                </a:lnTo>
                <a:lnTo>
                  <a:pt x="0" y="1649410"/>
                </a:lnTo>
                <a:lnTo>
                  <a:pt x="0" y="0"/>
                </a:lnTo>
                <a:close/>
              </a:path>
            </a:pathLst>
          </a:custGeom>
          <a:blipFill>
            <a:blip r:embed="rId6">
              <a:extLst>
                <a:ext uri="{96DAC541-7B7A-43D3-8B79-37D633B846F1}">
                  <asvg:svgBlip xmlns:asvg="http://schemas.microsoft.com/office/drawing/2016/SVG/main" r:embed="rId7"/>
                </a:ext>
              </a:extLst>
            </a:blip>
            <a:stretch>
              <a:fillRect l="-36867" r="-36867"/>
            </a:stretch>
          </a:blipFill>
        </p:spPr>
      </p:sp>
      <p:sp>
        <p:nvSpPr>
          <p:cNvPr id="8" name="Freeform 8"/>
          <p:cNvSpPr/>
          <p:nvPr/>
        </p:nvSpPr>
        <p:spPr>
          <a:xfrm rot="8309931" flipV="1">
            <a:off x="7582" y="6646127"/>
            <a:ext cx="2450438" cy="4185866"/>
          </a:xfrm>
          <a:custGeom>
            <a:avLst/>
            <a:gdLst/>
            <a:ahLst/>
            <a:cxnLst/>
            <a:rect l="l" t="t" r="r" b="b"/>
            <a:pathLst>
              <a:path w="2450438" h="4185866">
                <a:moveTo>
                  <a:pt x="0" y="4185866"/>
                </a:moveTo>
                <a:lnTo>
                  <a:pt x="2450438" y="4185866"/>
                </a:lnTo>
                <a:lnTo>
                  <a:pt x="2450438" y="0"/>
                </a:lnTo>
                <a:lnTo>
                  <a:pt x="0" y="0"/>
                </a:lnTo>
                <a:lnTo>
                  <a:pt x="0" y="4185866"/>
                </a:lnTo>
                <a:close/>
              </a:path>
            </a:pathLst>
          </a:custGeom>
          <a:blipFill>
            <a:blip r:embed="rId8">
              <a:extLst>
                <a:ext uri="{96DAC541-7B7A-43D3-8B79-37D633B846F1}">
                  <asvg:svgBlip xmlns:asvg="http://schemas.microsoft.com/office/drawing/2016/SVG/main" r:embed="rId9"/>
                </a:ext>
              </a:extLst>
            </a:blip>
            <a:stretch>
              <a:fillRect l="-81" r="-81"/>
            </a:stretch>
          </a:blipFill>
        </p:spPr>
      </p:sp>
      <p:grpSp>
        <p:nvGrpSpPr>
          <p:cNvPr id="9" name="Group 9"/>
          <p:cNvGrpSpPr/>
          <p:nvPr/>
        </p:nvGrpSpPr>
        <p:grpSpPr>
          <a:xfrm>
            <a:off x="1767334" y="2112169"/>
            <a:ext cx="14753332" cy="7385526"/>
            <a:chOff x="0" y="0"/>
            <a:chExt cx="19671109" cy="9847368"/>
          </a:xfrm>
        </p:grpSpPr>
        <p:sp>
          <p:nvSpPr>
            <p:cNvPr id="10" name="Freeform 10"/>
            <p:cNvSpPr/>
            <p:nvPr/>
          </p:nvSpPr>
          <p:spPr>
            <a:xfrm>
              <a:off x="0" y="0"/>
              <a:ext cx="19671109" cy="9847369"/>
            </a:xfrm>
            <a:custGeom>
              <a:avLst/>
              <a:gdLst/>
              <a:ahLst/>
              <a:cxnLst/>
              <a:rect l="l" t="t" r="r" b="b"/>
              <a:pathLst>
                <a:path w="19671109" h="9847369">
                  <a:moveTo>
                    <a:pt x="0" y="0"/>
                  </a:moveTo>
                  <a:lnTo>
                    <a:pt x="19671109" y="0"/>
                  </a:lnTo>
                  <a:lnTo>
                    <a:pt x="19671109" y="9847369"/>
                  </a:lnTo>
                  <a:lnTo>
                    <a:pt x="0" y="9847369"/>
                  </a:lnTo>
                  <a:close/>
                </a:path>
              </a:pathLst>
            </a:custGeom>
            <a:solidFill>
              <a:srgbClr val="000000">
                <a:alpha val="0"/>
              </a:srgbClr>
            </a:solidFill>
          </p:spPr>
        </p:sp>
        <p:sp>
          <p:nvSpPr>
            <p:cNvPr id="11" name="TextBox 11"/>
            <p:cNvSpPr txBox="1"/>
            <p:nvPr/>
          </p:nvSpPr>
          <p:spPr>
            <a:xfrm>
              <a:off x="0" y="-142875"/>
              <a:ext cx="19671109" cy="9990243"/>
            </a:xfrm>
            <a:prstGeom prst="rect">
              <a:avLst/>
            </a:prstGeom>
          </p:spPr>
          <p:txBody>
            <a:bodyPr lIns="0" tIns="0" rIns="0" bIns="0" rtlCol="0" anchor="t"/>
            <a:lstStyle/>
            <a:p>
              <a:pPr algn="just">
                <a:lnSpc>
                  <a:spcPts val="5179"/>
                </a:lnSpc>
              </a:pPr>
              <a:r>
                <a:rPr lang="en-US" sz="3699">
                  <a:solidFill>
                    <a:srgbClr val="000000"/>
                  </a:solidFill>
                  <a:latin typeface="Arial"/>
                  <a:ea typeface="Arial"/>
                  <a:cs typeface="Arial"/>
                  <a:sym typeface="Arial"/>
                </a:rPr>
                <a:t>The primary problems or issues this research will address include:</a:t>
              </a:r>
            </a:p>
            <a:p>
              <a:pPr algn="just">
                <a:lnSpc>
                  <a:spcPts val="5179"/>
                </a:lnSpc>
              </a:pPr>
              <a:endParaRPr lang="en-US" sz="3699">
                <a:solidFill>
                  <a:srgbClr val="000000"/>
                </a:solidFill>
                <a:latin typeface="Arial"/>
                <a:ea typeface="Arial"/>
                <a:cs typeface="Arial"/>
                <a:sym typeface="Arial"/>
              </a:endParaRPr>
            </a:p>
            <a:p>
              <a:pPr algn="just">
                <a:lnSpc>
                  <a:spcPts val="5179"/>
                </a:lnSpc>
              </a:pPr>
              <a:r>
                <a:rPr lang="en-US" sz="3699">
                  <a:solidFill>
                    <a:srgbClr val="000000"/>
                  </a:solidFill>
                  <a:latin typeface="Arial"/>
                  <a:ea typeface="Arial"/>
                  <a:cs typeface="Arial"/>
                  <a:sym typeface="Arial"/>
                </a:rPr>
                <a:t>1. Impact of Discounts and Promotions on Consumer Decision-Making.</a:t>
              </a:r>
            </a:p>
            <a:p>
              <a:pPr algn="just">
                <a:lnSpc>
                  <a:spcPts val="5179"/>
                </a:lnSpc>
              </a:pPr>
              <a:r>
                <a:rPr lang="en-US" sz="3699">
                  <a:solidFill>
                    <a:srgbClr val="000000"/>
                  </a:solidFill>
                  <a:latin typeface="Arial"/>
                  <a:ea typeface="Arial"/>
                  <a:cs typeface="Arial"/>
                  <a:sym typeface="Arial"/>
                </a:rPr>
                <a:t>2. Cultural and Socioeconomic Factors. </a:t>
              </a:r>
            </a:p>
            <a:p>
              <a:pPr algn="just">
                <a:lnSpc>
                  <a:spcPts val="5179"/>
                </a:lnSpc>
              </a:pPr>
              <a:r>
                <a:rPr lang="en-US" sz="3699">
                  <a:solidFill>
                    <a:srgbClr val="000000"/>
                  </a:solidFill>
                  <a:latin typeface="Arial"/>
                  <a:ea typeface="Arial"/>
                  <a:cs typeface="Arial"/>
                  <a:sym typeface="Arial"/>
                </a:rPr>
                <a:t>3. Consumer Perception and Trust. </a:t>
              </a:r>
            </a:p>
            <a:p>
              <a:pPr algn="just">
                <a:lnSpc>
                  <a:spcPts val="5179"/>
                </a:lnSpc>
              </a:pPr>
              <a:r>
                <a:rPr lang="en-US" sz="3699">
                  <a:solidFill>
                    <a:srgbClr val="000000"/>
                  </a:solidFill>
                  <a:latin typeface="Arial"/>
                  <a:ea typeface="Arial"/>
                  <a:cs typeface="Arial"/>
                  <a:sym typeface="Arial"/>
                </a:rPr>
                <a:t>4. Effectiveness for Businesses and Market Competitiveness.</a:t>
              </a:r>
            </a:p>
            <a:p>
              <a:pPr algn="just">
                <a:lnSpc>
                  <a:spcPts val="5179"/>
                </a:lnSpc>
              </a:pPr>
              <a:endParaRPr lang="en-US" sz="3699">
                <a:solidFill>
                  <a:srgbClr val="000000"/>
                </a:solidFill>
                <a:latin typeface="Arial"/>
                <a:ea typeface="Arial"/>
                <a:cs typeface="Arial"/>
                <a:sym typeface="Arial"/>
              </a:endParaRPr>
            </a:p>
            <a:p>
              <a:pPr algn="just">
                <a:lnSpc>
                  <a:spcPts val="5179"/>
                </a:lnSpc>
              </a:pPr>
              <a:r>
                <a:rPr lang="en-US" sz="3699">
                  <a:solidFill>
                    <a:srgbClr val="000000"/>
                  </a:solidFill>
                  <a:latin typeface="Arial"/>
                  <a:ea typeface="Arial"/>
                  <a:cs typeface="Arial"/>
                  <a:sym typeface="Arial"/>
                </a:rPr>
                <a:t>In many frequently purchased product</a:t>
              </a:r>
            </a:p>
            <a:p>
              <a:pPr algn="just">
                <a:lnSpc>
                  <a:spcPts val="5179"/>
                </a:lnSpc>
              </a:pPr>
              <a:r>
                <a:rPr lang="en-US" sz="3699">
                  <a:solidFill>
                    <a:srgbClr val="000000"/>
                  </a:solidFill>
                  <a:latin typeface="Arial"/>
                  <a:ea typeface="Arial"/>
                  <a:cs typeface="Arial"/>
                  <a:sym typeface="Arial"/>
                </a:rPr>
                <a:t>categories, more than 50% of the total sales volume is sold</a:t>
              </a:r>
            </a:p>
            <a:p>
              <a:pPr algn="just">
                <a:lnSpc>
                  <a:spcPts val="5179"/>
                </a:lnSpc>
              </a:pPr>
              <a:r>
                <a:rPr lang="en-US" sz="3699">
                  <a:solidFill>
                    <a:srgbClr val="000000"/>
                  </a:solidFill>
                  <a:latin typeface="Arial"/>
                  <a:ea typeface="Arial"/>
                  <a:cs typeface="Arial"/>
                  <a:sym typeface="Arial"/>
                </a:rPr>
                <a:t>on promotion (Blattberg and Neslin, 1990)</a:t>
              </a:r>
            </a:p>
            <a:p>
              <a:pPr algn="just">
                <a:lnSpc>
                  <a:spcPts val="5179"/>
                </a:lnSpc>
              </a:pPr>
              <a:endParaRPr lang="en-US" sz="3699">
                <a:solidFill>
                  <a:srgbClr val="000000"/>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4546483">
            <a:off x="14012330" y="6578204"/>
            <a:ext cx="6493940" cy="6529555"/>
          </a:xfrm>
          <a:custGeom>
            <a:avLst/>
            <a:gdLst/>
            <a:ahLst/>
            <a:cxnLst/>
            <a:rect l="l" t="t" r="r" b="b"/>
            <a:pathLst>
              <a:path w="6493940" h="6529555">
                <a:moveTo>
                  <a:pt x="0" y="0"/>
                </a:moveTo>
                <a:lnTo>
                  <a:pt x="6493940" y="0"/>
                </a:lnTo>
                <a:lnTo>
                  <a:pt x="6493940" y="6529555"/>
                </a:lnTo>
                <a:lnTo>
                  <a:pt x="0" y="6529555"/>
                </a:lnTo>
                <a:lnTo>
                  <a:pt x="0" y="0"/>
                </a:lnTo>
                <a:close/>
              </a:path>
            </a:pathLst>
          </a:custGeom>
          <a:blipFill>
            <a:blip r:embed="rId2">
              <a:extLst>
                <a:ext uri="{96DAC541-7B7A-43D3-8B79-37D633B846F1}">
                  <asvg:svgBlip xmlns:asvg="http://schemas.microsoft.com/office/drawing/2016/SVG/main" r:embed="rId3"/>
                </a:ext>
              </a:extLst>
            </a:blip>
            <a:stretch>
              <a:fillRect l="-127" r="-127"/>
            </a:stretch>
          </a:blipFill>
        </p:spPr>
      </p:sp>
      <p:sp>
        <p:nvSpPr>
          <p:cNvPr id="3" name="Freeform 3"/>
          <p:cNvSpPr/>
          <p:nvPr/>
        </p:nvSpPr>
        <p:spPr>
          <a:xfrm rot="10537921">
            <a:off x="11421940" y="8734077"/>
            <a:ext cx="4700392" cy="1649410"/>
          </a:xfrm>
          <a:custGeom>
            <a:avLst/>
            <a:gdLst/>
            <a:ahLst/>
            <a:cxnLst/>
            <a:rect l="l" t="t" r="r" b="b"/>
            <a:pathLst>
              <a:path w="4700392" h="1649410">
                <a:moveTo>
                  <a:pt x="0" y="0"/>
                </a:moveTo>
                <a:lnTo>
                  <a:pt x="4700392" y="0"/>
                </a:lnTo>
                <a:lnTo>
                  <a:pt x="4700392" y="1649410"/>
                </a:lnTo>
                <a:lnTo>
                  <a:pt x="0" y="1649410"/>
                </a:lnTo>
                <a:lnTo>
                  <a:pt x="0" y="0"/>
                </a:lnTo>
                <a:close/>
              </a:path>
            </a:pathLst>
          </a:custGeom>
          <a:blipFill>
            <a:blip r:embed="rId4">
              <a:extLst>
                <a:ext uri="{96DAC541-7B7A-43D3-8B79-37D633B846F1}">
                  <asvg:svgBlip xmlns:asvg="http://schemas.microsoft.com/office/drawing/2016/SVG/main" r:embed="rId5"/>
                </a:ext>
              </a:extLst>
            </a:blip>
            <a:stretch>
              <a:fillRect t="-187" b="-187"/>
            </a:stretch>
          </a:blipFill>
        </p:spPr>
      </p:sp>
      <p:sp>
        <p:nvSpPr>
          <p:cNvPr id="4" name="Freeform 4"/>
          <p:cNvSpPr/>
          <p:nvPr/>
        </p:nvSpPr>
        <p:spPr>
          <a:xfrm rot="-6487104" flipV="1">
            <a:off x="17062781" y="7465849"/>
            <a:ext cx="2450438" cy="4185866"/>
          </a:xfrm>
          <a:custGeom>
            <a:avLst/>
            <a:gdLst/>
            <a:ahLst/>
            <a:cxnLst/>
            <a:rect l="l" t="t" r="r" b="b"/>
            <a:pathLst>
              <a:path w="2450438" h="4185866">
                <a:moveTo>
                  <a:pt x="0" y="4185866"/>
                </a:moveTo>
                <a:lnTo>
                  <a:pt x="2450438" y="4185866"/>
                </a:lnTo>
                <a:lnTo>
                  <a:pt x="2450438" y="0"/>
                </a:lnTo>
                <a:lnTo>
                  <a:pt x="0" y="0"/>
                </a:lnTo>
                <a:lnTo>
                  <a:pt x="0" y="4185866"/>
                </a:lnTo>
                <a:close/>
              </a:path>
            </a:pathLst>
          </a:custGeom>
          <a:blipFill>
            <a:blip r:embed="rId6">
              <a:extLst>
                <a:ext uri="{96DAC541-7B7A-43D3-8B79-37D633B846F1}">
                  <asvg:svgBlip xmlns:asvg="http://schemas.microsoft.com/office/drawing/2016/SVG/main" r:embed="rId7"/>
                </a:ext>
              </a:extLst>
            </a:blip>
            <a:stretch>
              <a:fillRect l="-81" r="-81"/>
            </a:stretch>
          </a:blipFill>
        </p:spPr>
      </p:sp>
      <p:sp>
        <p:nvSpPr>
          <p:cNvPr id="5" name="Freeform 5"/>
          <p:cNvSpPr/>
          <p:nvPr/>
        </p:nvSpPr>
        <p:spPr>
          <a:xfrm rot="5400000" flipH="1">
            <a:off x="-1324386" y="-1633025"/>
            <a:ext cx="3350281" cy="7303064"/>
          </a:xfrm>
          <a:custGeom>
            <a:avLst/>
            <a:gdLst/>
            <a:ahLst/>
            <a:cxnLst/>
            <a:rect l="l" t="t" r="r" b="b"/>
            <a:pathLst>
              <a:path w="3350281" h="7303064">
                <a:moveTo>
                  <a:pt x="3350281" y="0"/>
                </a:moveTo>
                <a:lnTo>
                  <a:pt x="0" y="0"/>
                </a:lnTo>
                <a:lnTo>
                  <a:pt x="0" y="7303064"/>
                </a:lnTo>
                <a:lnTo>
                  <a:pt x="3350281" y="7303064"/>
                </a:lnTo>
                <a:lnTo>
                  <a:pt x="3350281" y="0"/>
                </a:lnTo>
                <a:close/>
              </a:path>
            </a:pathLst>
          </a:custGeom>
          <a:blipFill>
            <a:blip r:embed="rId8">
              <a:alphaModFix amt="75000"/>
              <a:extLst>
                <a:ext uri="{96DAC541-7B7A-43D3-8B79-37D633B846F1}">
                  <asvg:svgBlip xmlns:asvg="http://schemas.microsoft.com/office/drawing/2016/SVG/main" r:embed="rId9"/>
                </a:ext>
              </a:extLst>
            </a:blip>
            <a:stretch>
              <a:fillRect t="-45" b="-45"/>
            </a:stretch>
          </a:blipFill>
        </p:spPr>
      </p:sp>
      <p:grpSp>
        <p:nvGrpSpPr>
          <p:cNvPr id="6" name="Group 6"/>
          <p:cNvGrpSpPr/>
          <p:nvPr/>
        </p:nvGrpSpPr>
        <p:grpSpPr>
          <a:xfrm>
            <a:off x="2036141" y="1046456"/>
            <a:ext cx="12548277" cy="2696032"/>
            <a:chOff x="0" y="0"/>
            <a:chExt cx="16731036" cy="3594709"/>
          </a:xfrm>
        </p:grpSpPr>
        <p:sp>
          <p:nvSpPr>
            <p:cNvPr id="7" name="Freeform 7"/>
            <p:cNvSpPr/>
            <p:nvPr/>
          </p:nvSpPr>
          <p:spPr>
            <a:xfrm>
              <a:off x="0" y="0"/>
              <a:ext cx="16731036" cy="3594709"/>
            </a:xfrm>
            <a:custGeom>
              <a:avLst/>
              <a:gdLst/>
              <a:ahLst/>
              <a:cxnLst/>
              <a:rect l="l" t="t" r="r" b="b"/>
              <a:pathLst>
                <a:path w="16731036" h="3594709">
                  <a:moveTo>
                    <a:pt x="0" y="0"/>
                  </a:moveTo>
                  <a:lnTo>
                    <a:pt x="16731036" y="0"/>
                  </a:lnTo>
                  <a:lnTo>
                    <a:pt x="16731036" y="3594709"/>
                  </a:lnTo>
                  <a:lnTo>
                    <a:pt x="0" y="3594709"/>
                  </a:lnTo>
                  <a:close/>
                </a:path>
              </a:pathLst>
            </a:custGeom>
            <a:solidFill>
              <a:srgbClr val="000000">
                <a:alpha val="0"/>
              </a:srgbClr>
            </a:solidFill>
          </p:spPr>
        </p:sp>
        <p:sp>
          <p:nvSpPr>
            <p:cNvPr id="8" name="TextBox 8"/>
            <p:cNvSpPr txBox="1"/>
            <p:nvPr/>
          </p:nvSpPr>
          <p:spPr>
            <a:xfrm>
              <a:off x="0" y="-781050"/>
              <a:ext cx="16731036" cy="4375759"/>
            </a:xfrm>
            <a:prstGeom prst="rect">
              <a:avLst/>
            </a:prstGeom>
          </p:spPr>
          <p:txBody>
            <a:bodyPr lIns="0" tIns="0" rIns="0" bIns="0" rtlCol="0" anchor="t"/>
            <a:lstStyle/>
            <a:p>
              <a:pPr algn="ctr">
                <a:lnSpc>
                  <a:spcPts val="14139"/>
                </a:lnSpc>
              </a:pPr>
              <a:r>
                <a:rPr lang="en-US" sz="6000" b="1">
                  <a:solidFill>
                    <a:srgbClr val="984807"/>
                  </a:solidFill>
                  <a:latin typeface="Arial Bold"/>
                  <a:ea typeface="Arial Bold"/>
                  <a:cs typeface="Arial Bold"/>
                  <a:sym typeface="Arial Bold"/>
                </a:rPr>
                <a:t>Research Question</a:t>
              </a:r>
            </a:p>
          </p:txBody>
        </p:sp>
      </p:grpSp>
      <p:sp>
        <p:nvSpPr>
          <p:cNvPr id="9" name="Freeform 9"/>
          <p:cNvSpPr/>
          <p:nvPr/>
        </p:nvSpPr>
        <p:spPr>
          <a:xfrm>
            <a:off x="589605" y="3693647"/>
            <a:ext cx="8401467" cy="4399313"/>
          </a:xfrm>
          <a:custGeom>
            <a:avLst/>
            <a:gdLst/>
            <a:ahLst/>
            <a:cxnLst/>
            <a:rect l="l" t="t" r="r" b="b"/>
            <a:pathLst>
              <a:path w="8401467" h="4399313">
                <a:moveTo>
                  <a:pt x="0" y="0"/>
                </a:moveTo>
                <a:lnTo>
                  <a:pt x="8401467" y="0"/>
                </a:lnTo>
                <a:lnTo>
                  <a:pt x="8401467" y="4399313"/>
                </a:lnTo>
                <a:lnTo>
                  <a:pt x="0" y="4399313"/>
                </a:lnTo>
                <a:lnTo>
                  <a:pt x="0" y="0"/>
                </a:lnTo>
                <a:close/>
              </a:path>
            </a:pathLst>
          </a:custGeom>
          <a:blipFill>
            <a:blip r:embed="rId10">
              <a:extLst>
                <a:ext uri="{96DAC541-7B7A-43D3-8B79-37D633B846F1}">
                  <asvg:svgBlip xmlns:asvg="http://schemas.microsoft.com/office/drawing/2016/SVG/main" r:embed="rId11"/>
                </a:ext>
              </a:extLst>
            </a:blip>
            <a:stretch>
              <a:fillRect l="-96" r="-96"/>
            </a:stretch>
          </a:blipFill>
        </p:spPr>
      </p:sp>
      <p:grpSp>
        <p:nvGrpSpPr>
          <p:cNvPr id="10" name="Group 10"/>
          <p:cNvGrpSpPr/>
          <p:nvPr/>
        </p:nvGrpSpPr>
        <p:grpSpPr>
          <a:xfrm>
            <a:off x="1270396" y="5152188"/>
            <a:ext cx="7039884" cy="3118998"/>
            <a:chOff x="0" y="0"/>
            <a:chExt cx="9386512" cy="4158665"/>
          </a:xfrm>
        </p:grpSpPr>
        <p:sp>
          <p:nvSpPr>
            <p:cNvPr id="11" name="Freeform 11"/>
            <p:cNvSpPr/>
            <p:nvPr/>
          </p:nvSpPr>
          <p:spPr>
            <a:xfrm>
              <a:off x="0" y="0"/>
              <a:ext cx="9386512" cy="4158665"/>
            </a:xfrm>
            <a:custGeom>
              <a:avLst/>
              <a:gdLst/>
              <a:ahLst/>
              <a:cxnLst/>
              <a:rect l="l" t="t" r="r" b="b"/>
              <a:pathLst>
                <a:path w="9386512" h="4158665">
                  <a:moveTo>
                    <a:pt x="0" y="0"/>
                  </a:moveTo>
                  <a:lnTo>
                    <a:pt x="9386512" y="0"/>
                  </a:lnTo>
                  <a:lnTo>
                    <a:pt x="9386512" y="4158665"/>
                  </a:lnTo>
                  <a:lnTo>
                    <a:pt x="0" y="4158665"/>
                  </a:lnTo>
                  <a:close/>
                </a:path>
              </a:pathLst>
            </a:custGeom>
            <a:solidFill>
              <a:srgbClr val="000000">
                <a:alpha val="0"/>
              </a:srgbClr>
            </a:solidFill>
          </p:spPr>
        </p:sp>
        <p:sp>
          <p:nvSpPr>
            <p:cNvPr id="12" name="TextBox 12"/>
            <p:cNvSpPr txBox="1"/>
            <p:nvPr/>
          </p:nvSpPr>
          <p:spPr>
            <a:xfrm>
              <a:off x="0" y="-123825"/>
              <a:ext cx="9386512" cy="4282490"/>
            </a:xfrm>
            <a:prstGeom prst="rect">
              <a:avLst/>
            </a:prstGeom>
          </p:spPr>
          <p:txBody>
            <a:bodyPr lIns="0" tIns="0" rIns="0" bIns="0" rtlCol="0" anchor="t"/>
            <a:lstStyle/>
            <a:p>
              <a:pPr algn="ctr">
                <a:lnSpc>
                  <a:spcPts val="4479"/>
                </a:lnSpc>
              </a:pPr>
              <a:r>
                <a:rPr lang="en-US" sz="3199">
                  <a:solidFill>
                    <a:srgbClr val="000000"/>
                  </a:solidFill>
                  <a:latin typeface="Arial"/>
                  <a:ea typeface="Arial"/>
                  <a:cs typeface="Arial"/>
                  <a:sym typeface="Arial"/>
                </a:rPr>
                <a:t>Central Question :"How do different types of discounts and promotional strategies influence consumers' purchasing behavior across different product categories? "</a:t>
              </a:r>
            </a:p>
          </p:txBody>
        </p:sp>
      </p:grpSp>
      <p:sp>
        <p:nvSpPr>
          <p:cNvPr id="13" name="Freeform 13"/>
          <p:cNvSpPr/>
          <p:nvPr/>
        </p:nvSpPr>
        <p:spPr>
          <a:xfrm>
            <a:off x="9296928" y="3693647"/>
            <a:ext cx="8401467" cy="4399313"/>
          </a:xfrm>
          <a:custGeom>
            <a:avLst/>
            <a:gdLst/>
            <a:ahLst/>
            <a:cxnLst/>
            <a:rect l="l" t="t" r="r" b="b"/>
            <a:pathLst>
              <a:path w="8401467" h="4399313">
                <a:moveTo>
                  <a:pt x="0" y="0"/>
                </a:moveTo>
                <a:lnTo>
                  <a:pt x="8401467" y="0"/>
                </a:lnTo>
                <a:lnTo>
                  <a:pt x="8401467" y="4399313"/>
                </a:lnTo>
                <a:lnTo>
                  <a:pt x="0" y="4399313"/>
                </a:lnTo>
                <a:lnTo>
                  <a:pt x="0" y="0"/>
                </a:lnTo>
                <a:close/>
              </a:path>
            </a:pathLst>
          </a:custGeom>
          <a:blipFill>
            <a:blip r:embed="rId10">
              <a:extLst>
                <a:ext uri="{96DAC541-7B7A-43D3-8B79-37D633B846F1}">
                  <asvg:svgBlip xmlns:asvg="http://schemas.microsoft.com/office/drawing/2016/SVG/main" r:embed="rId11"/>
                </a:ext>
              </a:extLst>
            </a:blip>
            <a:stretch>
              <a:fillRect l="-96" r="-96"/>
            </a:stretch>
          </a:blipFill>
        </p:spPr>
      </p:sp>
      <p:grpSp>
        <p:nvGrpSpPr>
          <p:cNvPr id="14" name="Group 14"/>
          <p:cNvGrpSpPr/>
          <p:nvPr/>
        </p:nvGrpSpPr>
        <p:grpSpPr>
          <a:xfrm>
            <a:off x="9977719" y="5152188"/>
            <a:ext cx="7039884" cy="2272226"/>
            <a:chOff x="0" y="0"/>
            <a:chExt cx="9386512" cy="3029634"/>
          </a:xfrm>
        </p:grpSpPr>
        <p:sp>
          <p:nvSpPr>
            <p:cNvPr id="15" name="Freeform 15"/>
            <p:cNvSpPr/>
            <p:nvPr/>
          </p:nvSpPr>
          <p:spPr>
            <a:xfrm>
              <a:off x="0" y="0"/>
              <a:ext cx="9386512" cy="3029634"/>
            </a:xfrm>
            <a:custGeom>
              <a:avLst/>
              <a:gdLst/>
              <a:ahLst/>
              <a:cxnLst/>
              <a:rect l="l" t="t" r="r" b="b"/>
              <a:pathLst>
                <a:path w="9386512" h="3029634">
                  <a:moveTo>
                    <a:pt x="0" y="0"/>
                  </a:moveTo>
                  <a:lnTo>
                    <a:pt x="9386512" y="0"/>
                  </a:lnTo>
                  <a:lnTo>
                    <a:pt x="9386512" y="3029634"/>
                  </a:lnTo>
                  <a:lnTo>
                    <a:pt x="0" y="3029634"/>
                  </a:lnTo>
                  <a:close/>
                </a:path>
              </a:pathLst>
            </a:custGeom>
            <a:solidFill>
              <a:srgbClr val="000000">
                <a:alpha val="0"/>
              </a:srgbClr>
            </a:solidFill>
          </p:spPr>
        </p:sp>
        <p:sp>
          <p:nvSpPr>
            <p:cNvPr id="16" name="TextBox 16"/>
            <p:cNvSpPr txBox="1"/>
            <p:nvPr/>
          </p:nvSpPr>
          <p:spPr>
            <a:xfrm>
              <a:off x="0" y="-123825"/>
              <a:ext cx="9386512" cy="3153459"/>
            </a:xfrm>
            <a:prstGeom prst="rect">
              <a:avLst/>
            </a:prstGeom>
          </p:spPr>
          <p:txBody>
            <a:bodyPr lIns="0" tIns="0" rIns="0" bIns="0" rtlCol="0" anchor="t"/>
            <a:lstStyle/>
            <a:p>
              <a:pPr algn="ctr">
                <a:lnSpc>
                  <a:spcPts val="4479"/>
                </a:lnSpc>
              </a:pPr>
              <a:r>
                <a:rPr lang="en-US" sz="3199">
                  <a:solidFill>
                    <a:srgbClr val="000000"/>
                  </a:solidFill>
                  <a:latin typeface="Arial"/>
                  <a:ea typeface="Arial"/>
                  <a:cs typeface="Arial"/>
                  <a:sym typeface="Arial"/>
                </a:rPr>
                <a:t>Sub-question: "How do the consumers psychologically and emotionally response to the discounts and promotions? "</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5400000">
            <a:off x="14433615" y="5839830"/>
            <a:ext cx="5114584" cy="5142635"/>
          </a:xfrm>
          <a:custGeom>
            <a:avLst/>
            <a:gdLst/>
            <a:ahLst/>
            <a:cxnLst/>
            <a:rect l="l" t="t" r="r" b="b"/>
            <a:pathLst>
              <a:path w="5114584" h="5142635">
                <a:moveTo>
                  <a:pt x="0" y="0"/>
                </a:moveTo>
                <a:lnTo>
                  <a:pt x="5114584" y="0"/>
                </a:lnTo>
                <a:lnTo>
                  <a:pt x="5114584" y="5142635"/>
                </a:lnTo>
                <a:lnTo>
                  <a:pt x="0" y="5142635"/>
                </a:lnTo>
                <a:lnTo>
                  <a:pt x="0" y="0"/>
                </a:lnTo>
                <a:close/>
              </a:path>
            </a:pathLst>
          </a:custGeom>
          <a:blipFill>
            <a:blip r:embed="rId2">
              <a:extLst>
                <a:ext uri="{96DAC541-7B7A-43D3-8B79-37D633B846F1}">
                  <asvg:svgBlip xmlns:asvg="http://schemas.microsoft.com/office/drawing/2016/SVG/main" r:embed="rId3"/>
                </a:ext>
              </a:extLst>
            </a:blip>
            <a:stretch>
              <a:fillRect l="-181" r="-181"/>
            </a:stretch>
          </a:blipFill>
        </p:spPr>
      </p:sp>
      <p:sp>
        <p:nvSpPr>
          <p:cNvPr id="3" name="Freeform 3"/>
          <p:cNvSpPr/>
          <p:nvPr/>
        </p:nvSpPr>
        <p:spPr>
          <a:xfrm rot="-5400000" flipV="1">
            <a:off x="16780859" y="6318214"/>
            <a:ext cx="2450438" cy="4185866"/>
          </a:xfrm>
          <a:custGeom>
            <a:avLst/>
            <a:gdLst/>
            <a:ahLst/>
            <a:cxnLst/>
            <a:rect l="l" t="t" r="r" b="b"/>
            <a:pathLst>
              <a:path w="2450438" h="4185866">
                <a:moveTo>
                  <a:pt x="0" y="4185866"/>
                </a:moveTo>
                <a:lnTo>
                  <a:pt x="2450438" y="4185866"/>
                </a:lnTo>
                <a:lnTo>
                  <a:pt x="2450438" y="0"/>
                </a:lnTo>
                <a:lnTo>
                  <a:pt x="0" y="0"/>
                </a:lnTo>
                <a:lnTo>
                  <a:pt x="0" y="4185866"/>
                </a:lnTo>
                <a:close/>
              </a:path>
            </a:pathLst>
          </a:custGeom>
          <a:blipFill>
            <a:blip r:embed="rId4">
              <a:extLst>
                <a:ext uri="{96DAC541-7B7A-43D3-8B79-37D633B846F1}">
                  <asvg:svgBlip xmlns:asvg="http://schemas.microsoft.com/office/drawing/2016/SVG/main" r:embed="rId5"/>
                </a:ext>
              </a:extLst>
            </a:blip>
            <a:stretch>
              <a:fillRect l="-81" r="-81"/>
            </a:stretch>
          </a:blipFill>
        </p:spPr>
      </p:sp>
      <p:sp>
        <p:nvSpPr>
          <p:cNvPr id="4" name="Freeform 4"/>
          <p:cNvSpPr/>
          <p:nvPr/>
        </p:nvSpPr>
        <p:spPr>
          <a:xfrm rot="-5400000">
            <a:off x="15413013" y="4691241"/>
            <a:ext cx="2909455" cy="1433567"/>
          </a:xfrm>
          <a:custGeom>
            <a:avLst/>
            <a:gdLst/>
            <a:ahLst/>
            <a:cxnLst/>
            <a:rect l="l" t="t" r="r" b="b"/>
            <a:pathLst>
              <a:path w="2909455" h="1433567">
                <a:moveTo>
                  <a:pt x="0" y="0"/>
                </a:moveTo>
                <a:lnTo>
                  <a:pt x="2909455" y="0"/>
                </a:lnTo>
                <a:lnTo>
                  <a:pt x="2909455" y="1433567"/>
                </a:lnTo>
                <a:lnTo>
                  <a:pt x="0" y="1433567"/>
                </a:lnTo>
                <a:lnTo>
                  <a:pt x="0" y="0"/>
                </a:lnTo>
                <a:close/>
              </a:path>
            </a:pathLst>
          </a:custGeom>
          <a:blipFill>
            <a:blip r:embed="rId6">
              <a:extLst>
                <a:ext uri="{96DAC541-7B7A-43D3-8B79-37D633B846F1}">
                  <asvg:svgBlip xmlns:asvg="http://schemas.microsoft.com/office/drawing/2016/SVG/main" r:embed="rId7"/>
                </a:ext>
              </a:extLst>
            </a:blip>
            <a:stretch>
              <a:fillRect l="-88" r="-88"/>
            </a:stretch>
          </a:blipFill>
        </p:spPr>
      </p:sp>
      <p:sp>
        <p:nvSpPr>
          <p:cNvPr id="5" name="Freeform 5"/>
          <p:cNvSpPr/>
          <p:nvPr/>
        </p:nvSpPr>
        <p:spPr>
          <a:xfrm flipH="1">
            <a:off x="-1808388" y="292931"/>
            <a:ext cx="3616776" cy="7883980"/>
          </a:xfrm>
          <a:custGeom>
            <a:avLst/>
            <a:gdLst/>
            <a:ahLst/>
            <a:cxnLst/>
            <a:rect l="l" t="t" r="r" b="b"/>
            <a:pathLst>
              <a:path w="3616776" h="7883980">
                <a:moveTo>
                  <a:pt x="3616776" y="0"/>
                </a:moveTo>
                <a:lnTo>
                  <a:pt x="0" y="0"/>
                </a:lnTo>
                <a:lnTo>
                  <a:pt x="0" y="7883980"/>
                </a:lnTo>
                <a:lnTo>
                  <a:pt x="3616776" y="7883980"/>
                </a:lnTo>
                <a:lnTo>
                  <a:pt x="3616776" y="0"/>
                </a:lnTo>
                <a:close/>
              </a:path>
            </a:pathLst>
          </a:custGeom>
          <a:blipFill>
            <a:blip r:embed="rId8">
              <a:alphaModFix amt="75000"/>
              <a:extLst>
                <a:ext uri="{96DAC541-7B7A-43D3-8B79-37D633B846F1}">
                  <asvg:svgBlip xmlns:asvg="http://schemas.microsoft.com/office/drawing/2016/SVG/main" r:embed="rId9"/>
                </a:ext>
              </a:extLst>
            </a:blip>
            <a:stretch>
              <a:fillRect t="-39" b="-39"/>
            </a:stretch>
          </a:blipFill>
        </p:spPr>
      </p:sp>
      <p:grpSp>
        <p:nvGrpSpPr>
          <p:cNvPr id="6" name="Group 6"/>
          <p:cNvGrpSpPr/>
          <p:nvPr/>
        </p:nvGrpSpPr>
        <p:grpSpPr>
          <a:xfrm>
            <a:off x="3947917" y="1028700"/>
            <a:ext cx="10063511" cy="3570463"/>
            <a:chOff x="0" y="0"/>
            <a:chExt cx="13418015" cy="4760618"/>
          </a:xfrm>
        </p:grpSpPr>
        <p:sp>
          <p:nvSpPr>
            <p:cNvPr id="7" name="Freeform 7"/>
            <p:cNvSpPr/>
            <p:nvPr/>
          </p:nvSpPr>
          <p:spPr>
            <a:xfrm>
              <a:off x="0" y="0"/>
              <a:ext cx="13418015" cy="4760618"/>
            </a:xfrm>
            <a:custGeom>
              <a:avLst/>
              <a:gdLst/>
              <a:ahLst/>
              <a:cxnLst/>
              <a:rect l="l" t="t" r="r" b="b"/>
              <a:pathLst>
                <a:path w="13418015" h="4760618">
                  <a:moveTo>
                    <a:pt x="0" y="0"/>
                  </a:moveTo>
                  <a:lnTo>
                    <a:pt x="13418015" y="0"/>
                  </a:lnTo>
                  <a:lnTo>
                    <a:pt x="13418015" y="4760618"/>
                  </a:lnTo>
                  <a:lnTo>
                    <a:pt x="0" y="4760618"/>
                  </a:lnTo>
                  <a:close/>
                </a:path>
              </a:pathLst>
            </a:custGeom>
            <a:solidFill>
              <a:srgbClr val="000000">
                <a:alpha val="0"/>
              </a:srgbClr>
            </a:solidFill>
          </p:spPr>
        </p:sp>
        <p:sp>
          <p:nvSpPr>
            <p:cNvPr id="8" name="TextBox 8"/>
            <p:cNvSpPr txBox="1"/>
            <p:nvPr/>
          </p:nvSpPr>
          <p:spPr>
            <a:xfrm>
              <a:off x="0" y="-866775"/>
              <a:ext cx="13418015" cy="5627393"/>
            </a:xfrm>
            <a:prstGeom prst="rect">
              <a:avLst/>
            </a:prstGeom>
          </p:spPr>
          <p:txBody>
            <a:bodyPr lIns="0" tIns="0" rIns="0" bIns="0" rtlCol="0" anchor="t"/>
            <a:lstStyle/>
            <a:p>
              <a:pPr algn="ctr">
                <a:lnSpc>
                  <a:spcPts val="15000"/>
                </a:lnSpc>
              </a:pPr>
              <a:r>
                <a:rPr lang="en-US" sz="6000">
                  <a:solidFill>
                    <a:srgbClr val="984807"/>
                  </a:solidFill>
                  <a:latin typeface="Arial"/>
                  <a:ea typeface="Arial"/>
                  <a:cs typeface="Arial"/>
                  <a:sym typeface="Arial"/>
                </a:rPr>
                <a:t> </a:t>
              </a:r>
              <a:r>
                <a:rPr lang="en-US" sz="6000" b="1">
                  <a:solidFill>
                    <a:srgbClr val="984807"/>
                  </a:solidFill>
                  <a:latin typeface="Arial Bold"/>
                  <a:ea typeface="Arial Bold"/>
                  <a:cs typeface="Arial Bold"/>
                  <a:sym typeface="Arial Bold"/>
                </a:rPr>
                <a:t>Objective</a:t>
              </a:r>
            </a:p>
          </p:txBody>
        </p:sp>
      </p:grpSp>
      <p:grpSp>
        <p:nvGrpSpPr>
          <p:cNvPr id="9" name="Group 9"/>
          <p:cNvGrpSpPr/>
          <p:nvPr/>
        </p:nvGrpSpPr>
        <p:grpSpPr>
          <a:xfrm>
            <a:off x="2944269" y="3172990"/>
            <a:ext cx="13193352" cy="4557394"/>
            <a:chOff x="0" y="0"/>
            <a:chExt cx="17591136" cy="6076526"/>
          </a:xfrm>
        </p:grpSpPr>
        <p:sp>
          <p:nvSpPr>
            <p:cNvPr id="10" name="Freeform 10"/>
            <p:cNvSpPr/>
            <p:nvPr/>
          </p:nvSpPr>
          <p:spPr>
            <a:xfrm>
              <a:off x="0" y="0"/>
              <a:ext cx="17591136" cy="6076526"/>
            </a:xfrm>
            <a:custGeom>
              <a:avLst/>
              <a:gdLst/>
              <a:ahLst/>
              <a:cxnLst/>
              <a:rect l="l" t="t" r="r" b="b"/>
              <a:pathLst>
                <a:path w="17591136" h="6076526">
                  <a:moveTo>
                    <a:pt x="0" y="0"/>
                  </a:moveTo>
                  <a:lnTo>
                    <a:pt x="17591136" y="0"/>
                  </a:lnTo>
                  <a:lnTo>
                    <a:pt x="17591136" y="6076526"/>
                  </a:lnTo>
                  <a:lnTo>
                    <a:pt x="0" y="6076526"/>
                  </a:lnTo>
                  <a:close/>
                </a:path>
              </a:pathLst>
            </a:custGeom>
            <a:solidFill>
              <a:srgbClr val="000000">
                <a:alpha val="0"/>
              </a:srgbClr>
            </a:solidFill>
          </p:spPr>
        </p:sp>
        <p:sp>
          <p:nvSpPr>
            <p:cNvPr id="11" name="TextBox 11"/>
            <p:cNvSpPr txBox="1"/>
            <p:nvPr/>
          </p:nvSpPr>
          <p:spPr>
            <a:xfrm>
              <a:off x="0" y="-123825"/>
              <a:ext cx="17591136" cy="6200351"/>
            </a:xfrm>
            <a:prstGeom prst="rect">
              <a:avLst/>
            </a:prstGeom>
          </p:spPr>
          <p:txBody>
            <a:bodyPr lIns="0" tIns="0" rIns="0" bIns="0" rtlCol="0" anchor="t"/>
            <a:lstStyle/>
            <a:p>
              <a:pPr algn="l">
                <a:lnSpc>
                  <a:spcPts val="4480"/>
                </a:lnSpc>
              </a:pPr>
              <a:r>
                <a:rPr lang="en-US" sz="3200">
                  <a:solidFill>
                    <a:srgbClr val="000000"/>
                  </a:solidFill>
                  <a:latin typeface="Arial"/>
                  <a:ea typeface="Arial"/>
                  <a:cs typeface="Arial"/>
                  <a:sym typeface="Arial"/>
                </a:rPr>
                <a:t>1. To study the relationship between the discounts and consumers buying behavior for different product categories </a:t>
              </a:r>
            </a:p>
            <a:p>
              <a:pPr algn="l">
                <a:lnSpc>
                  <a:spcPts val="4480"/>
                </a:lnSpc>
              </a:pPr>
              <a:endParaRPr lang="en-US" sz="3200">
                <a:solidFill>
                  <a:srgbClr val="000000"/>
                </a:solidFill>
                <a:latin typeface="Arial"/>
                <a:ea typeface="Arial"/>
                <a:cs typeface="Arial"/>
                <a:sym typeface="Arial"/>
              </a:endParaRPr>
            </a:p>
            <a:p>
              <a:pPr algn="l">
                <a:lnSpc>
                  <a:spcPts val="4480"/>
                </a:lnSpc>
              </a:pPr>
              <a:r>
                <a:rPr lang="en-US" sz="3200">
                  <a:solidFill>
                    <a:srgbClr val="000000"/>
                  </a:solidFill>
                  <a:latin typeface="Arial"/>
                  <a:ea typeface="Arial"/>
                  <a:cs typeface="Arial"/>
                  <a:sym typeface="Arial"/>
                </a:rPr>
                <a:t>2. To study the relationship between the promotions and consumers buying behavior for different product categories </a:t>
              </a:r>
            </a:p>
            <a:p>
              <a:pPr algn="l">
                <a:lnSpc>
                  <a:spcPts val="4480"/>
                </a:lnSpc>
              </a:pPr>
              <a:endParaRPr lang="en-US" sz="3200">
                <a:solidFill>
                  <a:srgbClr val="000000"/>
                </a:solidFill>
                <a:latin typeface="Arial"/>
                <a:ea typeface="Arial"/>
                <a:cs typeface="Arial"/>
                <a:sym typeface="Arial"/>
              </a:endParaRPr>
            </a:p>
            <a:p>
              <a:pPr algn="l">
                <a:lnSpc>
                  <a:spcPts val="4480"/>
                </a:lnSpc>
              </a:pPr>
              <a:r>
                <a:rPr lang="en-US" sz="3200">
                  <a:solidFill>
                    <a:srgbClr val="000000"/>
                  </a:solidFill>
                  <a:latin typeface="Arial"/>
                  <a:ea typeface="Arial"/>
                  <a:cs typeface="Arial"/>
                  <a:sym typeface="Arial"/>
                </a:rPr>
                <a:t>  3. To investigate the psychological and emotional factors that consumers associate with discounts and promotions.</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10800000">
            <a:off x="14077272" y="-1018297"/>
            <a:ext cx="5114584" cy="5142635"/>
          </a:xfrm>
          <a:custGeom>
            <a:avLst/>
            <a:gdLst/>
            <a:ahLst/>
            <a:cxnLst/>
            <a:rect l="l" t="t" r="r" b="b"/>
            <a:pathLst>
              <a:path w="5114584" h="5142635">
                <a:moveTo>
                  <a:pt x="0" y="0"/>
                </a:moveTo>
                <a:lnTo>
                  <a:pt x="5114584" y="0"/>
                </a:lnTo>
                <a:lnTo>
                  <a:pt x="5114584" y="5142635"/>
                </a:lnTo>
                <a:lnTo>
                  <a:pt x="0" y="5142635"/>
                </a:lnTo>
                <a:lnTo>
                  <a:pt x="0" y="0"/>
                </a:lnTo>
                <a:close/>
              </a:path>
            </a:pathLst>
          </a:custGeom>
          <a:blipFill>
            <a:blip r:embed="rId2">
              <a:extLst>
                <a:ext uri="{96DAC541-7B7A-43D3-8B79-37D633B846F1}">
                  <asvg:svgBlip xmlns:asvg="http://schemas.microsoft.com/office/drawing/2016/SVG/main" r:embed="rId3"/>
                </a:ext>
              </a:extLst>
            </a:blip>
            <a:stretch>
              <a:fillRect l="-181" r="-181"/>
            </a:stretch>
          </a:blipFill>
        </p:spPr>
      </p:sp>
      <p:sp>
        <p:nvSpPr>
          <p:cNvPr id="3" name="Freeform 3"/>
          <p:cNvSpPr/>
          <p:nvPr/>
        </p:nvSpPr>
        <p:spPr>
          <a:xfrm rot="-10800000" flipV="1">
            <a:off x="15409344" y="-1555083"/>
            <a:ext cx="2450438" cy="4185866"/>
          </a:xfrm>
          <a:custGeom>
            <a:avLst/>
            <a:gdLst/>
            <a:ahLst/>
            <a:cxnLst/>
            <a:rect l="l" t="t" r="r" b="b"/>
            <a:pathLst>
              <a:path w="2450438" h="4185866">
                <a:moveTo>
                  <a:pt x="0" y="4185866"/>
                </a:moveTo>
                <a:lnTo>
                  <a:pt x="2450438" y="4185866"/>
                </a:lnTo>
                <a:lnTo>
                  <a:pt x="2450438" y="0"/>
                </a:lnTo>
                <a:lnTo>
                  <a:pt x="0" y="0"/>
                </a:lnTo>
                <a:lnTo>
                  <a:pt x="0" y="4185866"/>
                </a:lnTo>
                <a:close/>
              </a:path>
            </a:pathLst>
          </a:custGeom>
          <a:blipFill>
            <a:blip r:embed="rId4">
              <a:extLst>
                <a:ext uri="{96DAC541-7B7A-43D3-8B79-37D633B846F1}">
                  <asvg:svgBlip xmlns:asvg="http://schemas.microsoft.com/office/drawing/2016/SVG/main" r:embed="rId5"/>
                </a:ext>
              </a:extLst>
            </a:blip>
            <a:stretch>
              <a:fillRect l="-81" r="-81"/>
            </a:stretch>
          </a:blipFill>
        </p:spPr>
      </p:sp>
      <p:sp>
        <p:nvSpPr>
          <p:cNvPr id="4" name="Freeform 4"/>
          <p:cNvSpPr/>
          <p:nvPr/>
        </p:nvSpPr>
        <p:spPr>
          <a:xfrm rot="-10800000">
            <a:off x="12176714" y="959404"/>
            <a:ext cx="2909455" cy="1433567"/>
          </a:xfrm>
          <a:custGeom>
            <a:avLst/>
            <a:gdLst/>
            <a:ahLst/>
            <a:cxnLst/>
            <a:rect l="l" t="t" r="r" b="b"/>
            <a:pathLst>
              <a:path w="2909455" h="1433567">
                <a:moveTo>
                  <a:pt x="0" y="0"/>
                </a:moveTo>
                <a:lnTo>
                  <a:pt x="2909455" y="0"/>
                </a:lnTo>
                <a:lnTo>
                  <a:pt x="2909455" y="1433567"/>
                </a:lnTo>
                <a:lnTo>
                  <a:pt x="0" y="1433567"/>
                </a:lnTo>
                <a:lnTo>
                  <a:pt x="0" y="0"/>
                </a:lnTo>
                <a:close/>
              </a:path>
            </a:pathLst>
          </a:custGeom>
          <a:blipFill>
            <a:blip r:embed="rId6">
              <a:extLst>
                <a:ext uri="{96DAC541-7B7A-43D3-8B79-37D633B846F1}">
                  <asvg:svgBlip xmlns:asvg="http://schemas.microsoft.com/office/drawing/2016/SVG/main" r:embed="rId7"/>
                </a:ext>
              </a:extLst>
            </a:blip>
            <a:stretch>
              <a:fillRect l="-88" r="-88"/>
            </a:stretch>
          </a:blipFill>
        </p:spPr>
      </p:sp>
      <p:sp>
        <p:nvSpPr>
          <p:cNvPr id="5" name="Freeform 5"/>
          <p:cNvSpPr/>
          <p:nvPr/>
        </p:nvSpPr>
        <p:spPr>
          <a:xfrm flipH="1">
            <a:off x="0" y="5143500"/>
            <a:ext cx="3616776" cy="7883980"/>
          </a:xfrm>
          <a:custGeom>
            <a:avLst/>
            <a:gdLst/>
            <a:ahLst/>
            <a:cxnLst/>
            <a:rect l="l" t="t" r="r" b="b"/>
            <a:pathLst>
              <a:path w="3616776" h="7883980">
                <a:moveTo>
                  <a:pt x="3616776" y="0"/>
                </a:moveTo>
                <a:lnTo>
                  <a:pt x="0" y="0"/>
                </a:lnTo>
                <a:lnTo>
                  <a:pt x="0" y="7883980"/>
                </a:lnTo>
                <a:lnTo>
                  <a:pt x="3616776" y="7883980"/>
                </a:lnTo>
                <a:lnTo>
                  <a:pt x="3616776" y="0"/>
                </a:lnTo>
                <a:close/>
              </a:path>
            </a:pathLst>
          </a:custGeom>
          <a:blipFill>
            <a:blip r:embed="rId8">
              <a:alphaModFix amt="75000"/>
              <a:extLst>
                <a:ext uri="{96DAC541-7B7A-43D3-8B79-37D633B846F1}">
                  <asvg:svgBlip xmlns:asvg="http://schemas.microsoft.com/office/drawing/2016/SVG/main" r:embed="rId9"/>
                </a:ext>
              </a:extLst>
            </a:blip>
            <a:stretch>
              <a:fillRect t="-39" b="-39"/>
            </a:stretch>
          </a:blipFill>
        </p:spPr>
      </p:sp>
      <p:grpSp>
        <p:nvGrpSpPr>
          <p:cNvPr id="6" name="Group 6"/>
          <p:cNvGrpSpPr/>
          <p:nvPr/>
        </p:nvGrpSpPr>
        <p:grpSpPr>
          <a:xfrm>
            <a:off x="381000" y="2064544"/>
            <a:ext cx="16782822" cy="5441950"/>
            <a:chOff x="0" y="0"/>
            <a:chExt cx="22377096" cy="7255934"/>
          </a:xfrm>
        </p:grpSpPr>
        <p:sp>
          <p:nvSpPr>
            <p:cNvPr id="7" name="Freeform 7"/>
            <p:cNvSpPr/>
            <p:nvPr/>
          </p:nvSpPr>
          <p:spPr>
            <a:xfrm>
              <a:off x="0" y="0"/>
              <a:ext cx="22377096" cy="7255934"/>
            </a:xfrm>
            <a:custGeom>
              <a:avLst/>
              <a:gdLst/>
              <a:ahLst/>
              <a:cxnLst/>
              <a:rect l="l" t="t" r="r" b="b"/>
              <a:pathLst>
                <a:path w="22377096" h="7255934">
                  <a:moveTo>
                    <a:pt x="0" y="0"/>
                  </a:moveTo>
                  <a:lnTo>
                    <a:pt x="22377096" y="0"/>
                  </a:lnTo>
                  <a:lnTo>
                    <a:pt x="22377096" y="7255934"/>
                  </a:lnTo>
                  <a:lnTo>
                    <a:pt x="0" y="7255934"/>
                  </a:lnTo>
                  <a:close/>
                </a:path>
              </a:pathLst>
            </a:custGeom>
            <a:solidFill>
              <a:srgbClr val="000000">
                <a:alpha val="0"/>
              </a:srgbClr>
            </a:solidFill>
          </p:spPr>
        </p:sp>
        <p:sp>
          <p:nvSpPr>
            <p:cNvPr id="8" name="TextBox 8"/>
            <p:cNvSpPr txBox="1"/>
            <p:nvPr/>
          </p:nvSpPr>
          <p:spPr>
            <a:xfrm>
              <a:off x="0" y="-142875"/>
              <a:ext cx="22377096" cy="7398809"/>
            </a:xfrm>
            <a:prstGeom prst="rect">
              <a:avLst/>
            </a:prstGeom>
          </p:spPr>
          <p:txBody>
            <a:bodyPr lIns="0" tIns="0" rIns="0" bIns="0" rtlCol="0" anchor="t"/>
            <a:lstStyle/>
            <a:p>
              <a:pPr marL="1010083" lvl="3" indent="-252521" algn="just">
                <a:lnSpc>
                  <a:spcPts val="5179"/>
                </a:lnSpc>
                <a:buFont typeface="Arial"/>
                <a:buChar char="￭"/>
              </a:pPr>
              <a:r>
                <a:rPr lang="en-US" sz="3699" b="1">
                  <a:solidFill>
                    <a:srgbClr val="A4450A"/>
                  </a:solidFill>
                  <a:latin typeface="Arial Bold"/>
                  <a:ea typeface="Arial Bold"/>
                  <a:cs typeface="Arial Bold"/>
                  <a:sym typeface="Arial Bold"/>
                </a:rPr>
                <a:t>Independent Variable</a:t>
              </a:r>
              <a:r>
                <a:rPr lang="en-US" sz="3699" b="1">
                  <a:solidFill>
                    <a:srgbClr val="000000"/>
                  </a:solidFill>
                  <a:latin typeface="Arial Bold"/>
                  <a:ea typeface="Arial Bold"/>
                  <a:cs typeface="Arial Bold"/>
                  <a:sym typeface="Arial Bold"/>
                </a:rPr>
                <a:t>:</a:t>
              </a:r>
            </a:p>
            <a:p>
              <a:pPr marL="1070609" lvl="3" indent="-267652" algn="just">
                <a:lnSpc>
                  <a:spcPts val="5179"/>
                </a:lnSpc>
                <a:buFont typeface="Arial"/>
                <a:buChar char="￭"/>
              </a:pPr>
              <a:r>
                <a:rPr lang="en-US" sz="4000">
                  <a:solidFill>
                    <a:srgbClr val="000000"/>
                  </a:solidFill>
                  <a:latin typeface="Calibri (MS)"/>
                  <a:ea typeface="Calibri (MS)"/>
                  <a:cs typeface="Calibri (MS)"/>
                  <a:sym typeface="Calibri (MS)"/>
                </a:rPr>
                <a:t>Discount types, Promotional methods, Awareness of promotions, Demographic factors, Psychological factors</a:t>
              </a:r>
            </a:p>
            <a:p>
              <a:pPr marL="990046" lvl="3" indent="-247511" algn="just">
                <a:lnSpc>
                  <a:spcPts val="5179"/>
                </a:lnSpc>
              </a:pPr>
              <a:endParaRPr lang="en-US" sz="4000">
                <a:solidFill>
                  <a:srgbClr val="000000"/>
                </a:solidFill>
                <a:latin typeface="Calibri (MS)"/>
                <a:ea typeface="Calibri (MS)"/>
                <a:cs typeface="Calibri (MS)"/>
                <a:sym typeface="Calibri (MS)"/>
              </a:endParaRPr>
            </a:p>
            <a:p>
              <a:pPr marL="1010083" lvl="3" indent="-252521" algn="just">
                <a:lnSpc>
                  <a:spcPts val="5179"/>
                </a:lnSpc>
                <a:buFont typeface="Arial"/>
                <a:buChar char="￭"/>
              </a:pPr>
              <a:r>
                <a:rPr lang="en-US" sz="3699" b="1">
                  <a:solidFill>
                    <a:srgbClr val="A4450A"/>
                  </a:solidFill>
                  <a:latin typeface="Arial Bold"/>
                  <a:ea typeface="Arial Bold"/>
                  <a:cs typeface="Arial Bold"/>
                  <a:sym typeface="Arial Bold"/>
                </a:rPr>
                <a:t>Dependent Variable</a:t>
              </a:r>
              <a:r>
                <a:rPr lang="en-US" sz="3699" b="1">
                  <a:solidFill>
                    <a:srgbClr val="000000"/>
                  </a:solidFill>
                  <a:latin typeface="Arial Bold"/>
                  <a:ea typeface="Arial Bold"/>
                  <a:cs typeface="Arial Bold"/>
                  <a:sym typeface="Arial Bold"/>
                </a:rPr>
                <a:t>:</a:t>
              </a:r>
            </a:p>
            <a:p>
              <a:pPr marL="1010083" lvl="3" indent="-252521" algn="just">
                <a:lnSpc>
                  <a:spcPts val="5179"/>
                </a:lnSpc>
                <a:buFont typeface="Arial"/>
                <a:buChar char="￭"/>
              </a:pPr>
              <a:r>
                <a:rPr lang="en-US" sz="3699">
                  <a:solidFill>
                    <a:srgbClr val="000000"/>
                  </a:solidFill>
                  <a:latin typeface="Arial"/>
                  <a:ea typeface="Arial"/>
                  <a:cs typeface="Arial"/>
                  <a:sym typeface="Arial"/>
                </a:rPr>
                <a:t>Consumer buying behavior (e.g., purchasing decisions, sales volume, brand switching, shopping frequency, impulse buying, consumer perception of product quality).</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grpSp>
        <p:nvGrpSpPr>
          <p:cNvPr id="2" name="Group 2"/>
          <p:cNvGrpSpPr/>
          <p:nvPr/>
        </p:nvGrpSpPr>
        <p:grpSpPr>
          <a:xfrm>
            <a:off x="5649334" y="1408439"/>
            <a:ext cx="5936359" cy="3353609"/>
            <a:chOff x="0" y="0"/>
            <a:chExt cx="7915145" cy="4471479"/>
          </a:xfrm>
        </p:grpSpPr>
        <p:sp>
          <p:nvSpPr>
            <p:cNvPr id="3" name="Freeform 3"/>
            <p:cNvSpPr/>
            <p:nvPr/>
          </p:nvSpPr>
          <p:spPr>
            <a:xfrm>
              <a:off x="0" y="0"/>
              <a:ext cx="7915146" cy="4471479"/>
            </a:xfrm>
            <a:custGeom>
              <a:avLst/>
              <a:gdLst/>
              <a:ahLst/>
              <a:cxnLst/>
              <a:rect l="l" t="t" r="r" b="b"/>
              <a:pathLst>
                <a:path w="7915146" h="4471479">
                  <a:moveTo>
                    <a:pt x="0" y="0"/>
                  </a:moveTo>
                  <a:lnTo>
                    <a:pt x="7915146" y="0"/>
                  </a:lnTo>
                  <a:lnTo>
                    <a:pt x="7915146" y="4471479"/>
                  </a:lnTo>
                  <a:lnTo>
                    <a:pt x="0" y="4471479"/>
                  </a:lnTo>
                  <a:close/>
                </a:path>
              </a:pathLst>
            </a:custGeom>
            <a:solidFill>
              <a:srgbClr val="000000">
                <a:alpha val="0"/>
              </a:srgbClr>
            </a:solidFill>
          </p:spPr>
        </p:sp>
        <p:sp>
          <p:nvSpPr>
            <p:cNvPr id="4" name="TextBox 4"/>
            <p:cNvSpPr txBox="1"/>
            <p:nvPr/>
          </p:nvSpPr>
          <p:spPr>
            <a:xfrm>
              <a:off x="0" y="-866775"/>
              <a:ext cx="7915145" cy="5338254"/>
            </a:xfrm>
            <a:prstGeom prst="rect">
              <a:avLst/>
            </a:prstGeom>
          </p:spPr>
          <p:txBody>
            <a:bodyPr lIns="0" tIns="0" rIns="0" bIns="0" rtlCol="0" anchor="t"/>
            <a:lstStyle/>
            <a:p>
              <a:pPr algn="ctr">
                <a:lnSpc>
                  <a:spcPts val="15000"/>
                </a:lnSpc>
              </a:pPr>
              <a:r>
                <a:rPr lang="en-US" sz="6000" b="1">
                  <a:solidFill>
                    <a:srgbClr val="984807"/>
                  </a:solidFill>
                  <a:latin typeface="Arial Bold"/>
                  <a:ea typeface="Arial Bold"/>
                  <a:cs typeface="Arial Bold"/>
                  <a:sym typeface="Arial Bold"/>
                </a:rPr>
                <a:t>Hypotheses</a:t>
              </a:r>
            </a:p>
          </p:txBody>
        </p:sp>
      </p:grpSp>
      <p:sp>
        <p:nvSpPr>
          <p:cNvPr id="5" name="Freeform 5"/>
          <p:cNvSpPr/>
          <p:nvPr/>
        </p:nvSpPr>
        <p:spPr>
          <a:xfrm>
            <a:off x="-1699183" y="-1162878"/>
            <a:ext cx="5114585" cy="5142635"/>
          </a:xfrm>
          <a:custGeom>
            <a:avLst/>
            <a:gdLst/>
            <a:ahLst/>
            <a:cxnLst/>
            <a:rect l="l" t="t" r="r" b="b"/>
            <a:pathLst>
              <a:path w="5114585" h="5142635">
                <a:moveTo>
                  <a:pt x="0" y="0"/>
                </a:moveTo>
                <a:lnTo>
                  <a:pt x="5114585" y="0"/>
                </a:lnTo>
                <a:lnTo>
                  <a:pt x="5114585" y="5142635"/>
                </a:lnTo>
                <a:lnTo>
                  <a:pt x="0" y="5142635"/>
                </a:lnTo>
                <a:lnTo>
                  <a:pt x="0" y="0"/>
                </a:lnTo>
                <a:close/>
              </a:path>
            </a:pathLst>
          </a:custGeom>
          <a:blipFill>
            <a:blip r:embed="rId2">
              <a:extLst>
                <a:ext uri="{96DAC541-7B7A-43D3-8B79-37D633B846F1}">
                  <asvg:svgBlip xmlns:asvg="http://schemas.microsoft.com/office/drawing/2016/SVG/main" r:embed="rId3"/>
                </a:ext>
              </a:extLst>
            </a:blip>
            <a:stretch>
              <a:fillRect l="-181" r="-181"/>
            </a:stretch>
          </a:blipFill>
        </p:spPr>
      </p:sp>
      <p:sp>
        <p:nvSpPr>
          <p:cNvPr id="6" name="Freeform 6"/>
          <p:cNvSpPr/>
          <p:nvPr/>
        </p:nvSpPr>
        <p:spPr>
          <a:xfrm flipV="1">
            <a:off x="-381000" y="342900"/>
            <a:ext cx="2450438" cy="4185866"/>
          </a:xfrm>
          <a:custGeom>
            <a:avLst/>
            <a:gdLst/>
            <a:ahLst/>
            <a:cxnLst/>
            <a:rect l="l" t="t" r="r" b="b"/>
            <a:pathLst>
              <a:path w="2450438" h="4185866">
                <a:moveTo>
                  <a:pt x="0" y="4185866"/>
                </a:moveTo>
                <a:lnTo>
                  <a:pt x="2450438" y="4185866"/>
                </a:lnTo>
                <a:lnTo>
                  <a:pt x="2450438" y="0"/>
                </a:lnTo>
                <a:lnTo>
                  <a:pt x="0" y="0"/>
                </a:lnTo>
                <a:lnTo>
                  <a:pt x="0" y="4185866"/>
                </a:lnTo>
                <a:close/>
              </a:path>
            </a:pathLst>
          </a:custGeom>
          <a:blipFill>
            <a:blip r:embed="rId4">
              <a:extLst>
                <a:ext uri="{96DAC541-7B7A-43D3-8B79-37D633B846F1}">
                  <asvg:svgBlip xmlns:asvg="http://schemas.microsoft.com/office/drawing/2016/SVG/main" r:embed="rId5"/>
                </a:ext>
              </a:extLst>
            </a:blip>
            <a:stretch>
              <a:fillRect l="-81" r="-81"/>
            </a:stretch>
          </a:blipFill>
        </p:spPr>
      </p:sp>
      <p:sp>
        <p:nvSpPr>
          <p:cNvPr id="7" name="Freeform 7"/>
          <p:cNvSpPr/>
          <p:nvPr/>
        </p:nvSpPr>
        <p:spPr>
          <a:xfrm flipH="1">
            <a:off x="2406504" y="568489"/>
            <a:ext cx="2909455" cy="1433568"/>
          </a:xfrm>
          <a:custGeom>
            <a:avLst/>
            <a:gdLst/>
            <a:ahLst/>
            <a:cxnLst/>
            <a:rect l="l" t="t" r="r" b="b"/>
            <a:pathLst>
              <a:path w="2909455" h="1433568">
                <a:moveTo>
                  <a:pt x="2909455" y="0"/>
                </a:moveTo>
                <a:lnTo>
                  <a:pt x="0" y="0"/>
                </a:lnTo>
                <a:lnTo>
                  <a:pt x="0" y="1433568"/>
                </a:lnTo>
                <a:lnTo>
                  <a:pt x="2909455" y="1433568"/>
                </a:lnTo>
                <a:lnTo>
                  <a:pt x="2909455" y="0"/>
                </a:lnTo>
                <a:close/>
              </a:path>
            </a:pathLst>
          </a:custGeom>
          <a:blipFill>
            <a:blip r:embed="rId6">
              <a:extLst>
                <a:ext uri="{96DAC541-7B7A-43D3-8B79-37D633B846F1}">
                  <asvg:svgBlip xmlns:asvg="http://schemas.microsoft.com/office/drawing/2016/SVG/main" r:embed="rId7"/>
                </a:ext>
              </a:extLst>
            </a:blip>
            <a:stretch>
              <a:fillRect l="-88" r="-88"/>
            </a:stretch>
          </a:blipFill>
        </p:spPr>
      </p:sp>
      <p:sp>
        <p:nvSpPr>
          <p:cNvPr id="8" name="Freeform 8"/>
          <p:cNvSpPr/>
          <p:nvPr/>
        </p:nvSpPr>
        <p:spPr>
          <a:xfrm>
            <a:off x="14978457" y="3979758"/>
            <a:ext cx="3616776" cy="7883980"/>
          </a:xfrm>
          <a:custGeom>
            <a:avLst/>
            <a:gdLst/>
            <a:ahLst/>
            <a:cxnLst/>
            <a:rect l="l" t="t" r="r" b="b"/>
            <a:pathLst>
              <a:path w="3616776" h="7883980">
                <a:moveTo>
                  <a:pt x="0" y="0"/>
                </a:moveTo>
                <a:lnTo>
                  <a:pt x="3616776" y="0"/>
                </a:lnTo>
                <a:lnTo>
                  <a:pt x="3616776" y="7883980"/>
                </a:lnTo>
                <a:lnTo>
                  <a:pt x="0" y="7883980"/>
                </a:lnTo>
                <a:lnTo>
                  <a:pt x="0" y="0"/>
                </a:lnTo>
                <a:close/>
              </a:path>
            </a:pathLst>
          </a:custGeom>
          <a:blipFill>
            <a:blip r:embed="rId8">
              <a:alphaModFix amt="75000"/>
              <a:extLst>
                <a:ext uri="{96DAC541-7B7A-43D3-8B79-37D633B846F1}">
                  <asvg:svgBlip xmlns:asvg="http://schemas.microsoft.com/office/drawing/2016/SVG/main" r:embed="rId9"/>
                </a:ext>
              </a:extLst>
            </a:blip>
            <a:stretch>
              <a:fillRect t="-39" b="-39"/>
            </a:stretch>
          </a:blipFill>
        </p:spPr>
      </p:sp>
      <p:sp>
        <p:nvSpPr>
          <p:cNvPr id="9" name="TextBox 9"/>
          <p:cNvSpPr txBox="1"/>
          <p:nvPr/>
        </p:nvSpPr>
        <p:spPr>
          <a:xfrm>
            <a:off x="1028700" y="3198618"/>
            <a:ext cx="13490278" cy="4723130"/>
          </a:xfrm>
          <a:prstGeom prst="rect">
            <a:avLst/>
          </a:prstGeom>
        </p:spPr>
        <p:txBody>
          <a:bodyPr lIns="0" tIns="0" rIns="0" bIns="0" rtlCol="0" anchor="t">
            <a:spAutoFit/>
          </a:bodyPr>
          <a:lstStyle/>
          <a:p>
            <a:pPr algn="l">
              <a:lnSpc>
                <a:spcPts val="5320"/>
              </a:lnSpc>
              <a:spcBef>
                <a:spcPct val="0"/>
              </a:spcBef>
            </a:pPr>
            <a:r>
              <a:rPr lang="en-US" sz="3800" b="1">
                <a:solidFill>
                  <a:srgbClr val="A4450A"/>
                </a:solidFill>
                <a:latin typeface="Arial Bold"/>
                <a:ea typeface="Arial Bold"/>
                <a:cs typeface="Arial Bold"/>
                <a:sym typeface="Arial Bold"/>
              </a:rPr>
              <a:t>Null Hypothesis (H₀): </a:t>
            </a:r>
            <a:r>
              <a:rPr lang="en-US" sz="3800">
                <a:solidFill>
                  <a:srgbClr val="000000"/>
                </a:solidFill>
                <a:latin typeface="Arial"/>
                <a:ea typeface="Arial"/>
                <a:cs typeface="Arial"/>
                <a:sym typeface="Arial"/>
              </a:rPr>
              <a:t>There is no significant relationship between discounts, promotions and consumer buying behavior across different product categories</a:t>
            </a:r>
            <a:r>
              <a:rPr lang="en-US" sz="3800" b="1">
                <a:solidFill>
                  <a:srgbClr val="A4450A"/>
                </a:solidFill>
                <a:latin typeface="Arial Bold"/>
                <a:ea typeface="Arial Bold"/>
                <a:cs typeface="Arial Bold"/>
                <a:sym typeface="Arial Bold"/>
              </a:rPr>
              <a:t>.</a:t>
            </a:r>
          </a:p>
          <a:p>
            <a:pPr algn="l">
              <a:lnSpc>
                <a:spcPts val="5320"/>
              </a:lnSpc>
              <a:spcBef>
                <a:spcPct val="0"/>
              </a:spcBef>
            </a:pPr>
            <a:endParaRPr lang="en-US" sz="3800" b="1">
              <a:solidFill>
                <a:srgbClr val="A4450A"/>
              </a:solidFill>
              <a:latin typeface="Arial Bold"/>
              <a:ea typeface="Arial Bold"/>
              <a:cs typeface="Arial Bold"/>
              <a:sym typeface="Arial Bold"/>
            </a:endParaRPr>
          </a:p>
          <a:p>
            <a:pPr algn="l">
              <a:lnSpc>
                <a:spcPts val="5320"/>
              </a:lnSpc>
              <a:spcBef>
                <a:spcPct val="0"/>
              </a:spcBef>
            </a:pPr>
            <a:r>
              <a:rPr lang="en-US" sz="3800" b="1">
                <a:solidFill>
                  <a:srgbClr val="A4450A"/>
                </a:solidFill>
                <a:latin typeface="Arial Bold"/>
                <a:ea typeface="Arial Bold"/>
                <a:cs typeface="Arial Bold"/>
                <a:sym typeface="Arial Bold"/>
              </a:rPr>
              <a:t>Alternative Hypothesis (H₁)</a:t>
            </a:r>
            <a:r>
              <a:rPr lang="en-US" sz="3800">
                <a:solidFill>
                  <a:srgbClr val="000000"/>
                </a:solidFill>
                <a:latin typeface="Arial"/>
                <a:ea typeface="Arial"/>
                <a:cs typeface="Arial"/>
                <a:sym typeface="Arial"/>
              </a:rPr>
              <a:t>: There is a significant relationship between discounts, promotions and consumer buying behavior across different product categories.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grpSp>
        <p:nvGrpSpPr>
          <p:cNvPr id="2" name="Group 2"/>
          <p:cNvGrpSpPr/>
          <p:nvPr/>
        </p:nvGrpSpPr>
        <p:grpSpPr>
          <a:xfrm>
            <a:off x="2197724" y="1826786"/>
            <a:ext cx="15690375" cy="6600386"/>
            <a:chOff x="0" y="0"/>
            <a:chExt cx="20920500" cy="8800514"/>
          </a:xfrm>
        </p:grpSpPr>
        <p:sp>
          <p:nvSpPr>
            <p:cNvPr id="3" name="Freeform 3"/>
            <p:cNvSpPr/>
            <p:nvPr/>
          </p:nvSpPr>
          <p:spPr>
            <a:xfrm>
              <a:off x="0" y="0"/>
              <a:ext cx="20920500" cy="8800514"/>
            </a:xfrm>
            <a:custGeom>
              <a:avLst/>
              <a:gdLst/>
              <a:ahLst/>
              <a:cxnLst/>
              <a:rect l="l" t="t" r="r" b="b"/>
              <a:pathLst>
                <a:path w="20920500" h="8800514">
                  <a:moveTo>
                    <a:pt x="0" y="0"/>
                  </a:moveTo>
                  <a:lnTo>
                    <a:pt x="20920500" y="0"/>
                  </a:lnTo>
                  <a:lnTo>
                    <a:pt x="20920500" y="8800514"/>
                  </a:lnTo>
                  <a:lnTo>
                    <a:pt x="0" y="8800514"/>
                  </a:lnTo>
                  <a:close/>
                </a:path>
              </a:pathLst>
            </a:custGeom>
            <a:solidFill>
              <a:srgbClr val="000000">
                <a:alpha val="0"/>
              </a:srgbClr>
            </a:solidFill>
          </p:spPr>
        </p:sp>
        <p:sp>
          <p:nvSpPr>
            <p:cNvPr id="4" name="TextBox 4"/>
            <p:cNvSpPr txBox="1"/>
            <p:nvPr/>
          </p:nvSpPr>
          <p:spPr>
            <a:xfrm>
              <a:off x="0" y="-142875"/>
              <a:ext cx="20920500" cy="8943389"/>
            </a:xfrm>
            <a:prstGeom prst="rect">
              <a:avLst/>
            </a:prstGeom>
          </p:spPr>
          <p:txBody>
            <a:bodyPr lIns="0" tIns="0" rIns="0" bIns="0" rtlCol="0" anchor="t"/>
            <a:lstStyle/>
            <a:p>
              <a:pPr algn="ctr">
                <a:lnSpc>
                  <a:spcPts val="5179"/>
                </a:lnSpc>
              </a:pPr>
              <a:endParaRPr/>
            </a:p>
            <a:p>
              <a:pPr algn="ctr">
                <a:lnSpc>
                  <a:spcPts val="5179"/>
                </a:lnSpc>
              </a:pPr>
              <a:endParaRPr/>
            </a:p>
            <a:p>
              <a:pPr algn="l">
                <a:lnSpc>
                  <a:spcPts val="5179"/>
                </a:lnSpc>
              </a:pPr>
              <a:r>
                <a:rPr lang="en-US" sz="3699">
                  <a:solidFill>
                    <a:srgbClr val="000000"/>
                  </a:solidFill>
                  <a:latin typeface="Arial"/>
                  <a:ea typeface="Arial"/>
                  <a:cs typeface="Arial"/>
                  <a:sym typeface="Arial"/>
                </a:rPr>
                <a:t>=&gt; Discounts and promotions can distort purchasing patterns</a:t>
              </a:r>
            </a:p>
            <a:p>
              <a:pPr algn="l">
                <a:lnSpc>
                  <a:spcPts val="5179"/>
                </a:lnSpc>
              </a:pPr>
              <a:r>
                <a:rPr lang="en-US" sz="3699">
                  <a:solidFill>
                    <a:srgbClr val="000000"/>
                  </a:solidFill>
                  <a:latin typeface="Arial"/>
                  <a:ea typeface="Arial"/>
                  <a:cs typeface="Arial"/>
                  <a:sym typeface="Arial"/>
                </a:rPr>
                <a:t>=&gt; affect consumer perceptions of value</a:t>
              </a:r>
            </a:p>
            <a:p>
              <a:pPr algn="l">
                <a:lnSpc>
                  <a:spcPts val="5179"/>
                </a:lnSpc>
              </a:pPr>
              <a:r>
                <a:rPr lang="en-US" sz="3699">
                  <a:solidFill>
                    <a:srgbClr val="000000"/>
                  </a:solidFill>
                  <a:latin typeface="Arial"/>
                  <a:ea typeface="Arial"/>
                  <a:cs typeface="Arial"/>
                  <a:sym typeface="Arial"/>
                </a:rPr>
                <a:t>=&gt; disrupt competitive pricing structures.</a:t>
              </a:r>
            </a:p>
            <a:p>
              <a:pPr algn="ctr">
                <a:lnSpc>
                  <a:spcPts val="5179"/>
                </a:lnSpc>
              </a:pPr>
              <a:endParaRPr lang="en-US" sz="3699">
                <a:solidFill>
                  <a:srgbClr val="000000"/>
                </a:solidFill>
                <a:latin typeface="Arial"/>
                <a:ea typeface="Arial"/>
                <a:cs typeface="Arial"/>
                <a:sym typeface="Arial"/>
              </a:endParaRPr>
            </a:p>
            <a:p>
              <a:pPr algn="ctr">
                <a:lnSpc>
                  <a:spcPts val="5179"/>
                </a:lnSpc>
              </a:pPr>
              <a:r>
                <a:rPr lang="en-US" sz="3699">
                  <a:solidFill>
                    <a:srgbClr val="000000"/>
                  </a:solidFill>
                  <a:latin typeface="Arial"/>
                  <a:ea typeface="Arial"/>
                  <a:cs typeface="Arial"/>
                  <a:sym typeface="Arial"/>
                </a:rPr>
                <a:t>The research is particularly interesting because it delves into the psychological and economic factors driving consumer responses to discounts</a:t>
              </a:r>
            </a:p>
            <a:p>
              <a:pPr algn="r">
                <a:lnSpc>
                  <a:spcPts val="5179"/>
                </a:lnSpc>
              </a:pPr>
              <a:endParaRPr lang="en-US" sz="3699">
                <a:solidFill>
                  <a:srgbClr val="000000"/>
                </a:solidFill>
                <a:latin typeface="Arial"/>
                <a:ea typeface="Arial"/>
                <a:cs typeface="Arial"/>
                <a:sym typeface="Arial"/>
              </a:endParaRPr>
            </a:p>
          </p:txBody>
        </p:sp>
      </p:grpSp>
      <p:grpSp>
        <p:nvGrpSpPr>
          <p:cNvPr id="5" name="Group 5"/>
          <p:cNvGrpSpPr/>
          <p:nvPr/>
        </p:nvGrpSpPr>
        <p:grpSpPr>
          <a:xfrm>
            <a:off x="5302927" y="1028700"/>
            <a:ext cx="6457252" cy="3571166"/>
            <a:chOff x="0" y="0"/>
            <a:chExt cx="8609669" cy="4761555"/>
          </a:xfrm>
        </p:grpSpPr>
        <p:sp>
          <p:nvSpPr>
            <p:cNvPr id="6" name="Freeform 6"/>
            <p:cNvSpPr/>
            <p:nvPr/>
          </p:nvSpPr>
          <p:spPr>
            <a:xfrm>
              <a:off x="0" y="0"/>
              <a:ext cx="8609669" cy="4761555"/>
            </a:xfrm>
            <a:custGeom>
              <a:avLst/>
              <a:gdLst/>
              <a:ahLst/>
              <a:cxnLst/>
              <a:rect l="l" t="t" r="r" b="b"/>
              <a:pathLst>
                <a:path w="8609669" h="4761555">
                  <a:moveTo>
                    <a:pt x="0" y="0"/>
                  </a:moveTo>
                  <a:lnTo>
                    <a:pt x="8609669" y="0"/>
                  </a:lnTo>
                  <a:lnTo>
                    <a:pt x="8609669" y="4761555"/>
                  </a:lnTo>
                  <a:lnTo>
                    <a:pt x="0" y="4761555"/>
                  </a:lnTo>
                  <a:close/>
                </a:path>
              </a:pathLst>
            </a:custGeom>
            <a:solidFill>
              <a:srgbClr val="000000">
                <a:alpha val="0"/>
              </a:srgbClr>
            </a:solidFill>
          </p:spPr>
        </p:sp>
        <p:sp>
          <p:nvSpPr>
            <p:cNvPr id="7" name="TextBox 7"/>
            <p:cNvSpPr txBox="1"/>
            <p:nvPr/>
          </p:nvSpPr>
          <p:spPr>
            <a:xfrm>
              <a:off x="0" y="-866775"/>
              <a:ext cx="8609669" cy="5628330"/>
            </a:xfrm>
            <a:prstGeom prst="rect">
              <a:avLst/>
            </a:prstGeom>
          </p:spPr>
          <p:txBody>
            <a:bodyPr lIns="0" tIns="0" rIns="0" bIns="0" rtlCol="0" anchor="t"/>
            <a:lstStyle/>
            <a:p>
              <a:pPr algn="ctr">
                <a:lnSpc>
                  <a:spcPts val="15000"/>
                </a:lnSpc>
              </a:pPr>
              <a:r>
                <a:rPr lang="en-US" sz="6000" b="1">
                  <a:solidFill>
                    <a:srgbClr val="984807"/>
                  </a:solidFill>
                  <a:latin typeface="Arial Bold"/>
                  <a:ea typeface="Arial Bold"/>
                  <a:cs typeface="Arial Bold"/>
                  <a:sym typeface="Arial Bold"/>
                </a:rPr>
                <a:t>Significance</a:t>
              </a:r>
            </a:p>
          </p:txBody>
        </p:sp>
      </p:grpSp>
      <p:sp>
        <p:nvSpPr>
          <p:cNvPr id="8" name="Freeform 8"/>
          <p:cNvSpPr/>
          <p:nvPr/>
        </p:nvSpPr>
        <p:spPr>
          <a:xfrm rot="-1279815">
            <a:off x="16479612" y="1697"/>
            <a:ext cx="3616776" cy="7883980"/>
          </a:xfrm>
          <a:custGeom>
            <a:avLst/>
            <a:gdLst/>
            <a:ahLst/>
            <a:cxnLst/>
            <a:rect l="l" t="t" r="r" b="b"/>
            <a:pathLst>
              <a:path w="3616776" h="7883980">
                <a:moveTo>
                  <a:pt x="0" y="0"/>
                </a:moveTo>
                <a:lnTo>
                  <a:pt x="3616776" y="0"/>
                </a:lnTo>
                <a:lnTo>
                  <a:pt x="3616776" y="7883980"/>
                </a:lnTo>
                <a:lnTo>
                  <a:pt x="0" y="7883980"/>
                </a:lnTo>
                <a:lnTo>
                  <a:pt x="0" y="0"/>
                </a:lnTo>
                <a:close/>
              </a:path>
            </a:pathLst>
          </a:custGeom>
          <a:blipFill>
            <a:blip r:embed="rId2">
              <a:alphaModFix amt="75000"/>
              <a:extLst>
                <a:ext uri="{96DAC541-7B7A-43D3-8B79-37D633B846F1}">
                  <asvg:svgBlip xmlns:asvg="http://schemas.microsoft.com/office/drawing/2016/SVG/main" r:embed="rId3"/>
                </a:ext>
              </a:extLst>
            </a:blip>
            <a:stretch>
              <a:fillRect t="-39" b="-39"/>
            </a:stretch>
          </a:blipFill>
        </p:spPr>
      </p:sp>
      <p:sp>
        <p:nvSpPr>
          <p:cNvPr id="9" name="Freeform 9"/>
          <p:cNvSpPr/>
          <p:nvPr/>
        </p:nvSpPr>
        <p:spPr>
          <a:xfrm>
            <a:off x="-2014169" y="6326281"/>
            <a:ext cx="6493940" cy="6529555"/>
          </a:xfrm>
          <a:custGeom>
            <a:avLst/>
            <a:gdLst/>
            <a:ahLst/>
            <a:cxnLst/>
            <a:rect l="l" t="t" r="r" b="b"/>
            <a:pathLst>
              <a:path w="6493940" h="6529555">
                <a:moveTo>
                  <a:pt x="0" y="0"/>
                </a:moveTo>
                <a:lnTo>
                  <a:pt x="6493940" y="0"/>
                </a:lnTo>
                <a:lnTo>
                  <a:pt x="6493940" y="6529555"/>
                </a:lnTo>
                <a:lnTo>
                  <a:pt x="0" y="6529555"/>
                </a:lnTo>
                <a:lnTo>
                  <a:pt x="0" y="0"/>
                </a:lnTo>
                <a:close/>
              </a:path>
            </a:pathLst>
          </a:custGeom>
          <a:blipFill>
            <a:blip r:embed="rId4">
              <a:extLst>
                <a:ext uri="{96DAC541-7B7A-43D3-8B79-37D633B846F1}">
                  <asvg:svgBlip xmlns:asvg="http://schemas.microsoft.com/office/drawing/2016/SVG/main" r:embed="rId5"/>
                </a:ext>
              </a:extLst>
            </a:blip>
            <a:stretch>
              <a:fillRect l="-127" r="-127"/>
            </a:stretch>
          </a:blipFill>
        </p:spPr>
      </p:sp>
      <p:sp>
        <p:nvSpPr>
          <p:cNvPr id="10" name="Freeform 10"/>
          <p:cNvSpPr/>
          <p:nvPr/>
        </p:nvSpPr>
        <p:spPr>
          <a:xfrm rot="4368370">
            <a:off x="-636901" y="4079291"/>
            <a:ext cx="2689927" cy="1649410"/>
          </a:xfrm>
          <a:custGeom>
            <a:avLst/>
            <a:gdLst/>
            <a:ahLst/>
            <a:cxnLst/>
            <a:rect l="l" t="t" r="r" b="b"/>
            <a:pathLst>
              <a:path w="2689927" h="1649410">
                <a:moveTo>
                  <a:pt x="0" y="0"/>
                </a:moveTo>
                <a:lnTo>
                  <a:pt x="2689927" y="0"/>
                </a:lnTo>
                <a:lnTo>
                  <a:pt x="2689927" y="1649410"/>
                </a:lnTo>
                <a:lnTo>
                  <a:pt x="0" y="1649410"/>
                </a:lnTo>
                <a:lnTo>
                  <a:pt x="0" y="0"/>
                </a:lnTo>
                <a:close/>
              </a:path>
            </a:pathLst>
          </a:custGeom>
          <a:blipFill>
            <a:blip r:embed="rId6">
              <a:extLst>
                <a:ext uri="{96DAC541-7B7A-43D3-8B79-37D633B846F1}">
                  <asvg:svgBlip xmlns:asvg="http://schemas.microsoft.com/office/drawing/2016/SVG/main" r:embed="rId7"/>
                </a:ext>
              </a:extLst>
            </a:blip>
            <a:stretch>
              <a:fillRect l="-36867" r="-36867"/>
            </a:stretch>
          </a:blipFill>
        </p:spPr>
      </p:sp>
      <p:sp>
        <p:nvSpPr>
          <p:cNvPr id="11" name="Freeform 11"/>
          <p:cNvSpPr/>
          <p:nvPr/>
        </p:nvSpPr>
        <p:spPr>
          <a:xfrm rot="8309931" flipV="1">
            <a:off x="7582" y="6646127"/>
            <a:ext cx="2450438" cy="4185866"/>
          </a:xfrm>
          <a:custGeom>
            <a:avLst/>
            <a:gdLst/>
            <a:ahLst/>
            <a:cxnLst/>
            <a:rect l="l" t="t" r="r" b="b"/>
            <a:pathLst>
              <a:path w="2450438" h="4185866">
                <a:moveTo>
                  <a:pt x="0" y="4185866"/>
                </a:moveTo>
                <a:lnTo>
                  <a:pt x="2450438" y="4185866"/>
                </a:lnTo>
                <a:lnTo>
                  <a:pt x="2450438" y="0"/>
                </a:lnTo>
                <a:lnTo>
                  <a:pt x="0" y="0"/>
                </a:lnTo>
                <a:lnTo>
                  <a:pt x="0" y="4185866"/>
                </a:lnTo>
                <a:close/>
              </a:path>
            </a:pathLst>
          </a:custGeom>
          <a:blipFill>
            <a:blip r:embed="rId8">
              <a:extLst>
                <a:ext uri="{96DAC541-7B7A-43D3-8B79-37D633B846F1}">
                  <asvg:svgBlip xmlns:asvg="http://schemas.microsoft.com/office/drawing/2016/SVG/main" r:embed="rId9"/>
                </a:ext>
              </a:extLst>
            </a:blip>
            <a:stretch>
              <a:fillRect l="-81" r="-81"/>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a:off x="-1716643" y="-63503"/>
            <a:ext cx="19764651" cy="13450262"/>
          </a:xfrm>
          <a:custGeom>
            <a:avLst/>
            <a:gdLst/>
            <a:ahLst/>
            <a:cxnLst/>
            <a:rect l="l" t="t" r="r" b="b"/>
            <a:pathLst>
              <a:path w="19764651" h="13450262">
                <a:moveTo>
                  <a:pt x="0" y="0"/>
                </a:moveTo>
                <a:lnTo>
                  <a:pt x="19764651" y="0"/>
                </a:lnTo>
                <a:lnTo>
                  <a:pt x="19764651" y="13450262"/>
                </a:lnTo>
                <a:lnTo>
                  <a:pt x="0" y="13450262"/>
                </a:lnTo>
                <a:lnTo>
                  <a:pt x="0" y="0"/>
                </a:lnTo>
                <a:close/>
              </a:path>
            </a:pathLst>
          </a:custGeom>
          <a:blipFill>
            <a:blip r:embed="rId2">
              <a:extLst>
                <a:ext uri="{96DAC541-7B7A-43D3-8B79-37D633B846F1}">
                  <asvg:svgBlip xmlns:asvg="http://schemas.microsoft.com/office/drawing/2016/SVG/main" r:embed="rId3"/>
                </a:ext>
              </a:extLst>
            </a:blip>
            <a:stretch>
              <a:fillRect t="-8" b="-8"/>
            </a:stretch>
          </a:blipFill>
        </p:spPr>
      </p:sp>
      <p:grpSp>
        <p:nvGrpSpPr>
          <p:cNvPr id="3" name="Group 3"/>
          <p:cNvGrpSpPr/>
          <p:nvPr/>
        </p:nvGrpSpPr>
        <p:grpSpPr>
          <a:xfrm>
            <a:off x="5782085" y="1825781"/>
            <a:ext cx="7888357" cy="7267251"/>
            <a:chOff x="0" y="0"/>
            <a:chExt cx="10517809" cy="9689668"/>
          </a:xfrm>
        </p:grpSpPr>
        <p:sp>
          <p:nvSpPr>
            <p:cNvPr id="4" name="Freeform 4"/>
            <p:cNvSpPr/>
            <p:nvPr/>
          </p:nvSpPr>
          <p:spPr>
            <a:xfrm>
              <a:off x="0" y="0"/>
              <a:ext cx="10517809" cy="9689668"/>
            </a:xfrm>
            <a:custGeom>
              <a:avLst/>
              <a:gdLst/>
              <a:ahLst/>
              <a:cxnLst/>
              <a:rect l="l" t="t" r="r" b="b"/>
              <a:pathLst>
                <a:path w="10517809" h="9689668">
                  <a:moveTo>
                    <a:pt x="0" y="0"/>
                  </a:moveTo>
                  <a:lnTo>
                    <a:pt x="10517809" y="0"/>
                  </a:lnTo>
                  <a:lnTo>
                    <a:pt x="10517809" y="9689668"/>
                  </a:lnTo>
                  <a:lnTo>
                    <a:pt x="0" y="9689668"/>
                  </a:lnTo>
                  <a:close/>
                </a:path>
              </a:pathLst>
            </a:custGeom>
            <a:solidFill>
              <a:srgbClr val="000000">
                <a:alpha val="0"/>
              </a:srgbClr>
            </a:solidFill>
          </p:spPr>
        </p:sp>
        <p:sp>
          <p:nvSpPr>
            <p:cNvPr id="5" name="TextBox 5"/>
            <p:cNvSpPr txBox="1"/>
            <p:nvPr/>
          </p:nvSpPr>
          <p:spPr>
            <a:xfrm>
              <a:off x="0" y="-142875"/>
              <a:ext cx="10517809" cy="9832543"/>
            </a:xfrm>
            <a:prstGeom prst="rect">
              <a:avLst/>
            </a:prstGeom>
          </p:spPr>
          <p:txBody>
            <a:bodyPr lIns="0" tIns="0" rIns="0" bIns="0" rtlCol="0" anchor="t"/>
            <a:lstStyle/>
            <a:p>
              <a:pPr algn="ctr">
                <a:lnSpc>
                  <a:spcPts val="5173"/>
                </a:lnSpc>
              </a:pPr>
              <a:r>
                <a:rPr lang="en-US" sz="3698">
                  <a:solidFill>
                    <a:srgbClr val="726151"/>
                  </a:solidFill>
                  <a:latin typeface="Arial"/>
                  <a:ea typeface="Arial"/>
                  <a:cs typeface="Arial"/>
                  <a:sym typeface="Arial"/>
                </a:rPr>
                <a:t>Product purchase decisions start based on problems and recognition that fits their requirements.(Lamba ,2023) Women are more emotional and easily attracted by advertisement appeal than their male counterparts.(Matheos et al;2017) Consumers perception value is significantly influenced by the presence of discounts. (Dube,Hitsch,&amp;Chintanunta)</a:t>
              </a:r>
            </a:p>
          </p:txBody>
        </p:sp>
      </p:grpSp>
      <p:grpSp>
        <p:nvGrpSpPr>
          <p:cNvPr id="6" name="Group 6"/>
          <p:cNvGrpSpPr/>
          <p:nvPr/>
        </p:nvGrpSpPr>
        <p:grpSpPr>
          <a:xfrm>
            <a:off x="5968355" y="265128"/>
            <a:ext cx="6695246" cy="1114425"/>
            <a:chOff x="0" y="0"/>
            <a:chExt cx="8926995" cy="1485900"/>
          </a:xfrm>
        </p:grpSpPr>
        <p:sp>
          <p:nvSpPr>
            <p:cNvPr id="7" name="Freeform 7"/>
            <p:cNvSpPr/>
            <p:nvPr/>
          </p:nvSpPr>
          <p:spPr>
            <a:xfrm>
              <a:off x="0" y="0"/>
              <a:ext cx="8926995" cy="1485900"/>
            </a:xfrm>
            <a:custGeom>
              <a:avLst/>
              <a:gdLst/>
              <a:ahLst/>
              <a:cxnLst/>
              <a:rect l="l" t="t" r="r" b="b"/>
              <a:pathLst>
                <a:path w="8926995" h="1485900">
                  <a:moveTo>
                    <a:pt x="0" y="0"/>
                  </a:moveTo>
                  <a:lnTo>
                    <a:pt x="8926995" y="0"/>
                  </a:lnTo>
                  <a:lnTo>
                    <a:pt x="8926995" y="1485900"/>
                  </a:lnTo>
                  <a:lnTo>
                    <a:pt x="0" y="1485900"/>
                  </a:lnTo>
                  <a:close/>
                </a:path>
              </a:pathLst>
            </a:custGeom>
            <a:solidFill>
              <a:srgbClr val="000000">
                <a:alpha val="0"/>
              </a:srgbClr>
            </a:solidFill>
          </p:spPr>
        </p:sp>
        <p:sp>
          <p:nvSpPr>
            <p:cNvPr id="8" name="TextBox 8"/>
            <p:cNvSpPr txBox="1"/>
            <p:nvPr/>
          </p:nvSpPr>
          <p:spPr>
            <a:xfrm>
              <a:off x="0" y="-238125"/>
              <a:ext cx="8926995" cy="1724025"/>
            </a:xfrm>
            <a:prstGeom prst="rect">
              <a:avLst/>
            </a:prstGeom>
          </p:spPr>
          <p:txBody>
            <a:bodyPr lIns="0" tIns="0" rIns="0" bIns="0" rtlCol="0" anchor="t"/>
            <a:lstStyle/>
            <a:p>
              <a:pPr algn="l">
                <a:lnSpc>
                  <a:spcPts val="8400"/>
                </a:lnSpc>
              </a:pPr>
              <a:r>
                <a:rPr lang="en-US" sz="6000" b="1">
                  <a:solidFill>
                    <a:srgbClr val="984807"/>
                  </a:solidFill>
                  <a:latin typeface="Arial Bold"/>
                  <a:ea typeface="Arial Bold"/>
                  <a:cs typeface="Arial Bold"/>
                  <a:sym typeface="Arial Bold"/>
                </a:rPr>
                <a:t>Literature Review </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a:off x="-1463221" y="-63503"/>
            <a:ext cx="22043869" cy="12872828"/>
          </a:xfrm>
          <a:custGeom>
            <a:avLst/>
            <a:gdLst/>
            <a:ahLst/>
            <a:cxnLst/>
            <a:rect l="l" t="t" r="r" b="b"/>
            <a:pathLst>
              <a:path w="22043869" h="12872828">
                <a:moveTo>
                  <a:pt x="0" y="0"/>
                </a:moveTo>
                <a:lnTo>
                  <a:pt x="22043869" y="0"/>
                </a:lnTo>
                <a:lnTo>
                  <a:pt x="22043869" y="12872828"/>
                </a:lnTo>
                <a:lnTo>
                  <a:pt x="0" y="12872828"/>
                </a:lnTo>
                <a:lnTo>
                  <a:pt x="0" y="0"/>
                </a:lnTo>
                <a:close/>
              </a:path>
            </a:pathLst>
          </a:custGeom>
          <a:blipFill>
            <a:blip r:embed="rId2">
              <a:extLst>
                <a:ext uri="{96DAC541-7B7A-43D3-8B79-37D633B846F1}">
                  <asvg:svgBlip xmlns:asvg="http://schemas.microsoft.com/office/drawing/2016/SVG/main" r:embed="rId3"/>
                </a:ext>
              </a:extLst>
            </a:blip>
            <a:stretch>
              <a:fillRect t="-4" b="-4"/>
            </a:stretch>
          </a:blipFill>
        </p:spPr>
      </p:sp>
      <p:grpSp>
        <p:nvGrpSpPr>
          <p:cNvPr id="3" name="Group 3"/>
          <p:cNvGrpSpPr/>
          <p:nvPr/>
        </p:nvGrpSpPr>
        <p:grpSpPr>
          <a:xfrm>
            <a:off x="4040410" y="2155069"/>
            <a:ext cx="11441344" cy="5952801"/>
            <a:chOff x="0" y="0"/>
            <a:chExt cx="15255125" cy="7937068"/>
          </a:xfrm>
        </p:grpSpPr>
        <p:sp>
          <p:nvSpPr>
            <p:cNvPr id="4" name="Freeform 4"/>
            <p:cNvSpPr/>
            <p:nvPr/>
          </p:nvSpPr>
          <p:spPr>
            <a:xfrm>
              <a:off x="0" y="0"/>
              <a:ext cx="15255126" cy="7937068"/>
            </a:xfrm>
            <a:custGeom>
              <a:avLst/>
              <a:gdLst/>
              <a:ahLst/>
              <a:cxnLst/>
              <a:rect l="l" t="t" r="r" b="b"/>
              <a:pathLst>
                <a:path w="15255126" h="7937068">
                  <a:moveTo>
                    <a:pt x="0" y="0"/>
                  </a:moveTo>
                  <a:lnTo>
                    <a:pt x="15255126" y="0"/>
                  </a:lnTo>
                  <a:lnTo>
                    <a:pt x="15255126" y="7937068"/>
                  </a:lnTo>
                  <a:lnTo>
                    <a:pt x="0" y="7937068"/>
                  </a:lnTo>
                  <a:close/>
                </a:path>
              </a:pathLst>
            </a:custGeom>
            <a:solidFill>
              <a:srgbClr val="000000">
                <a:alpha val="0"/>
              </a:srgbClr>
            </a:solidFill>
          </p:spPr>
        </p:sp>
        <p:sp>
          <p:nvSpPr>
            <p:cNvPr id="5" name="TextBox 5"/>
            <p:cNvSpPr txBox="1"/>
            <p:nvPr/>
          </p:nvSpPr>
          <p:spPr>
            <a:xfrm>
              <a:off x="0" y="-142875"/>
              <a:ext cx="15255125" cy="8079943"/>
            </a:xfrm>
            <a:prstGeom prst="rect">
              <a:avLst/>
            </a:prstGeom>
          </p:spPr>
          <p:txBody>
            <a:bodyPr lIns="0" tIns="0" rIns="0" bIns="0" rtlCol="0" anchor="t"/>
            <a:lstStyle/>
            <a:p>
              <a:pPr algn="ctr">
                <a:lnSpc>
                  <a:spcPts val="5173"/>
                </a:lnSpc>
              </a:pPr>
              <a:r>
                <a:rPr lang="en-US" sz="3698">
                  <a:solidFill>
                    <a:srgbClr val="726151"/>
                  </a:solidFill>
                  <a:latin typeface="Arial"/>
                  <a:ea typeface="Arial"/>
                  <a:cs typeface="Arial"/>
                  <a:sym typeface="Arial"/>
                </a:rPr>
                <a:t>Consumer perception value is significantly influenced by the presence of discounts. (Dube,Hitsch,&amp;Chintagunta,2010) When promotions emphasize limited time offers create a sense of urgency which can drive consumers to make quicker purchasing decisions.(Cialdini,2009) Excessive discounts can lead consumers to question the quality of a product, as they associate lower prices with inferior offerings.(Chandon, Wansink,&amp; Laurent,2000)</a:t>
              </a:r>
            </a:p>
          </p:txBody>
        </p:sp>
      </p:grpSp>
      <p:grpSp>
        <p:nvGrpSpPr>
          <p:cNvPr id="6" name="Group 6"/>
          <p:cNvGrpSpPr/>
          <p:nvPr/>
        </p:nvGrpSpPr>
        <p:grpSpPr>
          <a:xfrm>
            <a:off x="6649745" y="233191"/>
            <a:ext cx="3842671" cy="1114425"/>
            <a:chOff x="0" y="0"/>
            <a:chExt cx="5123561" cy="1485900"/>
          </a:xfrm>
        </p:grpSpPr>
        <p:sp>
          <p:nvSpPr>
            <p:cNvPr id="7" name="Freeform 7"/>
            <p:cNvSpPr/>
            <p:nvPr/>
          </p:nvSpPr>
          <p:spPr>
            <a:xfrm>
              <a:off x="0" y="0"/>
              <a:ext cx="5123561" cy="1485900"/>
            </a:xfrm>
            <a:custGeom>
              <a:avLst/>
              <a:gdLst/>
              <a:ahLst/>
              <a:cxnLst/>
              <a:rect l="l" t="t" r="r" b="b"/>
              <a:pathLst>
                <a:path w="5123561" h="1485900">
                  <a:moveTo>
                    <a:pt x="0" y="0"/>
                  </a:moveTo>
                  <a:lnTo>
                    <a:pt x="5123561" y="0"/>
                  </a:lnTo>
                  <a:lnTo>
                    <a:pt x="5123561" y="1485900"/>
                  </a:lnTo>
                  <a:lnTo>
                    <a:pt x="0" y="1485900"/>
                  </a:lnTo>
                  <a:close/>
                </a:path>
              </a:pathLst>
            </a:custGeom>
            <a:solidFill>
              <a:srgbClr val="000000">
                <a:alpha val="0"/>
              </a:srgbClr>
            </a:solidFill>
          </p:spPr>
        </p:sp>
        <p:sp>
          <p:nvSpPr>
            <p:cNvPr id="8" name="TextBox 8"/>
            <p:cNvSpPr txBox="1"/>
            <p:nvPr/>
          </p:nvSpPr>
          <p:spPr>
            <a:xfrm>
              <a:off x="0" y="-238125"/>
              <a:ext cx="5123561" cy="1724025"/>
            </a:xfrm>
            <a:prstGeom prst="rect">
              <a:avLst/>
            </a:prstGeom>
          </p:spPr>
          <p:txBody>
            <a:bodyPr lIns="0" tIns="0" rIns="0" bIns="0" rtlCol="0" anchor="t"/>
            <a:lstStyle/>
            <a:p>
              <a:pPr algn="l">
                <a:lnSpc>
                  <a:spcPts val="8400"/>
                </a:lnSpc>
              </a:pPr>
              <a:r>
                <a:rPr lang="en-US" sz="6000" b="1">
                  <a:solidFill>
                    <a:srgbClr val="984807"/>
                  </a:solidFill>
                  <a:latin typeface="Arial Bold"/>
                  <a:ea typeface="Arial Bold"/>
                  <a:cs typeface="Arial Bold"/>
                  <a:sym typeface="Arial Bold"/>
                </a:rPr>
                <a:t>Continued</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a:off x="2560244" y="2043674"/>
            <a:ext cx="200025" cy="200152"/>
          </a:xfrm>
          <a:custGeom>
            <a:avLst/>
            <a:gdLst/>
            <a:ahLst/>
            <a:cxnLst/>
            <a:rect l="l" t="t" r="r" b="b"/>
            <a:pathLst>
              <a:path w="200025" h="200152">
                <a:moveTo>
                  <a:pt x="0" y="0"/>
                </a:moveTo>
                <a:lnTo>
                  <a:pt x="200025" y="0"/>
                </a:lnTo>
                <a:lnTo>
                  <a:pt x="200025" y="200152"/>
                </a:lnTo>
                <a:lnTo>
                  <a:pt x="0" y="2001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560244" y="4615424"/>
            <a:ext cx="200025" cy="200152"/>
          </a:xfrm>
          <a:custGeom>
            <a:avLst/>
            <a:gdLst/>
            <a:ahLst/>
            <a:cxnLst/>
            <a:rect l="l" t="t" r="r" b="b"/>
            <a:pathLst>
              <a:path w="200025" h="200152">
                <a:moveTo>
                  <a:pt x="0" y="0"/>
                </a:moveTo>
                <a:lnTo>
                  <a:pt x="200025" y="0"/>
                </a:lnTo>
                <a:lnTo>
                  <a:pt x="200025" y="200152"/>
                </a:lnTo>
                <a:lnTo>
                  <a:pt x="0" y="2001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63503" y="5079997"/>
            <a:ext cx="3743773" cy="5273545"/>
          </a:xfrm>
          <a:custGeom>
            <a:avLst/>
            <a:gdLst/>
            <a:ahLst/>
            <a:cxnLst/>
            <a:rect l="l" t="t" r="r" b="b"/>
            <a:pathLst>
              <a:path w="3743773" h="5273545">
                <a:moveTo>
                  <a:pt x="0" y="0"/>
                </a:moveTo>
                <a:lnTo>
                  <a:pt x="3743773" y="0"/>
                </a:lnTo>
                <a:lnTo>
                  <a:pt x="3743773" y="5273545"/>
                </a:lnTo>
                <a:lnTo>
                  <a:pt x="0" y="527354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2113219" y="-63503"/>
            <a:ext cx="6238284" cy="4251341"/>
          </a:xfrm>
          <a:custGeom>
            <a:avLst/>
            <a:gdLst/>
            <a:ahLst/>
            <a:cxnLst/>
            <a:rect l="l" t="t" r="r" b="b"/>
            <a:pathLst>
              <a:path w="6238284" h="4251341">
                <a:moveTo>
                  <a:pt x="0" y="0"/>
                </a:moveTo>
                <a:lnTo>
                  <a:pt x="6238284" y="0"/>
                </a:lnTo>
                <a:lnTo>
                  <a:pt x="6238284" y="4251341"/>
                </a:lnTo>
                <a:lnTo>
                  <a:pt x="0" y="4251341"/>
                </a:lnTo>
                <a:lnTo>
                  <a:pt x="0" y="0"/>
                </a:lnTo>
                <a:close/>
              </a:path>
            </a:pathLst>
          </a:custGeom>
          <a:blipFill>
            <a:blip r:embed="rId6">
              <a:extLst>
                <a:ext uri="{96DAC541-7B7A-43D3-8B79-37D633B846F1}">
                  <asvg:svgBlip xmlns:asvg="http://schemas.microsoft.com/office/drawing/2016/SVG/main" r:embed="rId7"/>
                </a:ext>
              </a:extLst>
            </a:blip>
            <a:stretch>
              <a:fillRect l="-6" r="-6"/>
            </a:stretch>
          </a:blipFill>
        </p:spPr>
      </p:sp>
      <p:grpSp>
        <p:nvGrpSpPr>
          <p:cNvPr id="6" name="Group 6"/>
          <p:cNvGrpSpPr/>
          <p:nvPr/>
        </p:nvGrpSpPr>
        <p:grpSpPr>
          <a:xfrm>
            <a:off x="5074015" y="86706"/>
            <a:ext cx="8023641" cy="933831"/>
            <a:chOff x="0" y="0"/>
            <a:chExt cx="10698188" cy="1245108"/>
          </a:xfrm>
        </p:grpSpPr>
        <p:sp>
          <p:nvSpPr>
            <p:cNvPr id="7" name="Freeform 7"/>
            <p:cNvSpPr/>
            <p:nvPr/>
          </p:nvSpPr>
          <p:spPr>
            <a:xfrm>
              <a:off x="0" y="0"/>
              <a:ext cx="10698188" cy="1245108"/>
            </a:xfrm>
            <a:custGeom>
              <a:avLst/>
              <a:gdLst/>
              <a:ahLst/>
              <a:cxnLst/>
              <a:rect l="l" t="t" r="r" b="b"/>
              <a:pathLst>
                <a:path w="10698188" h="1245108">
                  <a:moveTo>
                    <a:pt x="0" y="0"/>
                  </a:moveTo>
                  <a:lnTo>
                    <a:pt x="10698188" y="0"/>
                  </a:lnTo>
                  <a:lnTo>
                    <a:pt x="10698188" y="1245108"/>
                  </a:lnTo>
                  <a:lnTo>
                    <a:pt x="0" y="1245108"/>
                  </a:lnTo>
                  <a:close/>
                </a:path>
              </a:pathLst>
            </a:custGeom>
            <a:solidFill>
              <a:srgbClr val="000000">
                <a:alpha val="0"/>
              </a:srgbClr>
            </a:solidFill>
          </p:spPr>
        </p:sp>
        <p:sp>
          <p:nvSpPr>
            <p:cNvPr id="8" name="TextBox 8"/>
            <p:cNvSpPr txBox="1"/>
            <p:nvPr/>
          </p:nvSpPr>
          <p:spPr>
            <a:xfrm>
              <a:off x="0" y="-104775"/>
              <a:ext cx="10698188" cy="1349883"/>
            </a:xfrm>
            <a:prstGeom prst="rect">
              <a:avLst/>
            </a:prstGeom>
          </p:spPr>
          <p:txBody>
            <a:bodyPr lIns="0" tIns="0" rIns="0" bIns="0" rtlCol="0" anchor="t"/>
            <a:lstStyle/>
            <a:p>
              <a:pPr algn="l">
                <a:lnSpc>
                  <a:spcPts val="7623"/>
                </a:lnSpc>
              </a:pPr>
              <a:r>
                <a:rPr lang="en-US" sz="5445" b="1">
                  <a:solidFill>
                    <a:srgbClr val="A4450A"/>
                  </a:solidFill>
                  <a:latin typeface="League Spartan"/>
                  <a:ea typeface="League Spartan"/>
                  <a:cs typeface="League Spartan"/>
                  <a:sym typeface="League Spartan"/>
                </a:rPr>
                <a:t>Rationale of the study</a:t>
              </a:r>
            </a:p>
          </p:txBody>
        </p:sp>
      </p:grpSp>
      <p:grpSp>
        <p:nvGrpSpPr>
          <p:cNvPr id="9" name="Group 9"/>
          <p:cNvGrpSpPr/>
          <p:nvPr/>
        </p:nvGrpSpPr>
        <p:grpSpPr>
          <a:xfrm>
            <a:off x="3931549" y="1667704"/>
            <a:ext cx="10562339" cy="6814431"/>
            <a:chOff x="0" y="0"/>
            <a:chExt cx="14083119" cy="9085909"/>
          </a:xfrm>
        </p:grpSpPr>
        <p:sp>
          <p:nvSpPr>
            <p:cNvPr id="10" name="Freeform 10"/>
            <p:cNvSpPr/>
            <p:nvPr/>
          </p:nvSpPr>
          <p:spPr>
            <a:xfrm>
              <a:off x="0" y="0"/>
              <a:ext cx="14083119" cy="9085909"/>
            </a:xfrm>
            <a:custGeom>
              <a:avLst/>
              <a:gdLst/>
              <a:ahLst/>
              <a:cxnLst/>
              <a:rect l="l" t="t" r="r" b="b"/>
              <a:pathLst>
                <a:path w="14083119" h="9085909">
                  <a:moveTo>
                    <a:pt x="0" y="0"/>
                  </a:moveTo>
                  <a:lnTo>
                    <a:pt x="14083119" y="0"/>
                  </a:lnTo>
                  <a:lnTo>
                    <a:pt x="14083119" y="9085909"/>
                  </a:lnTo>
                  <a:lnTo>
                    <a:pt x="0" y="9085909"/>
                  </a:lnTo>
                  <a:close/>
                </a:path>
              </a:pathLst>
            </a:custGeom>
            <a:solidFill>
              <a:srgbClr val="000000">
                <a:alpha val="0"/>
              </a:srgbClr>
            </a:solidFill>
          </p:spPr>
        </p:sp>
        <p:sp>
          <p:nvSpPr>
            <p:cNvPr id="11" name="TextBox 11"/>
            <p:cNvSpPr txBox="1"/>
            <p:nvPr/>
          </p:nvSpPr>
          <p:spPr>
            <a:xfrm>
              <a:off x="0" y="-228600"/>
              <a:ext cx="14083119" cy="9314509"/>
            </a:xfrm>
            <a:prstGeom prst="rect">
              <a:avLst/>
            </a:prstGeom>
          </p:spPr>
          <p:txBody>
            <a:bodyPr lIns="0" tIns="0" rIns="0" bIns="0" rtlCol="0" anchor="t"/>
            <a:lstStyle/>
            <a:p>
              <a:pPr algn="ctr">
                <a:lnSpc>
                  <a:spcPts val="6751"/>
                </a:lnSpc>
              </a:pPr>
              <a:r>
                <a:rPr lang="en-US" sz="4389">
                  <a:solidFill>
                    <a:srgbClr val="726151"/>
                  </a:solidFill>
                  <a:latin typeface="Arial"/>
                  <a:ea typeface="Arial"/>
                  <a:cs typeface="Arial"/>
                  <a:sym typeface="Arial"/>
                </a:rPr>
                <a:t>Limited understanding of how promotional strategies impact consumers, particularly of different age and income. Previous studies focus on general consumer behaviour or isolated aspects of promotions. Lack of comprehensive research targeting demographic interactions</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6551" y="229429"/>
            <a:ext cx="1938433" cy="8011039"/>
          </a:xfrm>
          <a:custGeom>
            <a:avLst/>
            <a:gdLst/>
            <a:ahLst/>
            <a:cxnLst/>
            <a:rect l="l" t="t" r="r" b="b"/>
            <a:pathLst>
              <a:path w="1938433" h="8011039">
                <a:moveTo>
                  <a:pt x="0" y="0"/>
                </a:moveTo>
                <a:lnTo>
                  <a:pt x="1938433" y="0"/>
                </a:lnTo>
                <a:lnTo>
                  <a:pt x="1938433" y="8011039"/>
                </a:lnTo>
                <a:lnTo>
                  <a:pt x="0" y="8011039"/>
                </a:lnTo>
                <a:lnTo>
                  <a:pt x="0" y="0"/>
                </a:lnTo>
                <a:close/>
              </a:path>
            </a:pathLst>
          </a:custGeom>
          <a:blipFill>
            <a:blip r:embed="rId2">
              <a:extLst>
                <a:ext uri="{96DAC541-7B7A-43D3-8B79-37D633B846F1}">
                  <asvg:svgBlip xmlns:asvg="http://schemas.microsoft.com/office/drawing/2016/SVG/main" r:embed="rId3"/>
                </a:ext>
              </a:extLst>
            </a:blip>
            <a:stretch>
              <a:fillRect l="-64" r="-64"/>
            </a:stretch>
          </a:blipFill>
        </p:spPr>
      </p:sp>
      <p:sp>
        <p:nvSpPr>
          <p:cNvPr id="3" name="Freeform 3"/>
          <p:cNvSpPr/>
          <p:nvPr/>
        </p:nvSpPr>
        <p:spPr>
          <a:xfrm>
            <a:off x="2228409" y="3923706"/>
            <a:ext cx="6578603" cy="1762248"/>
          </a:xfrm>
          <a:custGeom>
            <a:avLst/>
            <a:gdLst/>
            <a:ahLst/>
            <a:cxnLst/>
            <a:rect l="l" t="t" r="r" b="b"/>
            <a:pathLst>
              <a:path w="6578603" h="1762248">
                <a:moveTo>
                  <a:pt x="0" y="0"/>
                </a:moveTo>
                <a:lnTo>
                  <a:pt x="6578603" y="0"/>
                </a:lnTo>
                <a:lnTo>
                  <a:pt x="6578603" y="1762248"/>
                </a:lnTo>
                <a:lnTo>
                  <a:pt x="0" y="17622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3129667" y="2431190"/>
            <a:ext cx="200025" cy="200152"/>
          </a:xfrm>
          <a:custGeom>
            <a:avLst/>
            <a:gdLst/>
            <a:ahLst/>
            <a:cxnLst/>
            <a:rect l="l" t="t" r="r" b="b"/>
            <a:pathLst>
              <a:path w="200025" h="200152">
                <a:moveTo>
                  <a:pt x="0" y="0"/>
                </a:moveTo>
                <a:lnTo>
                  <a:pt x="200025" y="0"/>
                </a:lnTo>
                <a:lnTo>
                  <a:pt x="200025" y="200152"/>
                </a:lnTo>
                <a:lnTo>
                  <a:pt x="0" y="20015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11355378" y="2788174"/>
            <a:ext cx="6932667" cy="1446787"/>
          </a:xfrm>
          <a:custGeom>
            <a:avLst/>
            <a:gdLst/>
            <a:ahLst/>
            <a:cxnLst/>
            <a:rect l="l" t="t" r="r" b="b"/>
            <a:pathLst>
              <a:path w="6932667" h="1446787">
                <a:moveTo>
                  <a:pt x="0" y="0"/>
                </a:moveTo>
                <a:lnTo>
                  <a:pt x="6932667" y="0"/>
                </a:lnTo>
                <a:lnTo>
                  <a:pt x="6932667" y="1446787"/>
                </a:lnTo>
                <a:lnTo>
                  <a:pt x="0" y="144678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6" name="Group 6"/>
          <p:cNvGrpSpPr/>
          <p:nvPr/>
        </p:nvGrpSpPr>
        <p:grpSpPr>
          <a:xfrm>
            <a:off x="7117594" y="279340"/>
            <a:ext cx="4133536" cy="1376848"/>
            <a:chOff x="0" y="0"/>
            <a:chExt cx="5511381" cy="1835797"/>
          </a:xfrm>
        </p:grpSpPr>
        <p:sp>
          <p:nvSpPr>
            <p:cNvPr id="7" name="Freeform 7"/>
            <p:cNvSpPr/>
            <p:nvPr/>
          </p:nvSpPr>
          <p:spPr>
            <a:xfrm>
              <a:off x="0" y="0"/>
              <a:ext cx="5511381" cy="1835797"/>
            </a:xfrm>
            <a:custGeom>
              <a:avLst/>
              <a:gdLst/>
              <a:ahLst/>
              <a:cxnLst/>
              <a:rect l="l" t="t" r="r" b="b"/>
              <a:pathLst>
                <a:path w="5511381" h="1835797">
                  <a:moveTo>
                    <a:pt x="0" y="0"/>
                  </a:moveTo>
                  <a:lnTo>
                    <a:pt x="5511381" y="0"/>
                  </a:lnTo>
                  <a:lnTo>
                    <a:pt x="5511381" y="1835797"/>
                  </a:lnTo>
                  <a:lnTo>
                    <a:pt x="0" y="1835797"/>
                  </a:lnTo>
                  <a:close/>
                </a:path>
              </a:pathLst>
            </a:custGeom>
            <a:solidFill>
              <a:srgbClr val="000000">
                <a:alpha val="0"/>
              </a:srgbClr>
            </a:solidFill>
          </p:spPr>
        </p:sp>
        <p:sp>
          <p:nvSpPr>
            <p:cNvPr id="8" name="TextBox 8"/>
            <p:cNvSpPr txBox="1"/>
            <p:nvPr/>
          </p:nvSpPr>
          <p:spPr>
            <a:xfrm>
              <a:off x="0" y="-295275"/>
              <a:ext cx="5511381" cy="2131072"/>
            </a:xfrm>
            <a:prstGeom prst="rect">
              <a:avLst/>
            </a:prstGeom>
          </p:spPr>
          <p:txBody>
            <a:bodyPr lIns="0" tIns="0" rIns="0" bIns="0" rtlCol="0" anchor="t"/>
            <a:lstStyle/>
            <a:p>
              <a:pPr algn="l">
                <a:lnSpc>
                  <a:spcPts val="10366"/>
                </a:lnSpc>
              </a:pPr>
              <a:r>
                <a:rPr lang="en-US" sz="7404" b="1">
                  <a:solidFill>
                    <a:srgbClr val="984807"/>
                  </a:solidFill>
                  <a:latin typeface="Calibri (MS) Bold"/>
                  <a:ea typeface="Calibri (MS) Bold"/>
                  <a:cs typeface="Calibri (MS) Bold"/>
                  <a:sym typeface="Calibri (MS) Bold"/>
                </a:rPr>
                <a:t>Continued</a:t>
              </a:r>
            </a:p>
          </p:txBody>
        </p:sp>
      </p:grpSp>
      <p:grpSp>
        <p:nvGrpSpPr>
          <p:cNvPr id="9" name="Group 9"/>
          <p:cNvGrpSpPr/>
          <p:nvPr/>
        </p:nvGrpSpPr>
        <p:grpSpPr>
          <a:xfrm>
            <a:off x="3598621" y="2103158"/>
            <a:ext cx="5547522" cy="1615232"/>
            <a:chOff x="0" y="0"/>
            <a:chExt cx="7396696" cy="2153642"/>
          </a:xfrm>
        </p:grpSpPr>
        <p:sp>
          <p:nvSpPr>
            <p:cNvPr id="10" name="Freeform 10"/>
            <p:cNvSpPr/>
            <p:nvPr/>
          </p:nvSpPr>
          <p:spPr>
            <a:xfrm>
              <a:off x="0" y="0"/>
              <a:ext cx="7396696" cy="2153642"/>
            </a:xfrm>
            <a:custGeom>
              <a:avLst/>
              <a:gdLst/>
              <a:ahLst/>
              <a:cxnLst/>
              <a:rect l="l" t="t" r="r" b="b"/>
              <a:pathLst>
                <a:path w="7396696" h="2153642">
                  <a:moveTo>
                    <a:pt x="0" y="0"/>
                  </a:moveTo>
                  <a:lnTo>
                    <a:pt x="7396696" y="0"/>
                  </a:lnTo>
                  <a:lnTo>
                    <a:pt x="7396696" y="2153642"/>
                  </a:lnTo>
                  <a:lnTo>
                    <a:pt x="0" y="2153642"/>
                  </a:lnTo>
                  <a:close/>
                </a:path>
              </a:pathLst>
            </a:custGeom>
            <a:solidFill>
              <a:srgbClr val="000000">
                <a:alpha val="0"/>
              </a:srgbClr>
            </a:solidFill>
          </p:spPr>
        </p:sp>
        <p:sp>
          <p:nvSpPr>
            <p:cNvPr id="11" name="TextBox 11"/>
            <p:cNvSpPr txBox="1"/>
            <p:nvPr/>
          </p:nvSpPr>
          <p:spPr>
            <a:xfrm>
              <a:off x="0" y="-171450"/>
              <a:ext cx="7396696" cy="2325092"/>
            </a:xfrm>
            <a:prstGeom prst="rect">
              <a:avLst/>
            </a:prstGeom>
          </p:spPr>
          <p:txBody>
            <a:bodyPr lIns="0" tIns="0" rIns="0" bIns="0" rtlCol="0" anchor="t"/>
            <a:lstStyle/>
            <a:p>
              <a:pPr algn="l">
                <a:lnSpc>
                  <a:spcPts val="6252"/>
                </a:lnSpc>
              </a:pPr>
              <a:r>
                <a:rPr lang="en-US" sz="4466" b="1">
                  <a:solidFill>
                    <a:srgbClr val="AF9D8F"/>
                  </a:solidFill>
                  <a:latin typeface="Arial Bold"/>
                  <a:ea typeface="Arial Bold"/>
                  <a:cs typeface="Arial Bold"/>
                  <a:sym typeface="Arial Bold"/>
                </a:rPr>
                <a:t>Expected contribution</a:t>
              </a:r>
            </a:p>
          </p:txBody>
        </p:sp>
      </p:grpSp>
      <p:grpSp>
        <p:nvGrpSpPr>
          <p:cNvPr id="12" name="Group 12"/>
          <p:cNvGrpSpPr/>
          <p:nvPr/>
        </p:nvGrpSpPr>
        <p:grpSpPr>
          <a:xfrm>
            <a:off x="3804790" y="3610623"/>
            <a:ext cx="12358659" cy="2398833"/>
            <a:chOff x="0" y="0"/>
            <a:chExt cx="16478212" cy="3198444"/>
          </a:xfrm>
        </p:grpSpPr>
        <p:sp>
          <p:nvSpPr>
            <p:cNvPr id="13" name="Freeform 13"/>
            <p:cNvSpPr/>
            <p:nvPr/>
          </p:nvSpPr>
          <p:spPr>
            <a:xfrm>
              <a:off x="0" y="0"/>
              <a:ext cx="16478213" cy="3198444"/>
            </a:xfrm>
            <a:custGeom>
              <a:avLst/>
              <a:gdLst/>
              <a:ahLst/>
              <a:cxnLst/>
              <a:rect l="l" t="t" r="r" b="b"/>
              <a:pathLst>
                <a:path w="16478213" h="3198444">
                  <a:moveTo>
                    <a:pt x="0" y="0"/>
                  </a:moveTo>
                  <a:lnTo>
                    <a:pt x="16478213" y="0"/>
                  </a:lnTo>
                  <a:lnTo>
                    <a:pt x="16478213" y="3198444"/>
                  </a:lnTo>
                  <a:lnTo>
                    <a:pt x="0" y="3198444"/>
                  </a:lnTo>
                  <a:close/>
                </a:path>
              </a:pathLst>
            </a:custGeom>
            <a:solidFill>
              <a:srgbClr val="000000">
                <a:alpha val="0"/>
              </a:srgbClr>
            </a:solidFill>
          </p:spPr>
        </p:sp>
        <p:sp>
          <p:nvSpPr>
            <p:cNvPr id="14" name="TextBox 14"/>
            <p:cNvSpPr txBox="1"/>
            <p:nvPr/>
          </p:nvSpPr>
          <p:spPr>
            <a:xfrm>
              <a:off x="0" y="-161925"/>
              <a:ext cx="16478212" cy="3360369"/>
            </a:xfrm>
            <a:prstGeom prst="rect">
              <a:avLst/>
            </a:prstGeom>
          </p:spPr>
          <p:txBody>
            <a:bodyPr lIns="0" tIns="0" rIns="0" bIns="0" rtlCol="0" anchor="t"/>
            <a:lstStyle/>
            <a:p>
              <a:pPr algn="ctr">
                <a:lnSpc>
                  <a:spcPts val="6148"/>
                </a:lnSpc>
              </a:pPr>
              <a:r>
                <a:rPr lang="en-US" sz="4421" b="1">
                  <a:solidFill>
                    <a:srgbClr val="726151"/>
                  </a:solidFill>
                  <a:latin typeface="Arial Bold"/>
                  <a:ea typeface="Arial Bold"/>
                  <a:cs typeface="Arial Bold"/>
                  <a:sym typeface="Arial Bold"/>
                </a:rPr>
                <a:t>Provide insights for marketers to design effective marketing strategies Contribute to enhance theoritical knowledge in</a:t>
              </a:r>
            </a:p>
          </p:txBody>
        </p:sp>
      </p:grpSp>
      <p:grpSp>
        <p:nvGrpSpPr>
          <p:cNvPr id="15" name="Group 15"/>
          <p:cNvGrpSpPr/>
          <p:nvPr/>
        </p:nvGrpSpPr>
        <p:grpSpPr>
          <a:xfrm>
            <a:off x="7180069" y="5953773"/>
            <a:ext cx="5336191" cy="1581869"/>
            <a:chOff x="0" y="0"/>
            <a:chExt cx="7114921" cy="2109158"/>
          </a:xfrm>
        </p:grpSpPr>
        <p:sp>
          <p:nvSpPr>
            <p:cNvPr id="16" name="Freeform 16"/>
            <p:cNvSpPr/>
            <p:nvPr/>
          </p:nvSpPr>
          <p:spPr>
            <a:xfrm>
              <a:off x="0" y="0"/>
              <a:ext cx="7114922" cy="2109158"/>
            </a:xfrm>
            <a:custGeom>
              <a:avLst/>
              <a:gdLst/>
              <a:ahLst/>
              <a:cxnLst/>
              <a:rect l="l" t="t" r="r" b="b"/>
              <a:pathLst>
                <a:path w="7114922" h="2109158">
                  <a:moveTo>
                    <a:pt x="0" y="0"/>
                  </a:moveTo>
                  <a:lnTo>
                    <a:pt x="7114922" y="0"/>
                  </a:lnTo>
                  <a:lnTo>
                    <a:pt x="7114922" y="2109158"/>
                  </a:lnTo>
                  <a:lnTo>
                    <a:pt x="0" y="2109158"/>
                  </a:lnTo>
                  <a:close/>
                </a:path>
              </a:pathLst>
            </a:custGeom>
            <a:solidFill>
              <a:srgbClr val="000000">
                <a:alpha val="0"/>
              </a:srgbClr>
            </a:solidFill>
          </p:spPr>
        </p:sp>
        <p:sp>
          <p:nvSpPr>
            <p:cNvPr id="17" name="TextBox 17"/>
            <p:cNvSpPr txBox="1"/>
            <p:nvPr/>
          </p:nvSpPr>
          <p:spPr>
            <a:xfrm>
              <a:off x="0" y="-161925"/>
              <a:ext cx="7114921" cy="2271083"/>
            </a:xfrm>
            <a:prstGeom prst="rect">
              <a:avLst/>
            </a:prstGeom>
          </p:spPr>
          <p:txBody>
            <a:bodyPr lIns="0" tIns="0" rIns="0" bIns="0" rtlCol="0" anchor="t"/>
            <a:lstStyle/>
            <a:p>
              <a:pPr algn="l">
                <a:lnSpc>
                  <a:spcPts val="6148"/>
                </a:lnSpc>
              </a:pPr>
              <a:r>
                <a:rPr lang="en-US" sz="4421" b="1">
                  <a:solidFill>
                    <a:srgbClr val="726151"/>
                  </a:solidFill>
                  <a:latin typeface="Arial Bold"/>
                  <a:ea typeface="Arial Bold"/>
                  <a:cs typeface="Arial Bold"/>
                  <a:sym typeface="Arial Bold"/>
                </a:rPr>
                <a:t>consumer behaviour. </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5400000">
            <a:off x="14433615" y="5839830"/>
            <a:ext cx="5114584" cy="5142635"/>
          </a:xfrm>
          <a:custGeom>
            <a:avLst/>
            <a:gdLst/>
            <a:ahLst/>
            <a:cxnLst/>
            <a:rect l="l" t="t" r="r" b="b"/>
            <a:pathLst>
              <a:path w="5114584" h="5142635">
                <a:moveTo>
                  <a:pt x="0" y="0"/>
                </a:moveTo>
                <a:lnTo>
                  <a:pt x="5114584" y="0"/>
                </a:lnTo>
                <a:lnTo>
                  <a:pt x="5114584" y="5142635"/>
                </a:lnTo>
                <a:lnTo>
                  <a:pt x="0" y="5142635"/>
                </a:lnTo>
                <a:lnTo>
                  <a:pt x="0" y="0"/>
                </a:lnTo>
                <a:close/>
              </a:path>
            </a:pathLst>
          </a:custGeom>
          <a:blipFill>
            <a:blip r:embed="rId2">
              <a:extLst>
                <a:ext uri="{96DAC541-7B7A-43D3-8B79-37D633B846F1}">
                  <asvg:svgBlip xmlns:asvg="http://schemas.microsoft.com/office/drawing/2016/SVG/main" r:embed="rId3"/>
                </a:ext>
              </a:extLst>
            </a:blip>
            <a:stretch>
              <a:fillRect l="-181" r="-181"/>
            </a:stretch>
          </a:blipFill>
        </p:spPr>
      </p:sp>
      <p:sp>
        <p:nvSpPr>
          <p:cNvPr id="3" name="Freeform 3"/>
          <p:cNvSpPr/>
          <p:nvPr/>
        </p:nvSpPr>
        <p:spPr>
          <a:xfrm rot="-5400000" flipV="1">
            <a:off x="16780859" y="6318214"/>
            <a:ext cx="2450438" cy="4185866"/>
          </a:xfrm>
          <a:custGeom>
            <a:avLst/>
            <a:gdLst/>
            <a:ahLst/>
            <a:cxnLst/>
            <a:rect l="l" t="t" r="r" b="b"/>
            <a:pathLst>
              <a:path w="2450438" h="4185866">
                <a:moveTo>
                  <a:pt x="0" y="4185866"/>
                </a:moveTo>
                <a:lnTo>
                  <a:pt x="2450438" y="4185866"/>
                </a:lnTo>
                <a:lnTo>
                  <a:pt x="2450438" y="0"/>
                </a:lnTo>
                <a:lnTo>
                  <a:pt x="0" y="0"/>
                </a:lnTo>
                <a:lnTo>
                  <a:pt x="0" y="4185866"/>
                </a:lnTo>
                <a:close/>
              </a:path>
            </a:pathLst>
          </a:custGeom>
          <a:blipFill>
            <a:blip r:embed="rId4">
              <a:extLst>
                <a:ext uri="{96DAC541-7B7A-43D3-8B79-37D633B846F1}">
                  <asvg:svgBlip xmlns:asvg="http://schemas.microsoft.com/office/drawing/2016/SVG/main" r:embed="rId5"/>
                </a:ext>
              </a:extLst>
            </a:blip>
            <a:stretch>
              <a:fillRect l="-81" r="-81"/>
            </a:stretch>
          </a:blipFill>
        </p:spPr>
      </p:sp>
      <p:sp>
        <p:nvSpPr>
          <p:cNvPr id="4" name="Freeform 4"/>
          <p:cNvSpPr/>
          <p:nvPr/>
        </p:nvSpPr>
        <p:spPr>
          <a:xfrm rot="-5400000">
            <a:off x="15413013" y="4691241"/>
            <a:ext cx="2909455" cy="1433567"/>
          </a:xfrm>
          <a:custGeom>
            <a:avLst/>
            <a:gdLst/>
            <a:ahLst/>
            <a:cxnLst/>
            <a:rect l="l" t="t" r="r" b="b"/>
            <a:pathLst>
              <a:path w="2909455" h="1433567">
                <a:moveTo>
                  <a:pt x="0" y="0"/>
                </a:moveTo>
                <a:lnTo>
                  <a:pt x="2909455" y="0"/>
                </a:lnTo>
                <a:lnTo>
                  <a:pt x="2909455" y="1433567"/>
                </a:lnTo>
                <a:lnTo>
                  <a:pt x="0" y="1433567"/>
                </a:lnTo>
                <a:lnTo>
                  <a:pt x="0" y="0"/>
                </a:lnTo>
                <a:close/>
              </a:path>
            </a:pathLst>
          </a:custGeom>
          <a:blipFill>
            <a:blip r:embed="rId6">
              <a:extLst>
                <a:ext uri="{96DAC541-7B7A-43D3-8B79-37D633B846F1}">
                  <asvg:svgBlip xmlns:asvg="http://schemas.microsoft.com/office/drawing/2016/SVG/main" r:embed="rId7"/>
                </a:ext>
              </a:extLst>
            </a:blip>
            <a:stretch>
              <a:fillRect l="-88" r="-88"/>
            </a:stretch>
          </a:blipFill>
        </p:spPr>
      </p:sp>
      <p:sp>
        <p:nvSpPr>
          <p:cNvPr id="5" name="Freeform 5"/>
          <p:cNvSpPr/>
          <p:nvPr/>
        </p:nvSpPr>
        <p:spPr>
          <a:xfrm flipH="1">
            <a:off x="-1808388" y="292931"/>
            <a:ext cx="3616776" cy="7883980"/>
          </a:xfrm>
          <a:custGeom>
            <a:avLst/>
            <a:gdLst/>
            <a:ahLst/>
            <a:cxnLst/>
            <a:rect l="l" t="t" r="r" b="b"/>
            <a:pathLst>
              <a:path w="3616776" h="7883980">
                <a:moveTo>
                  <a:pt x="3616776" y="0"/>
                </a:moveTo>
                <a:lnTo>
                  <a:pt x="0" y="0"/>
                </a:lnTo>
                <a:lnTo>
                  <a:pt x="0" y="7883980"/>
                </a:lnTo>
                <a:lnTo>
                  <a:pt x="3616776" y="7883980"/>
                </a:lnTo>
                <a:lnTo>
                  <a:pt x="3616776" y="0"/>
                </a:lnTo>
                <a:close/>
              </a:path>
            </a:pathLst>
          </a:custGeom>
          <a:blipFill>
            <a:blip r:embed="rId8">
              <a:alphaModFix amt="75000"/>
              <a:extLst>
                <a:ext uri="{96DAC541-7B7A-43D3-8B79-37D633B846F1}">
                  <asvg:svgBlip xmlns:asvg="http://schemas.microsoft.com/office/drawing/2016/SVG/main" r:embed="rId9"/>
                </a:ext>
              </a:extLst>
            </a:blip>
            <a:stretch>
              <a:fillRect t="-39" b="-39"/>
            </a:stretch>
          </a:blipFill>
        </p:spPr>
      </p:sp>
      <p:grpSp>
        <p:nvGrpSpPr>
          <p:cNvPr id="6" name="Group 6"/>
          <p:cNvGrpSpPr/>
          <p:nvPr/>
        </p:nvGrpSpPr>
        <p:grpSpPr>
          <a:xfrm>
            <a:off x="4112245" y="1400503"/>
            <a:ext cx="10063511" cy="2051396"/>
            <a:chOff x="0" y="0"/>
            <a:chExt cx="13418015" cy="2735195"/>
          </a:xfrm>
        </p:grpSpPr>
        <p:sp>
          <p:nvSpPr>
            <p:cNvPr id="7" name="Freeform 7"/>
            <p:cNvSpPr/>
            <p:nvPr/>
          </p:nvSpPr>
          <p:spPr>
            <a:xfrm>
              <a:off x="0" y="0"/>
              <a:ext cx="13418015" cy="2735195"/>
            </a:xfrm>
            <a:custGeom>
              <a:avLst/>
              <a:gdLst/>
              <a:ahLst/>
              <a:cxnLst/>
              <a:rect l="l" t="t" r="r" b="b"/>
              <a:pathLst>
                <a:path w="13418015" h="2735195">
                  <a:moveTo>
                    <a:pt x="0" y="0"/>
                  </a:moveTo>
                  <a:lnTo>
                    <a:pt x="13418015" y="0"/>
                  </a:lnTo>
                  <a:lnTo>
                    <a:pt x="13418015" y="2735195"/>
                  </a:lnTo>
                  <a:lnTo>
                    <a:pt x="0" y="2735195"/>
                  </a:lnTo>
                  <a:close/>
                </a:path>
              </a:pathLst>
            </a:custGeom>
            <a:solidFill>
              <a:srgbClr val="000000">
                <a:alpha val="0"/>
              </a:srgbClr>
            </a:solidFill>
          </p:spPr>
        </p:sp>
        <p:sp>
          <p:nvSpPr>
            <p:cNvPr id="8" name="TextBox 8"/>
            <p:cNvSpPr txBox="1"/>
            <p:nvPr/>
          </p:nvSpPr>
          <p:spPr>
            <a:xfrm>
              <a:off x="0" y="-866775"/>
              <a:ext cx="13418015" cy="3601970"/>
            </a:xfrm>
            <a:prstGeom prst="rect">
              <a:avLst/>
            </a:prstGeom>
          </p:spPr>
          <p:txBody>
            <a:bodyPr lIns="0" tIns="0" rIns="0" bIns="0" rtlCol="0" anchor="t"/>
            <a:lstStyle/>
            <a:p>
              <a:pPr algn="ctr">
                <a:lnSpc>
                  <a:spcPts val="15000"/>
                </a:lnSpc>
              </a:pPr>
              <a:r>
                <a:rPr lang="en-US" sz="6000">
                  <a:solidFill>
                    <a:srgbClr val="726151"/>
                  </a:solidFill>
                  <a:latin typeface="Arial"/>
                  <a:ea typeface="Arial"/>
                  <a:cs typeface="Arial"/>
                  <a:sym typeface="Arial"/>
                </a:rPr>
                <a:t> </a:t>
              </a:r>
              <a:r>
                <a:rPr lang="en-US" sz="6000" b="1">
                  <a:solidFill>
                    <a:srgbClr val="984807"/>
                  </a:solidFill>
                  <a:latin typeface="Arial Bold"/>
                  <a:ea typeface="Arial Bold"/>
                  <a:cs typeface="Arial Bold"/>
                  <a:sym typeface="Arial Bold"/>
                </a:rPr>
                <a:t>Approach </a:t>
              </a:r>
            </a:p>
          </p:txBody>
        </p:sp>
      </p:grpSp>
      <p:grpSp>
        <p:nvGrpSpPr>
          <p:cNvPr id="9" name="Group 9"/>
          <p:cNvGrpSpPr/>
          <p:nvPr/>
        </p:nvGrpSpPr>
        <p:grpSpPr>
          <a:xfrm>
            <a:off x="3161603" y="3366175"/>
            <a:ext cx="13193352" cy="4557394"/>
            <a:chOff x="0" y="0"/>
            <a:chExt cx="17591136" cy="6076526"/>
          </a:xfrm>
        </p:grpSpPr>
        <p:sp>
          <p:nvSpPr>
            <p:cNvPr id="10" name="Freeform 10"/>
            <p:cNvSpPr/>
            <p:nvPr/>
          </p:nvSpPr>
          <p:spPr>
            <a:xfrm>
              <a:off x="0" y="0"/>
              <a:ext cx="17591136" cy="6076526"/>
            </a:xfrm>
            <a:custGeom>
              <a:avLst/>
              <a:gdLst/>
              <a:ahLst/>
              <a:cxnLst/>
              <a:rect l="l" t="t" r="r" b="b"/>
              <a:pathLst>
                <a:path w="17591136" h="6076526">
                  <a:moveTo>
                    <a:pt x="0" y="0"/>
                  </a:moveTo>
                  <a:lnTo>
                    <a:pt x="17591136" y="0"/>
                  </a:lnTo>
                  <a:lnTo>
                    <a:pt x="17591136" y="6076526"/>
                  </a:lnTo>
                  <a:lnTo>
                    <a:pt x="0" y="6076526"/>
                  </a:lnTo>
                  <a:close/>
                </a:path>
              </a:pathLst>
            </a:custGeom>
            <a:solidFill>
              <a:srgbClr val="000000">
                <a:alpha val="0"/>
              </a:srgbClr>
            </a:solidFill>
          </p:spPr>
        </p:sp>
        <p:sp>
          <p:nvSpPr>
            <p:cNvPr id="11" name="TextBox 11"/>
            <p:cNvSpPr txBox="1"/>
            <p:nvPr/>
          </p:nvSpPr>
          <p:spPr>
            <a:xfrm>
              <a:off x="0" y="-123825"/>
              <a:ext cx="17591136" cy="6200351"/>
            </a:xfrm>
            <a:prstGeom prst="rect">
              <a:avLst/>
            </a:prstGeom>
          </p:spPr>
          <p:txBody>
            <a:bodyPr lIns="0" tIns="0" rIns="0" bIns="0" rtlCol="0" anchor="t"/>
            <a:lstStyle/>
            <a:p>
              <a:pPr marL="1041401" lvl="4" indent="-208280" algn="l">
                <a:lnSpc>
                  <a:spcPts val="4480"/>
                </a:lnSpc>
                <a:buFont typeface="Arial"/>
                <a:buChar char="•"/>
              </a:pPr>
              <a:r>
                <a:rPr lang="en-US" sz="3200" b="1">
                  <a:solidFill>
                    <a:srgbClr val="000000"/>
                  </a:solidFill>
                  <a:latin typeface="Arial Bold"/>
                  <a:ea typeface="Arial Bold"/>
                  <a:cs typeface="Arial Bold"/>
                  <a:sym typeface="Arial Bold"/>
                </a:rPr>
                <a:t>Quantitative</a:t>
              </a:r>
              <a:r>
                <a:rPr lang="en-US" sz="3200">
                  <a:solidFill>
                    <a:srgbClr val="000000"/>
                  </a:solidFill>
                  <a:latin typeface="Arial"/>
                  <a:ea typeface="Arial"/>
                  <a:cs typeface="Arial"/>
                  <a:sym typeface="Arial"/>
                </a:rPr>
                <a:t>, survey-based approach ensures measurable and actionable insights.</a:t>
              </a:r>
            </a:p>
            <a:p>
              <a:pPr marL="1041401" lvl="4" indent="-208280" algn="l">
                <a:lnSpc>
                  <a:spcPts val="4480"/>
                </a:lnSpc>
              </a:pPr>
              <a:endParaRPr lang="en-US" sz="3200">
                <a:solidFill>
                  <a:srgbClr val="000000"/>
                </a:solidFill>
                <a:latin typeface="Arial"/>
                <a:ea typeface="Arial"/>
                <a:cs typeface="Arial"/>
                <a:sym typeface="Arial"/>
              </a:endParaRPr>
            </a:p>
            <a:p>
              <a:pPr marL="1041401" lvl="4" indent="-208280" algn="l">
                <a:lnSpc>
                  <a:spcPts val="4480"/>
                </a:lnSpc>
                <a:buFont typeface="Arial"/>
                <a:buChar char="•"/>
              </a:pPr>
              <a:r>
                <a:rPr lang="en-US" sz="3200" b="1">
                  <a:solidFill>
                    <a:srgbClr val="000000"/>
                  </a:solidFill>
                  <a:latin typeface="Arial Bold"/>
                  <a:ea typeface="Arial Bold"/>
                  <a:cs typeface="Arial Bold"/>
                  <a:sym typeface="Arial Bold"/>
                </a:rPr>
                <a:t>Qualitative</a:t>
              </a:r>
              <a:r>
                <a:rPr lang="en-US" sz="3200">
                  <a:solidFill>
                    <a:srgbClr val="000000"/>
                  </a:solidFill>
                  <a:latin typeface="Arial"/>
                  <a:ea typeface="Arial"/>
                  <a:cs typeface="Arial"/>
                  <a:sym typeface="Arial"/>
                </a:rPr>
                <a:t>, Descriptive open ended questions to explore consumer responses to discounts and promotions.</a:t>
              </a:r>
            </a:p>
            <a:p>
              <a:pPr marL="1041401" lvl="4" indent="-208280" algn="l">
                <a:lnSpc>
                  <a:spcPts val="4480"/>
                </a:lnSpc>
              </a:pPr>
              <a:endParaRPr lang="en-US" sz="3200">
                <a:solidFill>
                  <a:srgbClr val="000000"/>
                </a:solidFill>
                <a:latin typeface="Arial"/>
                <a:ea typeface="Arial"/>
                <a:cs typeface="Arial"/>
                <a:sym typeface="Arial"/>
              </a:endParaRPr>
            </a:p>
            <a:p>
              <a:pPr marL="1041401" lvl="4" indent="-208280" algn="l">
                <a:lnSpc>
                  <a:spcPts val="4480"/>
                </a:lnSpc>
                <a:buFont typeface="Arial"/>
                <a:buChar char="•"/>
              </a:pPr>
              <a:r>
                <a:rPr lang="en-US" sz="3200">
                  <a:solidFill>
                    <a:srgbClr val="000000"/>
                  </a:solidFill>
                  <a:latin typeface="Arial"/>
                  <a:ea typeface="Arial"/>
                  <a:cs typeface="Arial"/>
                  <a:sym typeface="Arial"/>
                </a:rPr>
                <a:t>Expecting this to be a mixed method.</a:t>
              </a:r>
            </a:p>
            <a:p>
              <a:pPr marL="1041401" lvl="4" indent="-208280" algn="l">
                <a:lnSpc>
                  <a:spcPts val="4480"/>
                </a:lnSpc>
              </a:pPr>
              <a:endParaRPr lang="en-US" sz="3200">
                <a:solidFill>
                  <a:srgbClr val="000000"/>
                </a:solidFill>
                <a:latin typeface="Arial"/>
                <a:ea typeface="Arial"/>
                <a:cs typeface="Arial"/>
                <a:sym typeface="Aria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grpSp>
        <p:nvGrpSpPr>
          <p:cNvPr id="2" name="Group 2"/>
          <p:cNvGrpSpPr/>
          <p:nvPr/>
        </p:nvGrpSpPr>
        <p:grpSpPr>
          <a:xfrm>
            <a:off x="2872562" y="987549"/>
            <a:ext cx="15415438" cy="2275350"/>
            <a:chOff x="0" y="0"/>
            <a:chExt cx="20553917" cy="3033800"/>
          </a:xfrm>
        </p:grpSpPr>
        <p:sp>
          <p:nvSpPr>
            <p:cNvPr id="3" name="Freeform 3"/>
            <p:cNvSpPr/>
            <p:nvPr/>
          </p:nvSpPr>
          <p:spPr>
            <a:xfrm>
              <a:off x="0" y="0"/>
              <a:ext cx="20553918" cy="3033800"/>
            </a:xfrm>
            <a:custGeom>
              <a:avLst/>
              <a:gdLst/>
              <a:ahLst/>
              <a:cxnLst/>
              <a:rect l="l" t="t" r="r" b="b"/>
              <a:pathLst>
                <a:path w="20553918" h="3033800">
                  <a:moveTo>
                    <a:pt x="0" y="0"/>
                  </a:moveTo>
                  <a:lnTo>
                    <a:pt x="20553918" y="0"/>
                  </a:lnTo>
                  <a:lnTo>
                    <a:pt x="20553918" y="3033800"/>
                  </a:lnTo>
                  <a:lnTo>
                    <a:pt x="0" y="3033800"/>
                  </a:lnTo>
                  <a:close/>
                </a:path>
              </a:pathLst>
            </a:custGeom>
            <a:solidFill>
              <a:srgbClr val="000000">
                <a:alpha val="0"/>
              </a:srgbClr>
            </a:solidFill>
          </p:spPr>
        </p:sp>
        <p:sp>
          <p:nvSpPr>
            <p:cNvPr id="4" name="TextBox 4"/>
            <p:cNvSpPr txBox="1"/>
            <p:nvPr/>
          </p:nvSpPr>
          <p:spPr>
            <a:xfrm>
              <a:off x="0" y="-609600"/>
              <a:ext cx="20553917" cy="3643400"/>
            </a:xfrm>
            <a:prstGeom prst="rect">
              <a:avLst/>
            </a:prstGeom>
          </p:spPr>
          <p:txBody>
            <a:bodyPr lIns="0" tIns="0" rIns="0" bIns="0" rtlCol="0" anchor="t"/>
            <a:lstStyle/>
            <a:p>
              <a:pPr algn="ctr">
                <a:lnSpc>
                  <a:spcPts val="12388"/>
                </a:lnSpc>
              </a:pPr>
              <a:r>
                <a:rPr lang="en-US" sz="6000" b="1">
                  <a:solidFill>
                    <a:srgbClr val="984807"/>
                  </a:solidFill>
                  <a:latin typeface="Arial Bold"/>
                  <a:ea typeface="Arial Bold"/>
                  <a:cs typeface="Arial Bold"/>
                  <a:sym typeface="Arial Bold"/>
                </a:rPr>
                <a:t>Data Collection and  Survey Questions</a:t>
              </a:r>
            </a:p>
          </p:txBody>
        </p:sp>
      </p:grpSp>
      <p:grpSp>
        <p:nvGrpSpPr>
          <p:cNvPr id="5" name="Group 5"/>
          <p:cNvGrpSpPr/>
          <p:nvPr/>
        </p:nvGrpSpPr>
        <p:grpSpPr>
          <a:xfrm>
            <a:off x="3066589" y="2585142"/>
            <a:ext cx="14192711" cy="10530335"/>
            <a:chOff x="0" y="0"/>
            <a:chExt cx="18923615" cy="14040446"/>
          </a:xfrm>
        </p:grpSpPr>
        <p:sp>
          <p:nvSpPr>
            <p:cNvPr id="6" name="Freeform 6"/>
            <p:cNvSpPr/>
            <p:nvPr/>
          </p:nvSpPr>
          <p:spPr>
            <a:xfrm>
              <a:off x="0" y="0"/>
              <a:ext cx="18923614" cy="14040447"/>
            </a:xfrm>
            <a:custGeom>
              <a:avLst/>
              <a:gdLst/>
              <a:ahLst/>
              <a:cxnLst/>
              <a:rect l="l" t="t" r="r" b="b"/>
              <a:pathLst>
                <a:path w="18923614" h="14040447">
                  <a:moveTo>
                    <a:pt x="0" y="0"/>
                  </a:moveTo>
                  <a:lnTo>
                    <a:pt x="18923614" y="0"/>
                  </a:lnTo>
                  <a:lnTo>
                    <a:pt x="18923614" y="14040447"/>
                  </a:lnTo>
                  <a:lnTo>
                    <a:pt x="0" y="14040447"/>
                  </a:lnTo>
                  <a:close/>
                </a:path>
              </a:pathLst>
            </a:custGeom>
            <a:solidFill>
              <a:srgbClr val="000000">
                <a:alpha val="0"/>
              </a:srgbClr>
            </a:solidFill>
          </p:spPr>
        </p:sp>
        <p:sp>
          <p:nvSpPr>
            <p:cNvPr id="7" name="TextBox 7"/>
            <p:cNvSpPr txBox="1"/>
            <p:nvPr/>
          </p:nvSpPr>
          <p:spPr>
            <a:xfrm>
              <a:off x="0" y="-171450"/>
              <a:ext cx="18923615" cy="14211896"/>
            </a:xfrm>
            <a:prstGeom prst="rect">
              <a:avLst/>
            </a:prstGeom>
          </p:spPr>
          <p:txBody>
            <a:bodyPr lIns="0" tIns="0" rIns="0" bIns="0" rtlCol="0" anchor="t"/>
            <a:lstStyle/>
            <a:p>
              <a:pPr marL="1185092" lvl="4" indent="-237018" algn="l">
                <a:lnSpc>
                  <a:spcPts val="5389"/>
                </a:lnSpc>
                <a:buFont typeface="Arial"/>
                <a:buChar char="•"/>
              </a:pPr>
              <a:r>
                <a:rPr lang="en-US" sz="3600">
                  <a:solidFill>
                    <a:srgbClr val="000000"/>
                  </a:solidFill>
                  <a:latin typeface="Arial"/>
                  <a:ea typeface="Arial"/>
                  <a:cs typeface="Arial"/>
                  <a:sym typeface="Arial"/>
                </a:rPr>
                <a:t>Primary data will be gathered through a structured survey-questions questions </a:t>
              </a:r>
            </a:p>
            <a:p>
              <a:pPr marL="1185092" lvl="4" indent="-237018" algn="l">
                <a:lnSpc>
                  <a:spcPts val="5389"/>
                </a:lnSpc>
              </a:pPr>
              <a:endParaRPr lang="en-US" sz="3600">
                <a:solidFill>
                  <a:srgbClr val="000000"/>
                </a:solidFill>
                <a:latin typeface="Arial"/>
                <a:ea typeface="Arial"/>
                <a:cs typeface="Arial"/>
                <a:sym typeface="Arial"/>
              </a:endParaRPr>
            </a:p>
            <a:p>
              <a:pPr marL="1185092" lvl="4" indent="-237018" algn="l">
                <a:lnSpc>
                  <a:spcPts val="5389"/>
                </a:lnSpc>
                <a:buFont typeface="Arial"/>
                <a:buChar char="•"/>
              </a:pPr>
              <a:r>
                <a:rPr lang="en-US" sz="3600">
                  <a:solidFill>
                    <a:srgbClr val="000000"/>
                  </a:solidFill>
                  <a:latin typeface="Arial"/>
                  <a:ea typeface="Arial"/>
                  <a:cs typeface="Arial"/>
                  <a:sym typeface="Arial"/>
                </a:rPr>
                <a:t>Focus on understanding consumer attitudes, preferences, and behaviors related to promotions</a:t>
              </a:r>
            </a:p>
            <a:p>
              <a:pPr marL="1185092" lvl="4" indent="-237018" algn="l">
                <a:lnSpc>
                  <a:spcPts val="5389"/>
                </a:lnSpc>
              </a:pPr>
              <a:endParaRPr lang="en-US" sz="3600">
                <a:solidFill>
                  <a:srgbClr val="000000"/>
                </a:solidFill>
                <a:latin typeface="Arial"/>
                <a:ea typeface="Arial"/>
                <a:cs typeface="Arial"/>
                <a:sym typeface="Arial"/>
              </a:endParaRPr>
            </a:p>
            <a:p>
              <a:pPr marL="1185092" lvl="4" indent="-237018" algn="l">
                <a:lnSpc>
                  <a:spcPts val="5389"/>
                </a:lnSpc>
                <a:buFont typeface="Arial"/>
                <a:buChar char="•"/>
              </a:pPr>
              <a:r>
                <a:rPr lang="en-US" sz="3600">
                  <a:solidFill>
                    <a:srgbClr val="000000"/>
                  </a:solidFill>
                  <a:latin typeface="Arial"/>
                  <a:ea typeface="Arial"/>
                  <a:cs typeface="Arial"/>
                  <a:sym typeface="Arial"/>
                </a:rPr>
                <a:t>Sections cover demographics, awareness, perception, buying behavior, effectiveness of promotions, and emotional/psychological factors.</a:t>
              </a:r>
            </a:p>
            <a:p>
              <a:pPr marL="1185092" lvl="4" indent="-237018" algn="l">
                <a:lnSpc>
                  <a:spcPts val="5389"/>
                </a:lnSpc>
              </a:pPr>
              <a:endParaRPr lang="en-US" sz="3600">
                <a:solidFill>
                  <a:srgbClr val="000000"/>
                </a:solidFill>
                <a:latin typeface="Arial"/>
                <a:ea typeface="Arial"/>
                <a:cs typeface="Arial"/>
                <a:sym typeface="Arial"/>
              </a:endParaRPr>
            </a:p>
            <a:p>
              <a:pPr marL="1185092" lvl="4" indent="-237018" algn="l">
                <a:lnSpc>
                  <a:spcPts val="5389"/>
                </a:lnSpc>
              </a:pPr>
              <a:endParaRPr lang="en-US" sz="3600">
                <a:solidFill>
                  <a:srgbClr val="000000"/>
                </a:solidFill>
                <a:latin typeface="Arial"/>
                <a:ea typeface="Arial"/>
                <a:cs typeface="Arial"/>
                <a:sym typeface="Arial"/>
              </a:endParaRPr>
            </a:p>
            <a:p>
              <a:pPr marL="1185092" lvl="4" indent="-237018" algn="l">
                <a:lnSpc>
                  <a:spcPts val="5389"/>
                </a:lnSpc>
              </a:pPr>
              <a:endParaRPr lang="en-US" sz="3600">
                <a:solidFill>
                  <a:srgbClr val="000000"/>
                </a:solidFill>
                <a:latin typeface="Arial"/>
                <a:ea typeface="Arial"/>
                <a:cs typeface="Arial"/>
                <a:sym typeface="Arial"/>
              </a:endParaRPr>
            </a:p>
            <a:p>
              <a:pPr marL="1185092" lvl="4" indent="-237018" algn="l">
                <a:lnSpc>
                  <a:spcPts val="5389"/>
                </a:lnSpc>
              </a:pPr>
              <a:endParaRPr lang="en-US" sz="3600">
                <a:solidFill>
                  <a:srgbClr val="000000"/>
                </a:solidFill>
                <a:latin typeface="Arial"/>
                <a:ea typeface="Arial"/>
                <a:cs typeface="Arial"/>
                <a:sym typeface="Arial"/>
              </a:endParaRPr>
            </a:p>
            <a:p>
              <a:pPr marL="1185092" lvl="4" indent="-237018" algn="l">
                <a:lnSpc>
                  <a:spcPts val="5389"/>
                </a:lnSpc>
              </a:pPr>
              <a:endParaRPr lang="en-US" sz="3600">
                <a:solidFill>
                  <a:srgbClr val="000000"/>
                </a:solidFill>
                <a:latin typeface="Arial"/>
                <a:ea typeface="Arial"/>
                <a:cs typeface="Arial"/>
                <a:sym typeface="Arial"/>
              </a:endParaRPr>
            </a:p>
            <a:p>
              <a:pPr marL="1185092" lvl="4" indent="-237018" algn="l">
                <a:lnSpc>
                  <a:spcPts val="5389"/>
                </a:lnSpc>
              </a:pPr>
              <a:endParaRPr lang="en-US" sz="3600">
                <a:solidFill>
                  <a:srgbClr val="000000"/>
                </a:solidFill>
                <a:latin typeface="Arial"/>
                <a:ea typeface="Arial"/>
                <a:cs typeface="Arial"/>
                <a:sym typeface="Arial"/>
              </a:endParaRPr>
            </a:p>
          </p:txBody>
        </p:sp>
      </p:grpSp>
      <p:sp>
        <p:nvSpPr>
          <p:cNvPr id="8" name="Freeform 8"/>
          <p:cNvSpPr/>
          <p:nvPr/>
        </p:nvSpPr>
        <p:spPr>
          <a:xfrm>
            <a:off x="-1699183" y="-1162878"/>
            <a:ext cx="5114585" cy="5142635"/>
          </a:xfrm>
          <a:custGeom>
            <a:avLst/>
            <a:gdLst/>
            <a:ahLst/>
            <a:cxnLst/>
            <a:rect l="l" t="t" r="r" b="b"/>
            <a:pathLst>
              <a:path w="5114585" h="5142635">
                <a:moveTo>
                  <a:pt x="0" y="0"/>
                </a:moveTo>
                <a:lnTo>
                  <a:pt x="5114585" y="0"/>
                </a:lnTo>
                <a:lnTo>
                  <a:pt x="5114585" y="5142635"/>
                </a:lnTo>
                <a:lnTo>
                  <a:pt x="0" y="5142635"/>
                </a:lnTo>
                <a:lnTo>
                  <a:pt x="0" y="0"/>
                </a:lnTo>
                <a:close/>
              </a:path>
            </a:pathLst>
          </a:custGeom>
          <a:blipFill>
            <a:blip r:embed="rId2">
              <a:extLst>
                <a:ext uri="{96DAC541-7B7A-43D3-8B79-37D633B846F1}">
                  <asvg:svgBlip xmlns:asvg="http://schemas.microsoft.com/office/drawing/2016/SVG/main" r:embed="rId3"/>
                </a:ext>
              </a:extLst>
            </a:blip>
            <a:stretch>
              <a:fillRect l="-181" r="-181"/>
            </a:stretch>
          </a:blipFill>
        </p:spPr>
      </p:sp>
      <p:sp>
        <p:nvSpPr>
          <p:cNvPr id="9" name="Freeform 9"/>
          <p:cNvSpPr/>
          <p:nvPr/>
        </p:nvSpPr>
        <p:spPr>
          <a:xfrm flipV="1">
            <a:off x="-367110" y="330677"/>
            <a:ext cx="2450438" cy="4185866"/>
          </a:xfrm>
          <a:custGeom>
            <a:avLst/>
            <a:gdLst/>
            <a:ahLst/>
            <a:cxnLst/>
            <a:rect l="l" t="t" r="r" b="b"/>
            <a:pathLst>
              <a:path w="2450438" h="4185866">
                <a:moveTo>
                  <a:pt x="0" y="4185866"/>
                </a:moveTo>
                <a:lnTo>
                  <a:pt x="2450438" y="4185866"/>
                </a:lnTo>
                <a:lnTo>
                  <a:pt x="2450438" y="0"/>
                </a:lnTo>
                <a:lnTo>
                  <a:pt x="0" y="0"/>
                </a:lnTo>
                <a:lnTo>
                  <a:pt x="0" y="4185866"/>
                </a:lnTo>
                <a:close/>
              </a:path>
            </a:pathLst>
          </a:custGeom>
          <a:blipFill>
            <a:blip r:embed="rId4">
              <a:extLst>
                <a:ext uri="{96DAC541-7B7A-43D3-8B79-37D633B846F1}">
                  <asvg:svgBlip xmlns:asvg="http://schemas.microsoft.com/office/drawing/2016/SVG/main" r:embed="rId5"/>
                </a:ext>
              </a:extLst>
            </a:blip>
            <a:stretch>
              <a:fillRect l="-81" r="-81"/>
            </a:stretch>
          </a:blipFill>
        </p:spPr>
      </p:sp>
      <p:sp>
        <p:nvSpPr>
          <p:cNvPr id="10" name="Freeform 10"/>
          <p:cNvSpPr/>
          <p:nvPr/>
        </p:nvSpPr>
        <p:spPr>
          <a:xfrm flipH="1">
            <a:off x="2406504" y="691656"/>
            <a:ext cx="2909455" cy="1433568"/>
          </a:xfrm>
          <a:custGeom>
            <a:avLst/>
            <a:gdLst/>
            <a:ahLst/>
            <a:cxnLst/>
            <a:rect l="l" t="t" r="r" b="b"/>
            <a:pathLst>
              <a:path w="2909455" h="1433568">
                <a:moveTo>
                  <a:pt x="2909455" y="0"/>
                </a:moveTo>
                <a:lnTo>
                  <a:pt x="0" y="0"/>
                </a:lnTo>
                <a:lnTo>
                  <a:pt x="0" y="1433568"/>
                </a:lnTo>
                <a:lnTo>
                  <a:pt x="2909455" y="1433568"/>
                </a:lnTo>
                <a:lnTo>
                  <a:pt x="2909455" y="0"/>
                </a:lnTo>
                <a:close/>
              </a:path>
            </a:pathLst>
          </a:custGeom>
          <a:blipFill>
            <a:blip r:embed="rId6">
              <a:extLst>
                <a:ext uri="{96DAC541-7B7A-43D3-8B79-37D633B846F1}">
                  <asvg:svgBlip xmlns:asvg="http://schemas.microsoft.com/office/drawing/2016/SVG/main" r:embed="rId7"/>
                </a:ext>
              </a:extLst>
            </a:blip>
            <a:stretch>
              <a:fillRect l="-88" r="-88"/>
            </a:stretch>
          </a:blipFill>
        </p:spPr>
      </p:sp>
      <p:sp>
        <p:nvSpPr>
          <p:cNvPr id="11" name="Freeform 11"/>
          <p:cNvSpPr/>
          <p:nvPr/>
        </p:nvSpPr>
        <p:spPr>
          <a:xfrm>
            <a:off x="14978457" y="3979758"/>
            <a:ext cx="3616776" cy="7883980"/>
          </a:xfrm>
          <a:custGeom>
            <a:avLst/>
            <a:gdLst/>
            <a:ahLst/>
            <a:cxnLst/>
            <a:rect l="l" t="t" r="r" b="b"/>
            <a:pathLst>
              <a:path w="3616776" h="7883980">
                <a:moveTo>
                  <a:pt x="0" y="0"/>
                </a:moveTo>
                <a:lnTo>
                  <a:pt x="3616776" y="0"/>
                </a:lnTo>
                <a:lnTo>
                  <a:pt x="3616776" y="7883980"/>
                </a:lnTo>
                <a:lnTo>
                  <a:pt x="0" y="7883980"/>
                </a:lnTo>
                <a:lnTo>
                  <a:pt x="0" y="0"/>
                </a:lnTo>
                <a:close/>
              </a:path>
            </a:pathLst>
          </a:custGeom>
          <a:blipFill>
            <a:blip r:embed="rId8">
              <a:alphaModFix amt="75000"/>
              <a:extLst>
                <a:ext uri="{96DAC541-7B7A-43D3-8B79-37D633B846F1}">
                  <asvg:svgBlip xmlns:asvg="http://schemas.microsoft.com/office/drawing/2016/SVG/main" r:embed="rId9"/>
                </a:ext>
              </a:extLst>
            </a:blip>
            <a:stretch>
              <a:fillRect t="-39" b="-39"/>
            </a:stretch>
          </a:blipFill>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grpSp>
        <p:nvGrpSpPr>
          <p:cNvPr id="2" name="Group 2"/>
          <p:cNvGrpSpPr/>
          <p:nvPr/>
        </p:nvGrpSpPr>
        <p:grpSpPr>
          <a:xfrm>
            <a:off x="5563374" y="1028700"/>
            <a:ext cx="5936359" cy="3353609"/>
            <a:chOff x="0" y="0"/>
            <a:chExt cx="7915145" cy="4471479"/>
          </a:xfrm>
        </p:grpSpPr>
        <p:sp>
          <p:nvSpPr>
            <p:cNvPr id="3" name="Freeform 3"/>
            <p:cNvSpPr/>
            <p:nvPr/>
          </p:nvSpPr>
          <p:spPr>
            <a:xfrm>
              <a:off x="0" y="0"/>
              <a:ext cx="7915146" cy="4471479"/>
            </a:xfrm>
            <a:custGeom>
              <a:avLst/>
              <a:gdLst/>
              <a:ahLst/>
              <a:cxnLst/>
              <a:rect l="l" t="t" r="r" b="b"/>
              <a:pathLst>
                <a:path w="7915146" h="4471479">
                  <a:moveTo>
                    <a:pt x="0" y="0"/>
                  </a:moveTo>
                  <a:lnTo>
                    <a:pt x="7915146" y="0"/>
                  </a:lnTo>
                  <a:lnTo>
                    <a:pt x="7915146" y="4471479"/>
                  </a:lnTo>
                  <a:lnTo>
                    <a:pt x="0" y="4471479"/>
                  </a:lnTo>
                  <a:close/>
                </a:path>
              </a:pathLst>
            </a:custGeom>
            <a:solidFill>
              <a:srgbClr val="000000">
                <a:alpha val="0"/>
              </a:srgbClr>
            </a:solidFill>
          </p:spPr>
        </p:sp>
        <p:sp>
          <p:nvSpPr>
            <p:cNvPr id="4" name="TextBox 4"/>
            <p:cNvSpPr txBox="1"/>
            <p:nvPr/>
          </p:nvSpPr>
          <p:spPr>
            <a:xfrm>
              <a:off x="0" y="-866775"/>
              <a:ext cx="7915145" cy="5338254"/>
            </a:xfrm>
            <a:prstGeom prst="rect">
              <a:avLst/>
            </a:prstGeom>
          </p:spPr>
          <p:txBody>
            <a:bodyPr lIns="0" tIns="0" rIns="0" bIns="0" rtlCol="0" anchor="t"/>
            <a:lstStyle/>
            <a:p>
              <a:pPr algn="ctr">
                <a:lnSpc>
                  <a:spcPts val="15000"/>
                </a:lnSpc>
              </a:pPr>
              <a:r>
                <a:rPr lang="en-US" sz="6000" b="1">
                  <a:solidFill>
                    <a:srgbClr val="984807"/>
                  </a:solidFill>
                  <a:latin typeface="Arial Bold"/>
                  <a:ea typeface="Arial Bold"/>
                  <a:cs typeface="Arial Bold"/>
                  <a:sym typeface="Arial Bold"/>
                </a:rPr>
                <a:t>Sampling</a:t>
              </a:r>
            </a:p>
          </p:txBody>
        </p:sp>
      </p:grpSp>
      <p:sp>
        <p:nvSpPr>
          <p:cNvPr id="5" name="Freeform 5"/>
          <p:cNvSpPr/>
          <p:nvPr/>
        </p:nvSpPr>
        <p:spPr>
          <a:xfrm rot="-1279815">
            <a:off x="16479612" y="1697"/>
            <a:ext cx="3616776" cy="7883980"/>
          </a:xfrm>
          <a:custGeom>
            <a:avLst/>
            <a:gdLst/>
            <a:ahLst/>
            <a:cxnLst/>
            <a:rect l="l" t="t" r="r" b="b"/>
            <a:pathLst>
              <a:path w="3616776" h="7883980">
                <a:moveTo>
                  <a:pt x="0" y="0"/>
                </a:moveTo>
                <a:lnTo>
                  <a:pt x="3616776" y="0"/>
                </a:lnTo>
                <a:lnTo>
                  <a:pt x="3616776" y="7883980"/>
                </a:lnTo>
                <a:lnTo>
                  <a:pt x="0" y="7883980"/>
                </a:lnTo>
                <a:lnTo>
                  <a:pt x="0" y="0"/>
                </a:lnTo>
                <a:close/>
              </a:path>
            </a:pathLst>
          </a:custGeom>
          <a:blipFill>
            <a:blip r:embed="rId2">
              <a:alphaModFix amt="75000"/>
              <a:extLst>
                <a:ext uri="{96DAC541-7B7A-43D3-8B79-37D633B846F1}">
                  <asvg:svgBlip xmlns:asvg="http://schemas.microsoft.com/office/drawing/2016/SVG/main" r:embed="rId3"/>
                </a:ext>
              </a:extLst>
            </a:blip>
            <a:stretch>
              <a:fillRect t="-39" b="-39"/>
            </a:stretch>
          </a:blipFill>
        </p:spPr>
      </p:sp>
      <p:sp>
        <p:nvSpPr>
          <p:cNvPr id="6" name="Freeform 6"/>
          <p:cNvSpPr/>
          <p:nvPr/>
        </p:nvSpPr>
        <p:spPr>
          <a:xfrm>
            <a:off x="-2014169" y="6326281"/>
            <a:ext cx="6493940" cy="6529555"/>
          </a:xfrm>
          <a:custGeom>
            <a:avLst/>
            <a:gdLst/>
            <a:ahLst/>
            <a:cxnLst/>
            <a:rect l="l" t="t" r="r" b="b"/>
            <a:pathLst>
              <a:path w="6493940" h="6529555">
                <a:moveTo>
                  <a:pt x="0" y="0"/>
                </a:moveTo>
                <a:lnTo>
                  <a:pt x="6493940" y="0"/>
                </a:lnTo>
                <a:lnTo>
                  <a:pt x="6493940" y="6529555"/>
                </a:lnTo>
                <a:lnTo>
                  <a:pt x="0" y="6529555"/>
                </a:lnTo>
                <a:lnTo>
                  <a:pt x="0" y="0"/>
                </a:lnTo>
                <a:close/>
              </a:path>
            </a:pathLst>
          </a:custGeom>
          <a:blipFill>
            <a:blip r:embed="rId4">
              <a:extLst>
                <a:ext uri="{96DAC541-7B7A-43D3-8B79-37D633B846F1}">
                  <asvg:svgBlip xmlns:asvg="http://schemas.microsoft.com/office/drawing/2016/SVG/main" r:embed="rId5"/>
                </a:ext>
              </a:extLst>
            </a:blip>
            <a:stretch>
              <a:fillRect l="-127" r="-127"/>
            </a:stretch>
          </a:blipFill>
        </p:spPr>
      </p:sp>
      <p:sp>
        <p:nvSpPr>
          <p:cNvPr id="7" name="Freeform 7"/>
          <p:cNvSpPr/>
          <p:nvPr/>
        </p:nvSpPr>
        <p:spPr>
          <a:xfrm rot="4368370">
            <a:off x="-636901" y="4079291"/>
            <a:ext cx="2689927" cy="1649410"/>
          </a:xfrm>
          <a:custGeom>
            <a:avLst/>
            <a:gdLst/>
            <a:ahLst/>
            <a:cxnLst/>
            <a:rect l="l" t="t" r="r" b="b"/>
            <a:pathLst>
              <a:path w="2689927" h="1649410">
                <a:moveTo>
                  <a:pt x="0" y="0"/>
                </a:moveTo>
                <a:lnTo>
                  <a:pt x="2689927" y="0"/>
                </a:lnTo>
                <a:lnTo>
                  <a:pt x="2689927" y="1649410"/>
                </a:lnTo>
                <a:lnTo>
                  <a:pt x="0" y="1649410"/>
                </a:lnTo>
                <a:lnTo>
                  <a:pt x="0" y="0"/>
                </a:lnTo>
                <a:close/>
              </a:path>
            </a:pathLst>
          </a:custGeom>
          <a:blipFill>
            <a:blip r:embed="rId6">
              <a:extLst>
                <a:ext uri="{96DAC541-7B7A-43D3-8B79-37D633B846F1}">
                  <asvg:svgBlip xmlns:asvg="http://schemas.microsoft.com/office/drawing/2016/SVG/main" r:embed="rId7"/>
                </a:ext>
              </a:extLst>
            </a:blip>
            <a:stretch>
              <a:fillRect l="-36867" r="-36867"/>
            </a:stretch>
          </a:blipFill>
        </p:spPr>
      </p:sp>
      <p:sp>
        <p:nvSpPr>
          <p:cNvPr id="8" name="Freeform 8"/>
          <p:cNvSpPr/>
          <p:nvPr/>
        </p:nvSpPr>
        <p:spPr>
          <a:xfrm rot="8309931" flipV="1">
            <a:off x="7582" y="6646127"/>
            <a:ext cx="2450438" cy="4185866"/>
          </a:xfrm>
          <a:custGeom>
            <a:avLst/>
            <a:gdLst/>
            <a:ahLst/>
            <a:cxnLst/>
            <a:rect l="l" t="t" r="r" b="b"/>
            <a:pathLst>
              <a:path w="2450438" h="4185866">
                <a:moveTo>
                  <a:pt x="0" y="4185866"/>
                </a:moveTo>
                <a:lnTo>
                  <a:pt x="2450438" y="4185866"/>
                </a:lnTo>
                <a:lnTo>
                  <a:pt x="2450438" y="0"/>
                </a:lnTo>
                <a:lnTo>
                  <a:pt x="0" y="0"/>
                </a:lnTo>
                <a:lnTo>
                  <a:pt x="0" y="4185866"/>
                </a:lnTo>
                <a:close/>
              </a:path>
            </a:pathLst>
          </a:custGeom>
          <a:blipFill>
            <a:blip r:embed="rId8">
              <a:extLst>
                <a:ext uri="{96DAC541-7B7A-43D3-8B79-37D633B846F1}">
                  <asvg:svgBlip xmlns:asvg="http://schemas.microsoft.com/office/drawing/2016/SVG/main" r:embed="rId9"/>
                </a:ext>
              </a:extLst>
            </a:blip>
            <a:stretch>
              <a:fillRect l="-81" r="-81"/>
            </a:stretch>
          </a:blipFill>
        </p:spPr>
      </p:sp>
      <p:grpSp>
        <p:nvGrpSpPr>
          <p:cNvPr id="9" name="Group 9"/>
          <p:cNvGrpSpPr/>
          <p:nvPr/>
        </p:nvGrpSpPr>
        <p:grpSpPr>
          <a:xfrm>
            <a:off x="1028700" y="3027705"/>
            <a:ext cx="17259300" cy="6191867"/>
            <a:chOff x="0" y="0"/>
            <a:chExt cx="23012400" cy="8255823"/>
          </a:xfrm>
        </p:grpSpPr>
        <p:sp>
          <p:nvSpPr>
            <p:cNvPr id="10" name="Freeform 10"/>
            <p:cNvSpPr/>
            <p:nvPr/>
          </p:nvSpPr>
          <p:spPr>
            <a:xfrm>
              <a:off x="0" y="0"/>
              <a:ext cx="23012400" cy="8255823"/>
            </a:xfrm>
            <a:custGeom>
              <a:avLst/>
              <a:gdLst/>
              <a:ahLst/>
              <a:cxnLst/>
              <a:rect l="l" t="t" r="r" b="b"/>
              <a:pathLst>
                <a:path w="23012400" h="8255823">
                  <a:moveTo>
                    <a:pt x="0" y="0"/>
                  </a:moveTo>
                  <a:lnTo>
                    <a:pt x="23012400" y="0"/>
                  </a:lnTo>
                  <a:lnTo>
                    <a:pt x="23012400" y="8255823"/>
                  </a:lnTo>
                  <a:lnTo>
                    <a:pt x="0" y="8255823"/>
                  </a:lnTo>
                  <a:close/>
                </a:path>
              </a:pathLst>
            </a:custGeom>
            <a:solidFill>
              <a:srgbClr val="000000">
                <a:alpha val="0"/>
              </a:srgbClr>
            </a:solidFill>
          </p:spPr>
        </p:sp>
        <p:sp>
          <p:nvSpPr>
            <p:cNvPr id="11" name="TextBox 11"/>
            <p:cNvSpPr txBox="1"/>
            <p:nvPr/>
          </p:nvSpPr>
          <p:spPr>
            <a:xfrm>
              <a:off x="0" y="-66675"/>
              <a:ext cx="23012400" cy="8322498"/>
            </a:xfrm>
            <a:prstGeom prst="rect">
              <a:avLst/>
            </a:prstGeom>
          </p:spPr>
          <p:txBody>
            <a:bodyPr lIns="0" tIns="0" rIns="0" bIns="0" rtlCol="0" anchor="t"/>
            <a:lstStyle/>
            <a:p>
              <a:pPr marL="1133507" lvl="4" indent="-226701" algn="l">
                <a:lnSpc>
                  <a:spcPts val="4875"/>
                </a:lnSpc>
                <a:buFont typeface="Arial"/>
                <a:buChar char="•"/>
              </a:pPr>
              <a:r>
                <a:rPr lang="en-US" sz="3483">
                  <a:solidFill>
                    <a:srgbClr val="000000"/>
                  </a:solidFill>
                  <a:latin typeface="Marcellus"/>
                  <a:ea typeface="Marcellus"/>
                  <a:cs typeface="Marcellus"/>
                  <a:sym typeface="Marcellus"/>
                </a:rPr>
                <a:t>Population: Consumers engaged in shopping with discounts or promotions.</a:t>
              </a:r>
            </a:p>
            <a:p>
              <a:pPr marL="1133507" lvl="4" indent="-226701" algn="l">
                <a:lnSpc>
                  <a:spcPts val="4875"/>
                </a:lnSpc>
              </a:pPr>
              <a:endParaRPr lang="en-US" sz="3483">
                <a:solidFill>
                  <a:srgbClr val="000000"/>
                </a:solidFill>
                <a:latin typeface="Marcellus"/>
                <a:ea typeface="Marcellus"/>
                <a:cs typeface="Marcellus"/>
                <a:sym typeface="Marcellus"/>
              </a:endParaRPr>
            </a:p>
            <a:p>
              <a:pPr marL="1133507" lvl="4" indent="-226701" algn="l">
                <a:lnSpc>
                  <a:spcPts val="4875"/>
                </a:lnSpc>
                <a:buFont typeface="Arial"/>
                <a:buChar char="•"/>
              </a:pPr>
              <a:r>
                <a:rPr lang="en-US" sz="3483">
                  <a:solidFill>
                    <a:srgbClr val="000000"/>
                  </a:solidFill>
                  <a:latin typeface="Marcellus"/>
                  <a:ea typeface="Marcellus"/>
                  <a:cs typeface="Marcellus"/>
                  <a:sym typeface="Marcellus"/>
                </a:rPr>
                <a:t>Minimum of 100 respondents.</a:t>
              </a:r>
            </a:p>
            <a:p>
              <a:pPr marL="1133507" lvl="4" indent="-226701" algn="l">
                <a:lnSpc>
                  <a:spcPts val="4875"/>
                </a:lnSpc>
              </a:pPr>
              <a:endParaRPr lang="en-US" sz="3483">
                <a:solidFill>
                  <a:srgbClr val="000000"/>
                </a:solidFill>
                <a:latin typeface="Marcellus"/>
                <a:ea typeface="Marcellus"/>
                <a:cs typeface="Marcellus"/>
                <a:sym typeface="Marcellus"/>
              </a:endParaRPr>
            </a:p>
            <a:p>
              <a:pPr marL="1133507" lvl="4" indent="-226701" algn="l">
                <a:lnSpc>
                  <a:spcPts val="4875"/>
                </a:lnSpc>
                <a:buFont typeface="Arial"/>
                <a:buChar char="•"/>
              </a:pPr>
              <a:r>
                <a:rPr lang="en-US" sz="3483">
                  <a:solidFill>
                    <a:srgbClr val="000000"/>
                  </a:solidFill>
                  <a:latin typeface="Marcellus"/>
                  <a:ea typeface="Marcellus"/>
                  <a:cs typeface="Marcellus"/>
                  <a:sym typeface="Marcellus"/>
                </a:rPr>
                <a:t>Distributed via Google Forms, email, social media, and offline paper-based versions.</a:t>
              </a:r>
            </a:p>
            <a:p>
              <a:pPr marL="1133507" lvl="4" indent="-226701" algn="l">
                <a:lnSpc>
                  <a:spcPts val="4875"/>
                </a:lnSpc>
              </a:pPr>
              <a:endParaRPr lang="en-US" sz="3483">
                <a:solidFill>
                  <a:srgbClr val="000000"/>
                </a:solidFill>
                <a:latin typeface="Marcellus"/>
                <a:ea typeface="Marcellus"/>
                <a:cs typeface="Marcellus"/>
                <a:sym typeface="Marcellus"/>
              </a:endParaRPr>
            </a:p>
            <a:p>
              <a:pPr marL="1133507" lvl="4" indent="-226701" algn="l">
                <a:lnSpc>
                  <a:spcPts val="4875"/>
                </a:lnSpc>
              </a:pPr>
              <a:endParaRPr lang="en-US" sz="3483">
                <a:solidFill>
                  <a:srgbClr val="000000"/>
                </a:solidFill>
                <a:latin typeface="Marcellus"/>
                <a:ea typeface="Marcellus"/>
                <a:cs typeface="Marcellus"/>
                <a:sym typeface="Marcellus"/>
              </a:endParaRPr>
            </a:p>
            <a:p>
              <a:pPr marL="1133507" lvl="4" indent="-226701" algn="l">
                <a:lnSpc>
                  <a:spcPts val="4875"/>
                </a:lnSpc>
              </a:pPr>
              <a:endParaRPr lang="en-US" sz="3483">
                <a:solidFill>
                  <a:srgbClr val="000000"/>
                </a:solidFill>
                <a:latin typeface="Marcellus"/>
                <a:ea typeface="Marcellus"/>
                <a:cs typeface="Marcellus"/>
                <a:sym typeface="Marcellus"/>
              </a:endParaRPr>
            </a:p>
            <a:p>
              <a:pPr marL="1133507" lvl="4" indent="-226701" algn="l">
                <a:lnSpc>
                  <a:spcPts val="4875"/>
                </a:lnSpc>
              </a:pPr>
              <a:endParaRPr lang="en-US" sz="3483">
                <a:solidFill>
                  <a:srgbClr val="000000"/>
                </a:solidFill>
                <a:latin typeface="Marcellus"/>
                <a:ea typeface="Marcellus"/>
                <a:cs typeface="Marcellus"/>
                <a:sym typeface="Marcellus"/>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5400000">
            <a:off x="14433615" y="5839830"/>
            <a:ext cx="5114584" cy="5142635"/>
          </a:xfrm>
          <a:custGeom>
            <a:avLst/>
            <a:gdLst/>
            <a:ahLst/>
            <a:cxnLst/>
            <a:rect l="l" t="t" r="r" b="b"/>
            <a:pathLst>
              <a:path w="5114584" h="5142635">
                <a:moveTo>
                  <a:pt x="0" y="0"/>
                </a:moveTo>
                <a:lnTo>
                  <a:pt x="5114584" y="0"/>
                </a:lnTo>
                <a:lnTo>
                  <a:pt x="5114584" y="5142635"/>
                </a:lnTo>
                <a:lnTo>
                  <a:pt x="0" y="5142635"/>
                </a:lnTo>
                <a:lnTo>
                  <a:pt x="0" y="0"/>
                </a:lnTo>
                <a:close/>
              </a:path>
            </a:pathLst>
          </a:custGeom>
          <a:blipFill>
            <a:blip r:embed="rId2">
              <a:extLst>
                <a:ext uri="{96DAC541-7B7A-43D3-8B79-37D633B846F1}">
                  <asvg:svgBlip xmlns:asvg="http://schemas.microsoft.com/office/drawing/2016/SVG/main" r:embed="rId3"/>
                </a:ext>
              </a:extLst>
            </a:blip>
            <a:stretch>
              <a:fillRect l="-181" r="-181"/>
            </a:stretch>
          </a:blipFill>
        </p:spPr>
      </p:sp>
      <p:sp>
        <p:nvSpPr>
          <p:cNvPr id="3" name="Freeform 3"/>
          <p:cNvSpPr/>
          <p:nvPr/>
        </p:nvSpPr>
        <p:spPr>
          <a:xfrm rot="-5400000" flipV="1">
            <a:off x="16780859" y="6318214"/>
            <a:ext cx="2450438" cy="4185866"/>
          </a:xfrm>
          <a:custGeom>
            <a:avLst/>
            <a:gdLst/>
            <a:ahLst/>
            <a:cxnLst/>
            <a:rect l="l" t="t" r="r" b="b"/>
            <a:pathLst>
              <a:path w="2450438" h="4185866">
                <a:moveTo>
                  <a:pt x="0" y="4185866"/>
                </a:moveTo>
                <a:lnTo>
                  <a:pt x="2450438" y="4185866"/>
                </a:lnTo>
                <a:lnTo>
                  <a:pt x="2450438" y="0"/>
                </a:lnTo>
                <a:lnTo>
                  <a:pt x="0" y="0"/>
                </a:lnTo>
                <a:lnTo>
                  <a:pt x="0" y="4185866"/>
                </a:lnTo>
                <a:close/>
              </a:path>
            </a:pathLst>
          </a:custGeom>
          <a:blipFill>
            <a:blip r:embed="rId4">
              <a:extLst>
                <a:ext uri="{96DAC541-7B7A-43D3-8B79-37D633B846F1}">
                  <asvg:svgBlip xmlns:asvg="http://schemas.microsoft.com/office/drawing/2016/SVG/main" r:embed="rId5"/>
                </a:ext>
              </a:extLst>
            </a:blip>
            <a:stretch>
              <a:fillRect l="-81" r="-81"/>
            </a:stretch>
          </a:blipFill>
        </p:spPr>
      </p:sp>
      <p:sp>
        <p:nvSpPr>
          <p:cNvPr id="4" name="Freeform 4"/>
          <p:cNvSpPr/>
          <p:nvPr/>
        </p:nvSpPr>
        <p:spPr>
          <a:xfrm rot="-5400000">
            <a:off x="15413013" y="4691241"/>
            <a:ext cx="2909455" cy="1433567"/>
          </a:xfrm>
          <a:custGeom>
            <a:avLst/>
            <a:gdLst/>
            <a:ahLst/>
            <a:cxnLst/>
            <a:rect l="l" t="t" r="r" b="b"/>
            <a:pathLst>
              <a:path w="2909455" h="1433567">
                <a:moveTo>
                  <a:pt x="0" y="0"/>
                </a:moveTo>
                <a:lnTo>
                  <a:pt x="2909455" y="0"/>
                </a:lnTo>
                <a:lnTo>
                  <a:pt x="2909455" y="1433567"/>
                </a:lnTo>
                <a:lnTo>
                  <a:pt x="0" y="1433567"/>
                </a:lnTo>
                <a:lnTo>
                  <a:pt x="0" y="0"/>
                </a:lnTo>
                <a:close/>
              </a:path>
            </a:pathLst>
          </a:custGeom>
          <a:blipFill>
            <a:blip r:embed="rId6">
              <a:extLst>
                <a:ext uri="{96DAC541-7B7A-43D3-8B79-37D633B846F1}">
                  <asvg:svgBlip xmlns:asvg="http://schemas.microsoft.com/office/drawing/2016/SVG/main" r:embed="rId7"/>
                </a:ext>
              </a:extLst>
            </a:blip>
            <a:stretch>
              <a:fillRect l="-88" r="-88"/>
            </a:stretch>
          </a:blipFill>
        </p:spPr>
      </p:sp>
      <p:sp>
        <p:nvSpPr>
          <p:cNvPr id="5" name="Freeform 5"/>
          <p:cNvSpPr/>
          <p:nvPr/>
        </p:nvSpPr>
        <p:spPr>
          <a:xfrm flipH="1">
            <a:off x="-1808388" y="292931"/>
            <a:ext cx="3616776" cy="7883980"/>
          </a:xfrm>
          <a:custGeom>
            <a:avLst/>
            <a:gdLst/>
            <a:ahLst/>
            <a:cxnLst/>
            <a:rect l="l" t="t" r="r" b="b"/>
            <a:pathLst>
              <a:path w="3616776" h="7883980">
                <a:moveTo>
                  <a:pt x="3616776" y="0"/>
                </a:moveTo>
                <a:lnTo>
                  <a:pt x="0" y="0"/>
                </a:lnTo>
                <a:lnTo>
                  <a:pt x="0" y="7883980"/>
                </a:lnTo>
                <a:lnTo>
                  <a:pt x="3616776" y="7883980"/>
                </a:lnTo>
                <a:lnTo>
                  <a:pt x="3616776" y="0"/>
                </a:lnTo>
                <a:close/>
              </a:path>
            </a:pathLst>
          </a:custGeom>
          <a:blipFill>
            <a:blip r:embed="rId8">
              <a:alphaModFix amt="75000"/>
              <a:extLst>
                <a:ext uri="{96DAC541-7B7A-43D3-8B79-37D633B846F1}">
                  <asvg:svgBlip xmlns:asvg="http://schemas.microsoft.com/office/drawing/2016/SVG/main" r:embed="rId9"/>
                </a:ext>
              </a:extLst>
            </a:blip>
            <a:stretch>
              <a:fillRect t="-39" b="-39"/>
            </a:stretch>
          </a:blipFill>
        </p:spPr>
      </p:sp>
      <p:grpSp>
        <p:nvGrpSpPr>
          <p:cNvPr id="6" name="Group 6"/>
          <p:cNvGrpSpPr/>
          <p:nvPr/>
        </p:nvGrpSpPr>
        <p:grpSpPr>
          <a:xfrm>
            <a:off x="3947917" y="1028700"/>
            <a:ext cx="10063511" cy="3353609"/>
            <a:chOff x="0" y="0"/>
            <a:chExt cx="13418015" cy="4471479"/>
          </a:xfrm>
        </p:grpSpPr>
        <p:sp>
          <p:nvSpPr>
            <p:cNvPr id="7" name="Freeform 7"/>
            <p:cNvSpPr/>
            <p:nvPr/>
          </p:nvSpPr>
          <p:spPr>
            <a:xfrm>
              <a:off x="0" y="0"/>
              <a:ext cx="13418015" cy="4471479"/>
            </a:xfrm>
            <a:custGeom>
              <a:avLst/>
              <a:gdLst/>
              <a:ahLst/>
              <a:cxnLst/>
              <a:rect l="l" t="t" r="r" b="b"/>
              <a:pathLst>
                <a:path w="13418015" h="4471479">
                  <a:moveTo>
                    <a:pt x="0" y="0"/>
                  </a:moveTo>
                  <a:lnTo>
                    <a:pt x="13418015" y="0"/>
                  </a:lnTo>
                  <a:lnTo>
                    <a:pt x="13418015" y="4471479"/>
                  </a:lnTo>
                  <a:lnTo>
                    <a:pt x="0" y="4471479"/>
                  </a:lnTo>
                  <a:close/>
                </a:path>
              </a:pathLst>
            </a:custGeom>
            <a:solidFill>
              <a:srgbClr val="000000">
                <a:alpha val="0"/>
              </a:srgbClr>
            </a:solidFill>
          </p:spPr>
        </p:sp>
        <p:sp>
          <p:nvSpPr>
            <p:cNvPr id="8" name="TextBox 8"/>
            <p:cNvSpPr txBox="1"/>
            <p:nvPr/>
          </p:nvSpPr>
          <p:spPr>
            <a:xfrm>
              <a:off x="0" y="-866775"/>
              <a:ext cx="13418015" cy="5338254"/>
            </a:xfrm>
            <a:prstGeom prst="rect">
              <a:avLst/>
            </a:prstGeom>
          </p:spPr>
          <p:txBody>
            <a:bodyPr lIns="0" tIns="0" rIns="0" bIns="0" rtlCol="0" anchor="t"/>
            <a:lstStyle/>
            <a:p>
              <a:pPr algn="ctr">
                <a:lnSpc>
                  <a:spcPts val="15000"/>
                </a:lnSpc>
              </a:pPr>
              <a:r>
                <a:rPr lang="en-US" sz="6000" b="1">
                  <a:solidFill>
                    <a:srgbClr val="984807"/>
                  </a:solidFill>
                  <a:latin typeface="Arial Bold"/>
                  <a:ea typeface="Arial Bold"/>
                  <a:cs typeface="Arial Bold"/>
                  <a:sym typeface="Arial Bold"/>
                </a:rPr>
                <a:t>Data Analysis</a:t>
              </a:r>
            </a:p>
          </p:txBody>
        </p:sp>
      </p:grpSp>
      <p:grpSp>
        <p:nvGrpSpPr>
          <p:cNvPr id="9" name="Group 9"/>
          <p:cNvGrpSpPr/>
          <p:nvPr/>
        </p:nvGrpSpPr>
        <p:grpSpPr>
          <a:xfrm>
            <a:off x="2944269" y="3149177"/>
            <a:ext cx="13193352" cy="4016057"/>
            <a:chOff x="0" y="0"/>
            <a:chExt cx="17591136" cy="5354743"/>
          </a:xfrm>
        </p:grpSpPr>
        <p:sp>
          <p:nvSpPr>
            <p:cNvPr id="10" name="Freeform 10"/>
            <p:cNvSpPr/>
            <p:nvPr/>
          </p:nvSpPr>
          <p:spPr>
            <a:xfrm>
              <a:off x="0" y="0"/>
              <a:ext cx="17591136" cy="5354743"/>
            </a:xfrm>
            <a:custGeom>
              <a:avLst/>
              <a:gdLst/>
              <a:ahLst/>
              <a:cxnLst/>
              <a:rect l="l" t="t" r="r" b="b"/>
              <a:pathLst>
                <a:path w="17591136" h="5354743">
                  <a:moveTo>
                    <a:pt x="0" y="0"/>
                  </a:moveTo>
                  <a:lnTo>
                    <a:pt x="17591136" y="0"/>
                  </a:lnTo>
                  <a:lnTo>
                    <a:pt x="17591136" y="5354743"/>
                  </a:lnTo>
                  <a:lnTo>
                    <a:pt x="0" y="5354743"/>
                  </a:lnTo>
                  <a:close/>
                </a:path>
              </a:pathLst>
            </a:custGeom>
            <a:solidFill>
              <a:srgbClr val="000000">
                <a:alpha val="0"/>
              </a:srgbClr>
            </a:solidFill>
          </p:spPr>
        </p:sp>
        <p:sp>
          <p:nvSpPr>
            <p:cNvPr id="11" name="TextBox 11"/>
            <p:cNvSpPr txBox="1"/>
            <p:nvPr/>
          </p:nvSpPr>
          <p:spPr>
            <a:xfrm>
              <a:off x="0" y="-142875"/>
              <a:ext cx="17591136" cy="5497618"/>
            </a:xfrm>
            <a:prstGeom prst="rect">
              <a:avLst/>
            </a:prstGeom>
          </p:spPr>
          <p:txBody>
            <a:bodyPr lIns="0" tIns="0" rIns="0" bIns="0" rtlCol="0" anchor="t"/>
            <a:lstStyle/>
            <a:p>
              <a:pPr algn="l">
                <a:lnSpc>
                  <a:spcPts val="5179"/>
                </a:lnSpc>
              </a:pPr>
              <a:r>
                <a:rPr lang="en-US" sz="3699">
                  <a:solidFill>
                    <a:srgbClr val="000000"/>
                  </a:solidFill>
                  <a:latin typeface="Arial"/>
                  <a:ea typeface="Arial"/>
                  <a:cs typeface="Arial"/>
                  <a:sym typeface="Arial"/>
                </a:rPr>
                <a:t> Statistical software like Stata/Excel/E-views will be used for</a:t>
              </a:r>
            </a:p>
            <a:p>
              <a:pPr algn="l">
                <a:lnSpc>
                  <a:spcPts val="5179"/>
                </a:lnSpc>
              </a:pPr>
              <a:endParaRPr lang="en-US" sz="3699">
                <a:solidFill>
                  <a:srgbClr val="000000"/>
                </a:solidFill>
                <a:latin typeface="Arial"/>
                <a:ea typeface="Arial"/>
                <a:cs typeface="Arial"/>
                <a:sym typeface="Arial"/>
              </a:endParaRPr>
            </a:p>
            <a:p>
              <a:pPr marL="1203846" lvl="4" indent="-240769" algn="l">
                <a:lnSpc>
                  <a:spcPts val="5179"/>
                </a:lnSpc>
                <a:buFont typeface="Arial"/>
                <a:buChar char="•"/>
              </a:pPr>
              <a:r>
                <a:rPr lang="en-US" sz="3699">
                  <a:solidFill>
                    <a:srgbClr val="000000"/>
                  </a:solidFill>
                  <a:latin typeface="Arial"/>
                  <a:ea typeface="Arial"/>
                  <a:cs typeface="Arial"/>
                  <a:sym typeface="Arial"/>
                </a:rPr>
                <a:t>Frequencies, percentages, and descriptive statistics.</a:t>
              </a:r>
            </a:p>
            <a:p>
              <a:pPr marL="1203846" lvl="4" indent="-240769" algn="l">
                <a:lnSpc>
                  <a:spcPts val="5179"/>
                </a:lnSpc>
              </a:pPr>
              <a:endParaRPr lang="en-US" sz="3699">
                <a:solidFill>
                  <a:srgbClr val="000000"/>
                </a:solidFill>
                <a:latin typeface="Arial"/>
                <a:ea typeface="Arial"/>
                <a:cs typeface="Arial"/>
                <a:sym typeface="Arial"/>
              </a:endParaRPr>
            </a:p>
            <a:p>
              <a:pPr marL="1203846" lvl="4" indent="-240769" algn="l">
                <a:lnSpc>
                  <a:spcPts val="5179"/>
                </a:lnSpc>
                <a:buFont typeface="Arial"/>
                <a:buChar char="•"/>
              </a:pPr>
              <a:r>
                <a:rPr lang="en-US" sz="3699">
                  <a:solidFill>
                    <a:srgbClr val="000000"/>
                  </a:solidFill>
                  <a:latin typeface="Arial"/>
                  <a:ea typeface="Arial"/>
                  <a:cs typeface="Arial"/>
                  <a:sym typeface="Arial"/>
                </a:rPr>
                <a:t>Cross-tabulations and statistical tests (chi-square, t-tests) for significant findings.</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4546483">
            <a:off x="14012330" y="6578204"/>
            <a:ext cx="6493940" cy="6529555"/>
          </a:xfrm>
          <a:custGeom>
            <a:avLst/>
            <a:gdLst/>
            <a:ahLst/>
            <a:cxnLst/>
            <a:rect l="l" t="t" r="r" b="b"/>
            <a:pathLst>
              <a:path w="6493940" h="6529555">
                <a:moveTo>
                  <a:pt x="0" y="0"/>
                </a:moveTo>
                <a:lnTo>
                  <a:pt x="6493940" y="0"/>
                </a:lnTo>
                <a:lnTo>
                  <a:pt x="6493940" y="6529555"/>
                </a:lnTo>
                <a:lnTo>
                  <a:pt x="0" y="6529555"/>
                </a:lnTo>
                <a:lnTo>
                  <a:pt x="0" y="0"/>
                </a:lnTo>
                <a:close/>
              </a:path>
            </a:pathLst>
          </a:custGeom>
          <a:blipFill>
            <a:blip r:embed="rId2">
              <a:extLst>
                <a:ext uri="{96DAC541-7B7A-43D3-8B79-37D633B846F1}">
                  <asvg:svgBlip xmlns:asvg="http://schemas.microsoft.com/office/drawing/2016/SVG/main" r:embed="rId3"/>
                </a:ext>
              </a:extLst>
            </a:blip>
            <a:stretch>
              <a:fillRect l="-127" r="-127"/>
            </a:stretch>
          </a:blipFill>
        </p:spPr>
      </p:sp>
      <p:sp>
        <p:nvSpPr>
          <p:cNvPr id="3" name="Freeform 3"/>
          <p:cNvSpPr/>
          <p:nvPr/>
        </p:nvSpPr>
        <p:spPr>
          <a:xfrm rot="10537921">
            <a:off x="11421940" y="8734077"/>
            <a:ext cx="4700392" cy="1649410"/>
          </a:xfrm>
          <a:custGeom>
            <a:avLst/>
            <a:gdLst/>
            <a:ahLst/>
            <a:cxnLst/>
            <a:rect l="l" t="t" r="r" b="b"/>
            <a:pathLst>
              <a:path w="4700392" h="1649410">
                <a:moveTo>
                  <a:pt x="0" y="0"/>
                </a:moveTo>
                <a:lnTo>
                  <a:pt x="4700392" y="0"/>
                </a:lnTo>
                <a:lnTo>
                  <a:pt x="4700392" y="1649410"/>
                </a:lnTo>
                <a:lnTo>
                  <a:pt x="0" y="1649410"/>
                </a:lnTo>
                <a:lnTo>
                  <a:pt x="0" y="0"/>
                </a:lnTo>
                <a:close/>
              </a:path>
            </a:pathLst>
          </a:custGeom>
          <a:blipFill>
            <a:blip r:embed="rId4">
              <a:extLst>
                <a:ext uri="{96DAC541-7B7A-43D3-8B79-37D633B846F1}">
                  <asvg:svgBlip xmlns:asvg="http://schemas.microsoft.com/office/drawing/2016/SVG/main" r:embed="rId5"/>
                </a:ext>
              </a:extLst>
            </a:blip>
            <a:stretch>
              <a:fillRect t="-187" b="-187"/>
            </a:stretch>
          </a:blipFill>
        </p:spPr>
      </p:sp>
      <p:sp>
        <p:nvSpPr>
          <p:cNvPr id="4" name="Freeform 4"/>
          <p:cNvSpPr/>
          <p:nvPr/>
        </p:nvSpPr>
        <p:spPr>
          <a:xfrm rot="-6487104" flipV="1">
            <a:off x="17062781" y="7465849"/>
            <a:ext cx="2450438" cy="4185866"/>
          </a:xfrm>
          <a:custGeom>
            <a:avLst/>
            <a:gdLst/>
            <a:ahLst/>
            <a:cxnLst/>
            <a:rect l="l" t="t" r="r" b="b"/>
            <a:pathLst>
              <a:path w="2450438" h="4185866">
                <a:moveTo>
                  <a:pt x="0" y="4185866"/>
                </a:moveTo>
                <a:lnTo>
                  <a:pt x="2450438" y="4185866"/>
                </a:lnTo>
                <a:lnTo>
                  <a:pt x="2450438" y="0"/>
                </a:lnTo>
                <a:lnTo>
                  <a:pt x="0" y="0"/>
                </a:lnTo>
                <a:lnTo>
                  <a:pt x="0" y="4185866"/>
                </a:lnTo>
                <a:close/>
              </a:path>
            </a:pathLst>
          </a:custGeom>
          <a:blipFill>
            <a:blip r:embed="rId6">
              <a:extLst>
                <a:ext uri="{96DAC541-7B7A-43D3-8B79-37D633B846F1}">
                  <asvg:svgBlip xmlns:asvg="http://schemas.microsoft.com/office/drawing/2016/SVG/main" r:embed="rId7"/>
                </a:ext>
              </a:extLst>
            </a:blip>
            <a:stretch>
              <a:fillRect l="-81" r="-81"/>
            </a:stretch>
          </a:blipFill>
        </p:spPr>
      </p:sp>
      <p:sp>
        <p:nvSpPr>
          <p:cNvPr id="5" name="Freeform 5"/>
          <p:cNvSpPr/>
          <p:nvPr/>
        </p:nvSpPr>
        <p:spPr>
          <a:xfrm rot="5400000" flipH="1">
            <a:off x="-1324386" y="-1633025"/>
            <a:ext cx="3350281" cy="7303064"/>
          </a:xfrm>
          <a:custGeom>
            <a:avLst/>
            <a:gdLst/>
            <a:ahLst/>
            <a:cxnLst/>
            <a:rect l="l" t="t" r="r" b="b"/>
            <a:pathLst>
              <a:path w="3350281" h="7303064">
                <a:moveTo>
                  <a:pt x="3350281" y="0"/>
                </a:moveTo>
                <a:lnTo>
                  <a:pt x="0" y="0"/>
                </a:lnTo>
                <a:lnTo>
                  <a:pt x="0" y="7303064"/>
                </a:lnTo>
                <a:lnTo>
                  <a:pt x="3350281" y="7303064"/>
                </a:lnTo>
                <a:lnTo>
                  <a:pt x="3350281" y="0"/>
                </a:lnTo>
                <a:close/>
              </a:path>
            </a:pathLst>
          </a:custGeom>
          <a:blipFill>
            <a:blip r:embed="rId8">
              <a:alphaModFix amt="75000"/>
              <a:extLst>
                <a:ext uri="{96DAC541-7B7A-43D3-8B79-37D633B846F1}">
                  <asvg:svgBlip xmlns:asvg="http://schemas.microsoft.com/office/drawing/2016/SVG/main" r:embed="rId9"/>
                </a:ext>
              </a:extLst>
            </a:blip>
            <a:stretch>
              <a:fillRect t="-45" b="-45"/>
            </a:stretch>
          </a:blipFill>
        </p:spPr>
      </p:sp>
      <p:grpSp>
        <p:nvGrpSpPr>
          <p:cNvPr id="6" name="Group 6"/>
          <p:cNvGrpSpPr/>
          <p:nvPr/>
        </p:nvGrpSpPr>
        <p:grpSpPr>
          <a:xfrm>
            <a:off x="4002287" y="1028700"/>
            <a:ext cx="9094554" cy="2696032"/>
            <a:chOff x="0" y="0"/>
            <a:chExt cx="12126072" cy="3594709"/>
          </a:xfrm>
        </p:grpSpPr>
        <p:sp>
          <p:nvSpPr>
            <p:cNvPr id="7" name="Freeform 7"/>
            <p:cNvSpPr/>
            <p:nvPr/>
          </p:nvSpPr>
          <p:spPr>
            <a:xfrm>
              <a:off x="0" y="0"/>
              <a:ext cx="12126072" cy="3594709"/>
            </a:xfrm>
            <a:custGeom>
              <a:avLst/>
              <a:gdLst/>
              <a:ahLst/>
              <a:cxnLst/>
              <a:rect l="l" t="t" r="r" b="b"/>
              <a:pathLst>
                <a:path w="12126072" h="3594709">
                  <a:moveTo>
                    <a:pt x="0" y="0"/>
                  </a:moveTo>
                  <a:lnTo>
                    <a:pt x="12126072" y="0"/>
                  </a:lnTo>
                  <a:lnTo>
                    <a:pt x="12126072" y="3594709"/>
                  </a:lnTo>
                  <a:lnTo>
                    <a:pt x="0" y="3594709"/>
                  </a:lnTo>
                  <a:close/>
                </a:path>
              </a:pathLst>
            </a:custGeom>
            <a:solidFill>
              <a:srgbClr val="000000">
                <a:alpha val="0"/>
              </a:srgbClr>
            </a:solidFill>
          </p:spPr>
        </p:sp>
        <p:sp>
          <p:nvSpPr>
            <p:cNvPr id="8" name="TextBox 8"/>
            <p:cNvSpPr txBox="1"/>
            <p:nvPr/>
          </p:nvSpPr>
          <p:spPr>
            <a:xfrm>
              <a:off x="0" y="-781050"/>
              <a:ext cx="12126072" cy="4375759"/>
            </a:xfrm>
            <a:prstGeom prst="rect">
              <a:avLst/>
            </a:prstGeom>
          </p:spPr>
          <p:txBody>
            <a:bodyPr lIns="0" tIns="0" rIns="0" bIns="0" rtlCol="0" anchor="t"/>
            <a:lstStyle/>
            <a:p>
              <a:pPr algn="ctr">
                <a:lnSpc>
                  <a:spcPts val="14139"/>
                </a:lnSpc>
              </a:pPr>
              <a:r>
                <a:rPr lang="en-US" sz="6000" b="1">
                  <a:solidFill>
                    <a:srgbClr val="984807"/>
                  </a:solidFill>
                  <a:latin typeface="Arial Bold"/>
                  <a:ea typeface="Arial Bold"/>
                  <a:cs typeface="Arial Bold"/>
                  <a:sym typeface="Arial Bold"/>
                </a:rPr>
                <a:t>Ethical Consideration</a:t>
              </a:r>
            </a:p>
          </p:txBody>
        </p:sp>
      </p:grpSp>
      <p:sp>
        <p:nvSpPr>
          <p:cNvPr id="9" name="Freeform 9"/>
          <p:cNvSpPr/>
          <p:nvPr/>
        </p:nvSpPr>
        <p:spPr>
          <a:xfrm>
            <a:off x="350755" y="3693647"/>
            <a:ext cx="8401467" cy="4399313"/>
          </a:xfrm>
          <a:custGeom>
            <a:avLst/>
            <a:gdLst/>
            <a:ahLst/>
            <a:cxnLst/>
            <a:rect l="l" t="t" r="r" b="b"/>
            <a:pathLst>
              <a:path w="8401467" h="4399313">
                <a:moveTo>
                  <a:pt x="0" y="0"/>
                </a:moveTo>
                <a:lnTo>
                  <a:pt x="8401467" y="0"/>
                </a:lnTo>
                <a:lnTo>
                  <a:pt x="8401467" y="4399313"/>
                </a:lnTo>
                <a:lnTo>
                  <a:pt x="0" y="4399313"/>
                </a:lnTo>
                <a:lnTo>
                  <a:pt x="0" y="0"/>
                </a:lnTo>
                <a:close/>
              </a:path>
            </a:pathLst>
          </a:custGeom>
          <a:blipFill>
            <a:blip r:embed="rId10">
              <a:extLst>
                <a:ext uri="{96DAC541-7B7A-43D3-8B79-37D633B846F1}">
                  <asvg:svgBlip xmlns:asvg="http://schemas.microsoft.com/office/drawing/2016/SVG/main" r:embed="rId11"/>
                </a:ext>
              </a:extLst>
            </a:blip>
            <a:stretch>
              <a:fillRect l="-96" r="-96"/>
            </a:stretch>
          </a:blipFill>
        </p:spPr>
      </p:sp>
      <p:sp>
        <p:nvSpPr>
          <p:cNvPr id="10" name="Freeform 10"/>
          <p:cNvSpPr/>
          <p:nvPr/>
        </p:nvSpPr>
        <p:spPr>
          <a:xfrm>
            <a:off x="9296928" y="3693647"/>
            <a:ext cx="8401467" cy="4399313"/>
          </a:xfrm>
          <a:custGeom>
            <a:avLst/>
            <a:gdLst/>
            <a:ahLst/>
            <a:cxnLst/>
            <a:rect l="l" t="t" r="r" b="b"/>
            <a:pathLst>
              <a:path w="8401467" h="4399313">
                <a:moveTo>
                  <a:pt x="0" y="0"/>
                </a:moveTo>
                <a:lnTo>
                  <a:pt x="8401467" y="0"/>
                </a:lnTo>
                <a:lnTo>
                  <a:pt x="8401467" y="4399313"/>
                </a:lnTo>
                <a:lnTo>
                  <a:pt x="0" y="4399313"/>
                </a:lnTo>
                <a:lnTo>
                  <a:pt x="0" y="0"/>
                </a:lnTo>
                <a:close/>
              </a:path>
            </a:pathLst>
          </a:custGeom>
          <a:blipFill>
            <a:blip r:embed="rId10">
              <a:extLst>
                <a:ext uri="{96DAC541-7B7A-43D3-8B79-37D633B846F1}">
                  <asvg:svgBlip xmlns:asvg="http://schemas.microsoft.com/office/drawing/2016/SVG/main" r:embed="rId11"/>
                </a:ext>
              </a:extLst>
            </a:blip>
            <a:stretch>
              <a:fillRect l="-96" r="-96"/>
            </a:stretch>
          </a:blipFill>
        </p:spPr>
      </p:sp>
      <p:grpSp>
        <p:nvGrpSpPr>
          <p:cNvPr id="11" name="Group 11"/>
          <p:cNvGrpSpPr/>
          <p:nvPr/>
        </p:nvGrpSpPr>
        <p:grpSpPr>
          <a:xfrm>
            <a:off x="1028700" y="4309771"/>
            <a:ext cx="6717931" cy="2231047"/>
            <a:chOff x="0" y="0"/>
            <a:chExt cx="8957241" cy="2974729"/>
          </a:xfrm>
        </p:grpSpPr>
        <p:sp>
          <p:nvSpPr>
            <p:cNvPr id="12" name="Freeform 12"/>
            <p:cNvSpPr/>
            <p:nvPr/>
          </p:nvSpPr>
          <p:spPr>
            <a:xfrm>
              <a:off x="0" y="0"/>
              <a:ext cx="8957242" cy="2974729"/>
            </a:xfrm>
            <a:custGeom>
              <a:avLst/>
              <a:gdLst/>
              <a:ahLst/>
              <a:cxnLst/>
              <a:rect l="l" t="t" r="r" b="b"/>
              <a:pathLst>
                <a:path w="8957242" h="2974729">
                  <a:moveTo>
                    <a:pt x="0" y="0"/>
                  </a:moveTo>
                  <a:lnTo>
                    <a:pt x="8957242" y="0"/>
                  </a:lnTo>
                  <a:lnTo>
                    <a:pt x="8957242" y="2974729"/>
                  </a:lnTo>
                  <a:lnTo>
                    <a:pt x="0" y="2974729"/>
                  </a:lnTo>
                  <a:close/>
                </a:path>
              </a:pathLst>
            </a:custGeom>
            <a:solidFill>
              <a:srgbClr val="000000">
                <a:alpha val="0"/>
              </a:srgbClr>
            </a:solidFill>
          </p:spPr>
        </p:sp>
        <p:sp>
          <p:nvSpPr>
            <p:cNvPr id="13" name="TextBox 13"/>
            <p:cNvSpPr txBox="1"/>
            <p:nvPr/>
          </p:nvSpPr>
          <p:spPr>
            <a:xfrm>
              <a:off x="0" y="-161925"/>
              <a:ext cx="8957241" cy="3136654"/>
            </a:xfrm>
            <a:prstGeom prst="rect">
              <a:avLst/>
            </a:prstGeom>
          </p:spPr>
          <p:txBody>
            <a:bodyPr lIns="0" tIns="0" rIns="0" bIns="0" rtlCol="0" anchor="t"/>
            <a:lstStyle/>
            <a:p>
              <a:pPr algn="ctr">
                <a:lnSpc>
                  <a:spcPts val="5707"/>
                </a:lnSpc>
              </a:pPr>
              <a:r>
                <a:rPr lang="en-US" sz="4078">
                  <a:solidFill>
                    <a:srgbClr val="000000"/>
                  </a:solidFill>
                  <a:latin typeface="Arial"/>
                  <a:ea typeface="Arial"/>
                  <a:cs typeface="Arial"/>
                  <a:sym typeface="Arial"/>
                </a:rPr>
                <a:t>Voluntary participation with the option to withdraw anytime.</a:t>
              </a:r>
            </a:p>
          </p:txBody>
        </p:sp>
      </p:grpSp>
      <p:grpSp>
        <p:nvGrpSpPr>
          <p:cNvPr id="14" name="Group 14"/>
          <p:cNvGrpSpPr/>
          <p:nvPr/>
        </p:nvGrpSpPr>
        <p:grpSpPr>
          <a:xfrm>
            <a:off x="9605438" y="4417586"/>
            <a:ext cx="7653862" cy="1457948"/>
            <a:chOff x="0" y="0"/>
            <a:chExt cx="10205149" cy="1943931"/>
          </a:xfrm>
        </p:grpSpPr>
        <p:sp>
          <p:nvSpPr>
            <p:cNvPr id="15" name="Freeform 15"/>
            <p:cNvSpPr/>
            <p:nvPr/>
          </p:nvSpPr>
          <p:spPr>
            <a:xfrm>
              <a:off x="0" y="0"/>
              <a:ext cx="10205149" cy="1943931"/>
            </a:xfrm>
            <a:custGeom>
              <a:avLst/>
              <a:gdLst/>
              <a:ahLst/>
              <a:cxnLst/>
              <a:rect l="l" t="t" r="r" b="b"/>
              <a:pathLst>
                <a:path w="10205149" h="1943931">
                  <a:moveTo>
                    <a:pt x="0" y="0"/>
                  </a:moveTo>
                  <a:lnTo>
                    <a:pt x="10205149" y="0"/>
                  </a:lnTo>
                  <a:lnTo>
                    <a:pt x="10205149" y="1943931"/>
                  </a:lnTo>
                  <a:lnTo>
                    <a:pt x="0" y="1943931"/>
                  </a:lnTo>
                  <a:close/>
                </a:path>
              </a:pathLst>
            </a:custGeom>
            <a:solidFill>
              <a:srgbClr val="000000">
                <a:alpha val="0"/>
              </a:srgbClr>
            </a:solidFill>
          </p:spPr>
        </p:sp>
        <p:sp>
          <p:nvSpPr>
            <p:cNvPr id="16" name="TextBox 16"/>
            <p:cNvSpPr txBox="1"/>
            <p:nvPr/>
          </p:nvSpPr>
          <p:spPr>
            <a:xfrm>
              <a:off x="0" y="-152400"/>
              <a:ext cx="10205149" cy="2096331"/>
            </a:xfrm>
            <a:prstGeom prst="rect">
              <a:avLst/>
            </a:prstGeom>
          </p:spPr>
          <p:txBody>
            <a:bodyPr lIns="0" tIns="0" rIns="0" bIns="0" rtlCol="0" anchor="t"/>
            <a:lstStyle/>
            <a:p>
              <a:pPr algn="ctr">
                <a:lnSpc>
                  <a:spcPts val="5477"/>
                </a:lnSpc>
              </a:pPr>
              <a:r>
                <a:rPr lang="en-US" sz="3911">
                  <a:solidFill>
                    <a:srgbClr val="000000"/>
                  </a:solidFill>
                  <a:latin typeface="Arial"/>
                  <a:ea typeface="Arial"/>
                  <a:cs typeface="Arial"/>
                  <a:sym typeface="Arial"/>
                </a:rPr>
                <a:t>Anonymity, confidentiality, and consent will be prioratized</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130979" y="-154781"/>
            <a:ext cx="9194622" cy="2703528"/>
          </a:xfrm>
          <a:custGeom>
            <a:avLst/>
            <a:gdLst/>
            <a:ahLst/>
            <a:cxnLst/>
            <a:rect l="l" t="t" r="r" b="b"/>
            <a:pathLst>
              <a:path w="9194622" h="2703528">
                <a:moveTo>
                  <a:pt x="0" y="0"/>
                </a:moveTo>
                <a:lnTo>
                  <a:pt x="9194622" y="0"/>
                </a:lnTo>
                <a:lnTo>
                  <a:pt x="9194622" y="2703528"/>
                </a:lnTo>
                <a:lnTo>
                  <a:pt x="0" y="2703528"/>
                </a:lnTo>
                <a:lnTo>
                  <a:pt x="0" y="0"/>
                </a:lnTo>
                <a:close/>
              </a:path>
            </a:pathLst>
          </a:custGeom>
          <a:blipFill>
            <a:blip r:embed="rId2">
              <a:extLst>
                <a:ext uri="{96DAC541-7B7A-43D3-8B79-37D633B846F1}">
                  <asvg:svgBlip xmlns:asvg="http://schemas.microsoft.com/office/drawing/2016/SVG/main" r:embed="rId3"/>
                </a:ext>
              </a:extLst>
            </a:blip>
            <a:stretch>
              <a:fillRect l="-6" r="-6"/>
            </a:stretch>
          </a:blipFill>
        </p:spPr>
      </p:sp>
      <p:sp>
        <p:nvSpPr>
          <p:cNvPr id="3" name="Freeform 3"/>
          <p:cNvSpPr/>
          <p:nvPr/>
        </p:nvSpPr>
        <p:spPr>
          <a:xfrm rot="-1279815">
            <a:off x="16479612" y="1697"/>
            <a:ext cx="3616776" cy="7883980"/>
          </a:xfrm>
          <a:custGeom>
            <a:avLst/>
            <a:gdLst/>
            <a:ahLst/>
            <a:cxnLst/>
            <a:rect l="l" t="t" r="r" b="b"/>
            <a:pathLst>
              <a:path w="3616776" h="7883980">
                <a:moveTo>
                  <a:pt x="0" y="0"/>
                </a:moveTo>
                <a:lnTo>
                  <a:pt x="3616776" y="0"/>
                </a:lnTo>
                <a:lnTo>
                  <a:pt x="3616776" y="7883980"/>
                </a:lnTo>
                <a:lnTo>
                  <a:pt x="0" y="7883980"/>
                </a:lnTo>
                <a:lnTo>
                  <a:pt x="0" y="0"/>
                </a:lnTo>
                <a:close/>
              </a:path>
            </a:pathLst>
          </a:custGeom>
          <a:blipFill>
            <a:blip r:embed="rId4">
              <a:alphaModFix amt="75000"/>
              <a:extLst>
                <a:ext uri="{96DAC541-7B7A-43D3-8B79-37D633B846F1}">
                  <asvg:svgBlip xmlns:asvg="http://schemas.microsoft.com/office/drawing/2016/SVG/main" r:embed="rId5"/>
                </a:ext>
              </a:extLst>
            </a:blip>
            <a:stretch>
              <a:fillRect t="-39" b="-39"/>
            </a:stretch>
          </a:blipFill>
        </p:spPr>
      </p:sp>
      <p:sp>
        <p:nvSpPr>
          <p:cNvPr id="4" name="Freeform 4"/>
          <p:cNvSpPr/>
          <p:nvPr/>
        </p:nvSpPr>
        <p:spPr>
          <a:xfrm>
            <a:off x="-2014169" y="6326281"/>
            <a:ext cx="6493940" cy="6529555"/>
          </a:xfrm>
          <a:custGeom>
            <a:avLst/>
            <a:gdLst/>
            <a:ahLst/>
            <a:cxnLst/>
            <a:rect l="l" t="t" r="r" b="b"/>
            <a:pathLst>
              <a:path w="6493940" h="6529555">
                <a:moveTo>
                  <a:pt x="0" y="0"/>
                </a:moveTo>
                <a:lnTo>
                  <a:pt x="6493940" y="0"/>
                </a:lnTo>
                <a:lnTo>
                  <a:pt x="6493940" y="6529555"/>
                </a:lnTo>
                <a:lnTo>
                  <a:pt x="0" y="6529555"/>
                </a:lnTo>
                <a:lnTo>
                  <a:pt x="0" y="0"/>
                </a:lnTo>
                <a:close/>
              </a:path>
            </a:pathLst>
          </a:custGeom>
          <a:blipFill>
            <a:blip r:embed="rId6">
              <a:extLst>
                <a:ext uri="{96DAC541-7B7A-43D3-8B79-37D633B846F1}">
                  <asvg:svgBlip xmlns:asvg="http://schemas.microsoft.com/office/drawing/2016/SVG/main" r:embed="rId7"/>
                </a:ext>
              </a:extLst>
            </a:blip>
            <a:stretch>
              <a:fillRect l="-127" r="-127"/>
            </a:stretch>
          </a:blipFill>
        </p:spPr>
      </p:sp>
      <p:sp>
        <p:nvSpPr>
          <p:cNvPr id="5" name="Freeform 5"/>
          <p:cNvSpPr/>
          <p:nvPr/>
        </p:nvSpPr>
        <p:spPr>
          <a:xfrm rot="4368370">
            <a:off x="-636901" y="4079291"/>
            <a:ext cx="2689927" cy="1649410"/>
          </a:xfrm>
          <a:custGeom>
            <a:avLst/>
            <a:gdLst/>
            <a:ahLst/>
            <a:cxnLst/>
            <a:rect l="l" t="t" r="r" b="b"/>
            <a:pathLst>
              <a:path w="2689927" h="1649410">
                <a:moveTo>
                  <a:pt x="0" y="0"/>
                </a:moveTo>
                <a:lnTo>
                  <a:pt x="2689927" y="0"/>
                </a:lnTo>
                <a:lnTo>
                  <a:pt x="2689927" y="1649410"/>
                </a:lnTo>
                <a:lnTo>
                  <a:pt x="0" y="1649410"/>
                </a:lnTo>
                <a:lnTo>
                  <a:pt x="0" y="0"/>
                </a:lnTo>
                <a:close/>
              </a:path>
            </a:pathLst>
          </a:custGeom>
          <a:blipFill>
            <a:blip r:embed="rId8">
              <a:extLst>
                <a:ext uri="{96DAC541-7B7A-43D3-8B79-37D633B846F1}">
                  <asvg:svgBlip xmlns:asvg="http://schemas.microsoft.com/office/drawing/2016/SVG/main" r:embed="rId9"/>
                </a:ext>
              </a:extLst>
            </a:blip>
            <a:stretch>
              <a:fillRect l="-36867" r="-36867"/>
            </a:stretch>
          </a:blipFill>
        </p:spPr>
      </p:sp>
      <p:sp>
        <p:nvSpPr>
          <p:cNvPr id="6" name="Freeform 6"/>
          <p:cNvSpPr/>
          <p:nvPr/>
        </p:nvSpPr>
        <p:spPr>
          <a:xfrm rot="8309931" flipV="1">
            <a:off x="7582" y="6646127"/>
            <a:ext cx="2450438" cy="4185866"/>
          </a:xfrm>
          <a:custGeom>
            <a:avLst/>
            <a:gdLst/>
            <a:ahLst/>
            <a:cxnLst/>
            <a:rect l="l" t="t" r="r" b="b"/>
            <a:pathLst>
              <a:path w="2450438" h="4185866">
                <a:moveTo>
                  <a:pt x="0" y="4185866"/>
                </a:moveTo>
                <a:lnTo>
                  <a:pt x="2450438" y="4185866"/>
                </a:lnTo>
                <a:lnTo>
                  <a:pt x="2450438" y="0"/>
                </a:lnTo>
                <a:lnTo>
                  <a:pt x="0" y="0"/>
                </a:lnTo>
                <a:lnTo>
                  <a:pt x="0" y="4185866"/>
                </a:lnTo>
                <a:close/>
              </a:path>
            </a:pathLst>
          </a:custGeom>
          <a:blipFill>
            <a:blip r:embed="rId10">
              <a:extLst>
                <a:ext uri="{96DAC541-7B7A-43D3-8B79-37D633B846F1}">
                  <asvg:svgBlip xmlns:asvg="http://schemas.microsoft.com/office/drawing/2016/SVG/main" r:embed="rId11"/>
                </a:ext>
              </a:extLst>
            </a:blip>
            <a:stretch>
              <a:fillRect l="-81" r="-81"/>
            </a:stretch>
          </a:blipFill>
        </p:spPr>
      </p:sp>
      <p:grpSp>
        <p:nvGrpSpPr>
          <p:cNvPr id="7" name="Group 7"/>
          <p:cNvGrpSpPr/>
          <p:nvPr/>
        </p:nvGrpSpPr>
        <p:grpSpPr>
          <a:xfrm>
            <a:off x="26096" y="1608729"/>
            <a:ext cx="17259300" cy="7516026"/>
            <a:chOff x="0" y="0"/>
            <a:chExt cx="23012400" cy="10021368"/>
          </a:xfrm>
        </p:grpSpPr>
        <p:sp>
          <p:nvSpPr>
            <p:cNvPr id="8" name="Freeform 8"/>
            <p:cNvSpPr/>
            <p:nvPr/>
          </p:nvSpPr>
          <p:spPr>
            <a:xfrm>
              <a:off x="0" y="0"/>
              <a:ext cx="23012400" cy="10021368"/>
            </a:xfrm>
            <a:custGeom>
              <a:avLst/>
              <a:gdLst/>
              <a:ahLst/>
              <a:cxnLst/>
              <a:rect l="l" t="t" r="r" b="b"/>
              <a:pathLst>
                <a:path w="23012400" h="10021368">
                  <a:moveTo>
                    <a:pt x="0" y="0"/>
                  </a:moveTo>
                  <a:lnTo>
                    <a:pt x="23012400" y="0"/>
                  </a:lnTo>
                  <a:lnTo>
                    <a:pt x="23012400" y="10021368"/>
                  </a:lnTo>
                  <a:lnTo>
                    <a:pt x="0" y="10021368"/>
                  </a:lnTo>
                  <a:close/>
                </a:path>
              </a:pathLst>
            </a:custGeom>
            <a:solidFill>
              <a:srgbClr val="000000">
                <a:alpha val="0"/>
              </a:srgbClr>
            </a:solidFill>
          </p:spPr>
        </p:sp>
        <p:sp>
          <p:nvSpPr>
            <p:cNvPr id="9" name="TextBox 9"/>
            <p:cNvSpPr txBox="1"/>
            <p:nvPr/>
          </p:nvSpPr>
          <p:spPr>
            <a:xfrm>
              <a:off x="0" y="-114300"/>
              <a:ext cx="23012400" cy="10135668"/>
            </a:xfrm>
            <a:prstGeom prst="rect">
              <a:avLst/>
            </a:prstGeom>
          </p:spPr>
          <p:txBody>
            <a:bodyPr lIns="0" tIns="0" rIns="0" bIns="0" rtlCol="0" anchor="t"/>
            <a:lstStyle/>
            <a:p>
              <a:pPr algn="l">
                <a:lnSpc>
                  <a:spcPts val="4875"/>
                </a:lnSpc>
              </a:pPr>
              <a:endParaRPr/>
            </a:p>
            <a:p>
              <a:pPr marL="1158210" lvl="4" indent="-231642" algn="l">
                <a:lnSpc>
                  <a:spcPts val="4875"/>
                </a:lnSpc>
                <a:buFont typeface="Arial"/>
                <a:buChar char="•"/>
              </a:pPr>
              <a:r>
                <a:rPr lang="en-US" sz="3600" b="1">
                  <a:solidFill>
                    <a:srgbClr val="000000"/>
                  </a:solidFill>
                  <a:latin typeface="Calibri (MS) Bold"/>
                  <a:ea typeface="Calibri (MS) Bold"/>
                  <a:cs typeface="Calibri (MS) Bold"/>
                  <a:sym typeface="Calibri (MS) Bold"/>
                </a:rPr>
                <a:t>Discounts significantly influence consumer purchases</a:t>
              </a:r>
              <a:r>
                <a:rPr lang="en-US" sz="3600">
                  <a:solidFill>
                    <a:srgbClr val="000000"/>
                  </a:solidFill>
                  <a:latin typeface="Calibri (MS)"/>
                  <a:ea typeface="Calibri (MS)"/>
                  <a:cs typeface="Calibri (MS)"/>
                  <a:sym typeface="Calibri (MS)"/>
                </a:rPr>
                <a:t>, leading to impulse buying and increased spending.</a:t>
              </a:r>
            </a:p>
            <a:p>
              <a:pPr marL="1158210" lvl="4" indent="-231642" algn="l">
                <a:lnSpc>
                  <a:spcPts val="4875"/>
                </a:lnSpc>
                <a:buFont typeface="Arial"/>
                <a:buChar char="•"/>
              </a:pPr>
              <a:r>
                <a:rPr lang="en-US" sz="3600" b="1">
                  <a:solidFill>
                    <a:srgbClr val="000000"/>
                  </a:solidFill>
                  <a:latin typeface="Calibri (MS) Bold"/>
                  <a:ea typeface="Calibri (MS) Bold"/>
                  <a:cs typeface="Calibri (MS) Bold"/>
                  <a:sym typeface="Calibri (MS) Bold"/>
                </a:rPr>
                <a:t>Promotional effectiveness varies</a:t>
              </a:r>
              <a:r>
                <a:rPr lang="en-US" sz="3600">
                  <a:solidFill>
                    <a:srgbClr val="000000"/>
                  </a:solidFill>
                  <a:latin typeface="Calibri (MS)"/>
                  <a:ea typeface="Calibri (MS)"/>
                  <a:cs typeface="Calibri (MS)"/>
                  <a:sym typeface="Calibri (MS)"/>
                </a:rPr>
                <a:t>, with flash sales and percentage discounts being more attractive than loyalty programs.</a:t>
              </a:r>
            </a:p>
            <a:p>
              <a:pPr marL="1158210" lvl="4" indent="-231642" algn="l">
                <a:lnSpc>
                  <a:spcPts val="4875"/>
                </a:lnSpc>
                <a:buFont typeface="Arial"/>
                <a:buChar char="•"/>
              </a:pPr>
              <a:r>
                <a:rPr lang="en-US" sz="3600" b="1">
                  <a:solidFill>
                    <a:srgbClr val="000000"/>
                  </a:solidFill>
                  <a:latin typeface="Calibri (MS) Bold"/>
                  <a:ea typeface="Calibri (MS) Bold"/>
                  <a:cs typeface="Calibri (MS) Bold"/>
                  <a:sym typeface="Calibri (MS) Bold"/>
                </a:rPr>
                <a:t>Brand switching occurs due to better discounts</a:t>
              </a:r>
              <a:r>
                <a:rPr lang="en-US" sz="3600">
                  <a:solidFill>
                    <a:srgbClr val="000000"/>
                  </a:solidFill>
                  <a:latin typeface="Calibri (MS)"/>
                  <a:ea typeface="Calibri (MS)"/>
                  <a:cs typeface="Calibri (MS)"/>
                  <a:sym typeface="Calibri (MS)"/>
                </a:rPr>
                <a:t>, indicating weak brand loyalty when price incentives are involved.</a:t>
              </a:r>
            </a:p>
            <a:p>
              <a:pPr marL="1158210" lvl="4" indent="-231642" algn="l">
                <a:lnSpc>
                  <a:spcPts val="4875"/>
                </a:lnSpc>
                <a:buFont typeface="Arial"/>
                <a:buChar char="•"/>
              </a:pPr>
              <a:r>
                <a:rPr lang="en-US" sz="3600" b="1">
                  <a:solidFill>
                    <a:srgbClr val="000000"/>
                  </a:solidFill>
                  <a:latin typeface="Calibri (MS) Bold"/>
                  <a:ea typeface="Calibri (MS) Bold"/>
                  <a:cs typeface="Calibri (MS) Bold"/>
                  <a:sym typeface="Calibri (MS) Bold"/>
                </a:rPr>
                <a:t>Psychological &amp; emotional factors play a role</a:t>
              </a:r>
              <a:r>
                <a:rPr lang="en-US" sz="3600">
                  <a:solidFill>
                    <a:srgbClr val="000000"/>
                  </a:solidFill>
                  <a:latin typeface="Calibri (MS)"/>
                  <a:ea typeface="Calibri (MS)"/>
                  <a:cs typeface="Calibri (MS)"/>
                  <a:sym typeface="Calibri (MS)"/>
                </a:rPr>
                <a:t>, as discounts create excitement but may also lead to buyer’s regret.</a:t>
              </a:r>
            </a:p>
            <a:p>
              <a:pPr marL="1158210" lvl="4" indent="-231642" algn="l">
                <a:lnSpc>
                  <a:spcPts val="4875"/>
                </a:lnSpc>
                <a:buFont typeface="Arial"/>
                <a:buChar char="•"/>
              </a:pPr>
              <a:r>
                <a:rPr lang="en-US" sz="3600" b="1">
                  <a:solidFill>
                    <a:srgbClr val="000000"/>
                  </a:solidFill>
                  <a:latin typeface="Calibri (MS) Bold"/>
                  <a:ea typeface="Calibri (MS) Bold"/>
                  <a:cs typeface="Calibri (MS) Bold"/>
                  <a:sym typeface="Calibri (MS) Bold"/>
                </a:rPr>
                <a:t>Online shopping boosts discount-driven purchases</a:t>
              </a:r>
              <a:r>
                <a:rPr lang="en-US" sz="3600">
                  <a:solidFill>
                    <a:srgbClr val="000000"/>
                  </a:solidFill>
                  <a:latin typeface="Calibri (MS)"/>
                  <a:ea typeface="Calibri (MS)"/>
                  <a:cs typeface="Calibri (MS)"/>
                  <a:sym typeface="Calibri (MS)"/>
                </a:rPr>
                <a:t>, with free shipping and discount codes influencing buying decisions.</a:t>
              </a:r>
            </a:p>
            <a:p>
              <a:pPr marL="1158210" lvl="4" indent="-231642" algn="l">
                <a:lnSpc>
                  <a:spcPts val="4875"/>
                </a:lnSpc>
              </a:pPr>
              <a:endParaRPr lang="en-US" sz="3600">
                <a:solidFill>
                  <a:srgbClr val="000000"/>
                </a:solidFill>
                <a:latin typeface="Calibri (MS)"/>
                <a:ea typeface="Calibri (MS)"/>
                <a:cs typeface="Calibri (MS)"/>
                <a:sym typeface="Calibri (MS)"/>
              </a:endParaRPr>
            </a:p>
            <a:p>
              <a:pPr marL="1158210" lvl="4" indent="-231642" algn="l">
                <a:lnSpc>
                  <a:spcPts val="4875"/>
                </a:lnSpc>
              </a:pPr>
              <a:endParaRPr lang="en-US" sz="3600">
                <a:solidFill>
                  <a:srgbClr val="000000"/>
                </a:solidFill>
                <a:latin typeface="Calibri (MS)"/>
                <a:ea typeface="Calibri (MS)"/>
                <a:cs typeface="Calibri (MS)"/>
                <a:sym typeface="Calibri (MS)"/>
              </a:endParaRPr>
            </a:p>
            <a:p>
              <a:pPr marL="1158210" lvl="4" indent="-231642" algn="l">
                <a:lnSpc>
                  <a:spcPts val="4875"/>
                </a:lnSpc>
              </a:pPr>
              <a:endParaRPr lang="en-US" sz="3600">
                <a:solidFill>
                  <a:srgbClr val="000000"/>
                </a:solidFill>
                <a:latin typeface="Calibri (MS)"/>
                <a:ea typeface="Calibri (MS)"/>
                <a:cs typeface="Calibri (MS)"/>
                <a:sym typeface="Calibri (MS)"/>
              </a:endParaRPr>
            </a:p>
            <a:p>
              <a:pPr marL="1158210" lvl="4" indent="-231642" algn="l">
                <a:lnSpc>
                  <a:spcPts val="4875"/>
                </a:lnSpc>
              </a:pPr>
              <a:endParaRPr lang="en-US" sz="3600">
                <a:solidFill>
                  <a:srgbClr val="000000"/>
                </a:solidFill>
                <a:latin typeface="Calibri (MS)"/>
                <a:ea typeface="Calibri (MS)"/>
                <a:cs typeface="Calibri (MS)"/>
                <a:sym typeface="Calibri (MS)"/>
              </a:endParaRPr>
            </a:p>
            <a:p>
              <a:pPr marL="1158210" lvl="4" indent="-231642" algn="l">
                <a:lnSpc>
                  <a:spcPts val="4875"/>
                </a:lnSpc>
              </a:pPr>
              <a:endParaRPr lang="en-US" sz="3600">
                <a:solidFill>
                  <a:srgbClr val="000000"/>
                </a:solidFill>
                <a:latin typeface="Calibri (MS)"/>
                <a:ea typeface="Calibri (MS)"/>
                <a:cs typeface="Calibri (MS)"/>
                <a:sym typeface="Calibri (MS)"/>
              </a:endParaRPr>
            </a:p>
            <a:p>
              <a:pPr marL="1158210" lvl="4" indent="-231642" algn="l">
                <a:lnSpc>
                  <a:spcPts val="4875"/>
                </a:lnSpc>
              </a:pPr>
              <a:endParaRPr lang="en-US" sz="3600">
                <a:solidFill>
                  <a:srgbClr val="000000"/>
                </a:solidFill>
                <a:latin typeface="Calibri (MS)"/>
                <a:ea typeface="Calibri (MS)"/>
                <a:cs typeface="Calibri (MS)"/>
                <a:sym typeface="Calibri (MS)"/>
              </a:endParaRPr>
            </a:p>
            <a:p>
              <a:pPr marL="1158210" lvl="4" indent="-231642" algn="l">
                <a:lnSpc>
                  <a:spcPts val="4875"/>
                </a:lnSpc>
              </a:pPr>
              <a:endParaRPr lang="en-US" sz="3600">
                <a:solidFill>
                  <a:srgbClr val="000000"/>
                </a:solidFill>
                <a:latin typeface="Calibri (MS)"/>
                <a:ea typeface="Calibri (MS)"/>
                <a:cs typeface="Calibri (MS)"/>
                <a:sym typeface="Calibri (MS)"/>
              </a:endParaRPr>
            </a:p>
            <a:p>
              <a:pPr marL="1158210" lvl="4" indent="-231642" algn="l">
                <a:lnSpc>
                  <a:spcPts val="4875"/>
                </a:lnSpc>
              </a:pPr>
              <a:endParaRPr lang="en-US" sz="3600">
                <a:solidFill>
                  <a:srgbClr val="000000"/>
                </a:solidFill>
                <a:latin typeface="Calibri (MS)"/>
                <a:ea typeface="Calibri (MS)"/>
                <a:cs typeface="Calibri (MS)"/>
                <a:sym typeface="Calibri (MS)"/>
              </a:endParaRPr>
            </a:p>
            <a:p>
              <a:pPr marL="1158210" lvl="4" indent="-231642" algn="l">
                <a:lnSpc>
                  <a:spcPts val="4875"/>
                </a:lnSpc>
              </a:pPr>
              <a:endParaRPr lang="en-US" sz="3600">
                <a:solidFill>
                  <a:srgbClr val="000000"/>
                </a:solidFill>
                <a:latin typeface="Calibri (MS)"/>
                <a:ea typeface="Calibri (MS)"/>
                <a:cs typeface="Calibri (MS)"/>
                <a:sym typeface="Calibri (MS)"/>
              </a:endParaRPr>
            </a:p>
            <a:p>
              <a:pPr marL="1158210" lvl="4" indent="-231642" algn="l">
                <a:lnSpc>
                  <a:spcPts val="4875"/>
                </a:lnSpc>
              </a:pPr>
              <a:endParaRPr lang="en-US" sz="3600">
                <a:solidFill>
                  <a:srgbClr val="000000"/>
                </a:solidFill>
                <a:latin typeface="Calibri (MS)"/>
                <a:ea typeface="Calibri (MS)"/>
                <a:cs typeface="Calibri (MS)"/>
                <a:sym typeface="Calibri (MS)"/>
              </a:endParaRPr>
            </a:p>
            <a:p>
              <a:pPr marL="1158210" lvl="4" indent="-231642" algn="l">
                <a:lnSpc>
                  <a:spcPts val="4875"/>
                </a:lnSpc>
              </a:pPr>
              <a:endParaRPr lang="en-US" sz="3600">
                <a:solidFill>
                  <a:srgbClr val="000000"/>
                </a:solidFill>
                <a:latin typeface="Calibri (MS)"/>
                <a:ea typeface="Calibri (MS)"/>
                <a:cs typeface="Calibri (MS)"/>
                <a:sym typeface="Calibri (MS)"/>
              </a:endParaRPr>
            </a:p>
          </p:txBody>
        </p:sp>
      </p:grpSp>
      <p:grpSp>
        <p:nvGrpSpPr>
          <p:cNvPr id="10" name="Group 10"/>
          <p:cNvGrpSpPr/>
          <p:nvPr/>
        </p:nvGrpSpPr>
        <p:grpSpPr>
          <a:xfrm>
            <a:off x="3615078" y="606818"/>
            <a:ext cx="12226424" cy="1001911"/>
            <a:chOff x="0" y="0"/>
            <a:chExt cx="16301899" cy="1335882"/>
          </a:xfrm>
        </p:grpSpPr>
        <p:sp>
          <p:nvSpPr>
            <p:cNvPr id="11" name="Freeform 11"/>
            <p:cNvSpPr/>
            <p:nvPr/>
          </p:nvSpPr>
          <p:spPr>
            <a:xfrm>
              <a:off x="0" y="0"/>
              <a:ext cx="16301898" cy="1335882"/>
            </a:xfrm>
            <a:custGeom>
              <a:avLst/>
              <a:gdLst/>
              <a:ahLst/>
              <a:cxnLst/>
              <a:rect l="l" t="t" r="r" b="b"/>
              <a:pathLst>
                <a:path w="16301898" h="1335882">
                  <a:moveTo>
                    <a:pt x="0" y="0"/>
                  </a:moveTo>
                  <a:lnTo>
                    <a:pt x="16301898" y="0"/>
                  </a:lnTo>
                  <a:lnTo>
                    <a:pt x="16301898" y="1335882"/>
                  </a:lnTo>
                  <a:lnTo>
                    <a:pt x="0" y="1335882"/>
                  </a:lnTo>
                  <a:close/>
                </a:path>
              </a:pathLst>
            </a:custGeom>
            <a:solidFill>
              <a:srgbClr val="000000">
                <a:alpha val="0"/>
              </a:srgbClr>
            </a:solidFill>
          </p:spPr>
        </p:sp>
        <p:sp>
          <p:nvSpPr>
            <p:cNvPr id="12" name="TextBox 12"/>
            <p:cNvSpPr txBox="1"/>
            <p:nvPr/>
          </p:nvSpPr>
          <p:spPr>
            <a:xfrm>
              <a:off x="0" y="-104775"/>
              <a:ext cx="16301899" cy="1440657"/>
            </a:xfrm>
            <a:prstGeom prst="rect">
              <a:avLst/>
            </a:prstGeom>
          </p:spPr>
          <p:txBody>
            <a:bodyPr lIns="0" tIns="0" rIns="0" bIns="0" rtlCol="0" anchor="t"/>
            <a:lstStyle/>
            <a:p>
              <a:pPr algn="l">
                <a:lnSpc>
                  <a:spcPts val="6480"/>
                </a:lnSpc>
              </a:pPr>
              <a:r>
                <a:rPr lang="en-US" sz="5400" b="1">
                  <a:solidFill>
                    <a:srgbClr val="984807"/>
                  </a:solidFill>
                  <a:latin typeface="Arial Bold"/>
                  <a:ea typeface="Arial Bold"/>
                  <a:cs typeface="Arial Bold"/>
                  <a:sym typeface="Arial Bold"/>
                </a:rPr>
                <a:t>Expected Outcomes of the Research</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293A6E"/>
        </a:solidFill>
        <a:effectLst/>
      </p:bgPr>
    </p:bg>
    <p:spTree>
      <p:nvGrpSpPr>
        <p:cNvPr id="1" name=""/>
        <p:cNvGrpSpPr/>
        <p:nvPr/>
      </p:nvGrpSpPr>
      <p:grpSpPr>
        <a:xfrm>
          <a:off x="0" y="0"/>
          <a:ext cx="0" cy="0"/>
          <a:chOff x="0" y="0"/>
          <a:chExt cx="0" cy="0"/>
        </a:xfrm>
      </p:grpSpPr>
      <p:sp>
        <p:nvSpPr>
          <p:cNvPr id="2" name="Freeform 2"/>
          <p:cNvSpPr/>
          <p:nvPr/>
        </p:nvSpPr>
        <p:spPr>
          <a:xfrm>
            <a:off x="7480969" y="3390526"/>
            <a:ext cx="6922629" cy="5588910"/>
          </a:xfrm>
          <a:custGeom>
            <a:avLst/>
            <a:gdLst/>
            <a:ahLst/>
            <a:cxnLst/>
            <a:rect l="l" t="t" r="r" b="b"/>
            <a:pathLst>
              <a:path w="6922629" h="5588910">
                <a:moveTo>
                  <a:pt x="0" y="0"/>
                </a:moveTo>
                <a:lnTo>
                  <a:pt x="6922629" y="0"/>
                </a:lnTo>
                <a:lnTo>
                  <a:pt x="6922629" y="5588910"/>
                </a:lnTo>
                <a:lnTo>
                  <a:pt x="0" y="5588910"/>
                </a:lnTo>
                <a:lnTo>
                  <a:pt x="0" y="0"/>
                </a:lnTo>
                <a:close/>
              </a:path>
            </a:pathLst>
          </a:custGeom>
          <a:blipFill>
            <a:blip r:embed="rId2">
              <a:extLst>
                <a:ext uri="{96DAC541-7B7A-43D3-8B79-37D633B846F1}">
                  <asvg:svgBlip xmlns:asvg="http://schemas.microsoft.com/office/drawing/2016/SVG/main" r:embed="rId3"/>
                </a:ext>
              </a:extLst>
            </a:blip>
            <a:stretch>
              <a:fillRect t="-5" b="-5"/>
            </a:stretch>
          </a:blipFill>
        </p:spPr>
      </p:sp>
      <p:grpSp>
        <p:nvGrpSpPr>
          <p:cNvPr id="3" name="Group 3"/>
          <p:cNvGrpSpPr/>
          <p:nvPr/>
        </p:nvGrpSpPr>
        <p:grpSpPr>
          <a:xfrm>
            <a:off x="7043355" y="4452266"/>
            <a:ext cx="7880128" cy="38100"/>
            <a:chOff x="0" y="0"/>
            <a:chExt cx="10506837" cy="50800"/>
          </a:xfrm>
        </p:grpSpPr>
        <p:sp>
          <p:nvSpPr>
            <p:cNvPr id="4" name="Freeform 4"/>
            <p:cNvSpPr/>
            <p:nvPr/>
          </p:nvSpPr>
          <p:spPr>
            <a:xfrm>
              <a:off x="0" y="0"/>
              <a:ext cx="10506837" cy="50800"/>
            </a:xfrm>
            <a:custGeom>
              <a:avLst/>
              <a:gdLst/>
              <a:ahLst/>
              <a:cxnLst/>
              <a:rect l="l" t="t" r="r" b="b"/>
              <a:pathLst>
                <a:path w="10506837" h="50800">
                  <a:moveTo>
                    <a:pt x="25400" y="0"/>
                  </a:moveTo>
                  <a:lnTo>
                    <a:pt x="10481437" y="0"/>
                  </a:lnTo>
                  <a:cubicBezTo>
                    <a:pt x="10495407" y="0"/>
                    <a:pt x="10506837" y="11430"/>
                    <a:pt x="10506837" y="25400"/>
                  </a:cubicBezTo>
                  <a:cubicBezTo>
                    <a:pt x="10506837" y="39370"/>
                    <a:pt x="10495407" y="50800"/>
                    <a:pt x="10481437" y="50800"/>
                  </a:cubicBezTo>
                  <a:lnTo>
                    <a:pt x="25400" y="50800"/>
                  </a:lnTo>
                  <a:cubicBezTo>
                    <a:pt x="11430" y="50800"/>
                    <a:pt x="0" y="39370"/>
                    <a:pt x="0" y="25400"/>
                  </a:cubicBezTo>
                  <a:cubicBezTo>
                    <a:pt x="0" y="11430"/>
                    <a:pt x="11430" y="0"/>
                    <a:pt x="25400" y="0"/>
                  </a:cubicBezTo>
                  <a:close/>
                </a:path>
              </a:pathLst>
            </a:custGeom>
            <a:solidFill>
              <a:srgbClr val="6377B6"/>
            </a:solidFill>
          </p:spPr>
        </p:sp>
      </p:grpSp>
      <p:grpSp>
        <p:nvGrpSpPr>
          <p:cNvPr id="5" name="Group 5"/>
          <p:cNvGrpSpPr/>
          <p:nvPr/>
        </p:nvGrpSpPr>
        <p:grpSpPr>
          <a:xfrm>
            <a:off x="10881398" y="4467887"/>
            <a:ext cx="1537430" cy="200025"/>
            <a:chOff x="0" y="0"/>
            <a:chExt cx="2049907" cy="266700"/>
          </a:xfrm>
        </p:grpSpPr>
        <p:sp>
          <p:nvSpPr>
            <p:cNvPr id="6" name="Freeform 6"/>
            <p:cNvSpPr/>
            <p:nvPr/>
          </p:nvSpPr>
          <p:spPr>
            <a:xfrm>
              <a:off x="0" y="0"/>
              <a:ext cx="2049907" cy="266700"/>
            </a:xfrm>
            <a:custGeom>
              <a:avLst/>
              <a:gdLst/>
              <a:ahLst/>
              <a:cxnLst/>
              <a:rect l="l" t="t" r="r" b="b"/>
              <a:pathLst>
                <a:path w="2049907" h="266700">
                  <a:moveTo>
                    <a:pt x="133350" y="0"/>
                  </a:moveTo>
                  <a:lnTo>
                    <a:pt x="1916557" y="0"/>
                  </a:lnTo>
                  <a:cubicBezTo>
                    <a:pt x="1990217" y="0"/>
                    <a:pt x="2049907" y="59690"/>
                    <a:pt x="2049907" y="133350"/>
                  </a:cubicBezTo>
                  <a:cubicBezTo>
                    <a:pt x="2049907" y="207010"/>
                    <a:pt x="1990090" y="266700"/>
                    <a:pt x="1916557" y="266700"/>
                  </a:cubicBezTo>
                  <a:lnTo>
                    <a:pt x="133350" y="266700"/>
                  </a:lnTo>
                  <a:cubicBezTo>
                    <a:pt x="59690" y="266700"/>
                    <a:pt x="0" y="207010"/>
                    <a:pt x="0" y="133350"/>
                  </a:cubicBezTo>
                  <a:cubicBezTo>
                    <a:pt x="0" y="59690"/>
                    <a:pt x="59690" y="0"/>
                    <a:pt x="133350" y="0"/>
                  </a:cubicBezTo>
                  <a:close/>
                </a:path>
              </a:pathLst>
            </a:custGeom>
            <a:solidFill>
              <a:srgbClr val="DC6140"/>
            </a:solidFill>
          </p:spPr>
        </p:sp>
      </p:grpSp>
      <p:grpSp>
        <p:nvGrpSpPr>
          <p:cNvPr id="7" name="Group 7"/>
          <p:cNvGrpSpPr/>
          <p:nvPr/>
        </p:nvGrpSpPr>
        <p:grpSpPr>
          <a:xfrm>
            <a:off x="6877419" y="5200271"/>
            <a:ext cx="8046053" cy="38100"/>
            <a:chOff x="0" y="0"/>
            <a:chExt cx="10728071" cy="50800"/>
          </a:xfrm>
        </p:grpSpPr>
        <p:sp>
          <p:nvSpPr>
            <p:cNvPr id="8" name="Freeform 8"/>
            <p:cNvSpPr/>
            <p:nvPr/>
          </p:nvSpPr>
          <p:spPr>
            <a:xfrm>
              <a:off x="0" y="0"/>
              <a:ext cx="10728071" cy="50800"/>
            </a:xfrm>
            <a:custGeom>
              <a:avLst/>
              <a:gdLst/>
              <a:ahLst/>
              <a:cxnLst/>
              <a:rect l="l" t="t" r="r" b="b"/>
              <a:pathLst>
                <a:path w="10728071" h="50800">
                  <a:moveTo>
                    <a:pt x="25400" y="0"/>
                  </a:moveTo>
                  <a:lnTo>
                    <a:pt x="10702671" y="0"/>
                  </a:lnTo>
                  <a:cubicBezTo>
                    <a:pt x="10716640" y="0"/>
                    <a:pt x="10728071" y="11430"/>
                    <a:pt x="10728071" y="25400"/>
                  </a:cubicBezTo>
                  <a:cubicBezTo>
                    <a:pt x="10728071" y="39370"/>
                    <a:pt x="10716640" y="50800"/>
                    <a:pt x="10702671" y="50800"/>
                  </a:cubicBezTo>
                  <a:lnTo>
                    <a:pt x="25400" y="50800"/>
                  </a:lnTo>
                  <a:cubicBezTo>
                    <a:pt x="11430" y="50800"/>
                    <a:pt x="0" y="39370"/>
                    <a:pt x="0" y="25400"/>
                  </a:cubicBezTo>
                  <a:cubicBezTo>
                    <a:pt x="0" y="11430"/>
                    <a:pt x="11430" y="0"/>
                    <a:pt x="25400" y="0"/>
                  </a:cubicBezTo>
                  <a:close/>
                </a:path>
              </a:pathLst>
            </a:custGeom>
            <a:solidFill>
              <a:srgbClr val="6377B6"/>
            </a:solidFill>
          </p:spPr>
        </p:sp>
      </p:grpSp>
      <p:grpSp>
        <p:nvGrpSpPr>
          <p:cNvPr id="9" name="Group 9"/>
          <p:cNvGrpSpPr/>
          <p:nvPr/>
        </p:nvGrpSpPr>
        <p:grpSpPr>
          <a:xfrm>
            <a:off x="7401048" y="5039432"/>
            <a:ext cx="1842993" cy="200025"/>
            <a:chOff x="0" y="0"/>
            <a:chExt cx="2457323" cy="266700"/>
          </a:xfrm>
        </p:grpSpPr>
        <p:sp>
          <p:nvSpPr>
            <p:cNvPr id="10" name="Freeform 10"/>
            <p:cNvSpPr/>
            <p:nvPr/>
          </p:nvSpPr>
          <p:spPr>
            <a:xfrm>
              <a:off x="0" y="0"/>
              <a:ext cx="2457323" cy="266700"/>
            </a:xfrm>
            <a:custGeom>
              <a:avLst/>
              <a:gdLst/>
              <a:ahLst/>
              <a:cxnLst/>
              <a:rect l="l" t="t" r="r" b="b"/>
              <a:pathLst>
                <a:path w="2457323" h="266700">
                  <a:moveTo>
                    <a:pt x="133350" y="0"/>
                  </a:moveTo>
                  <a:lnTo>
                    <a:pt x="2323973" y="0"/>
                  </a:lnTo>
                  <a:cubicBezTo>
                    <a:pt x="2397633" y="0"/>
                    <a:pt x="2457323" y="59690"/>
                    <a:pt x="2457323" y="133350"/>
                  </a:cubicBezTo>
                  <a:cubicBezTo>
                    <a:pt x="2457323" y="207010"/>
                    <a:pt x="2397633" y="266700"/>
                    <a:pt x="2323973" y="266700"/>
                  </a:cubicBezTo>
                  <a:lnTo>
                    <a:pt x="133350" y="266700"/>
                  </a:lnTo>
                  <a:cubicBezTo>
                    <a:pt x="59690" y="266700"/>
                    <a:pt x="0" y="207010"/>
                    <a:pt x="0" y="133350"/>
                  </a:cubicBezTo>
                  <a:cubicBezTo>
                    <a:pt x="0" y="59690"/>
                    <a:pt x="59690" y="0"/>
                    <a:pt x="133350" y="0"/>
                  </a:cubicBezTo>
                  <a:close/>
                </a:path>
              </a:pathLst>
            </a:custGeom>
            <a:solidFill>
              <a:srgbClr val="DC6140"/>
            </a:solidFill>
          </p:spPr>
        </p:sp>
      </p:grpSp>
      <p:grpSp>
        <p:nvGrpSpPr>
          <p:cNvPr id="11" name="Group 11"/>
          <p:cNvGrpSpPr/>
          <p:nvPr/>
        </p:nvGrpSpPr>
        <p:grpSpPr>
          <a:xfrm>
            <a:off x="6877419" y="5948276"/>
            <a:ext cx="8046053" cy="38100"/>
            <a:chOff x="0" y="0"/>
            <a:chExt cx="10728071" cy="50800"/>
          </a:xfrm>
        </p:grpSpPr>
        <p:sp>
          <p:nvSpPr>
            <p:cNvPr id="12" name="Freeform 12"/>
            <p:cNvSpPr/>
            <p:nvPr/>
          </p:nvSpPr>
          <p:spPr>
            <a:xfrm>
              <a:off x="0" y="0"/>
              <a:ext cx="10728071" cy="50800"/>
            </a:xfrm>
            <a:custGeom>
              <a:avLst/>
              <a:gdLst/>
              <a:ahLst/>
              <a:cxnLst/>
              <a:rect l="l" t="t" r="r" b="b"/>
              <a:pathLst>
                <a:path w="10728071" h="50800">
                  <a:moveTo>
                    <a:pt x="25400" y="0"/>
                  </a:moveTo>
                  <a:lnTo>
                    <a:pt x="10702671" y="0"/>
                  </a:lnTo>
                  <a:cubicBezTo>
                    <a:pt x="10716640" y="0"/>
                    <a:pt x="10728071" y="11430"/>
                    <a:pt x="10728071" y="25400"/>
                  </a:cubicBezTo>
                  <a:cubicBezTo>
                    <a:pt x="10728071" y="39370"/>
                    <a:pt x="10716640" y="50800"/>
                    <a:pt x="10702671" y="50800"/>
                  </a:cubicBezTo>
                  <a:lnTo>
                    <a:pt x="25400" y="50800"/>
                  </a:lnTo>
                  <a:cubicBezTo>
                    <a:pt x="11430" y="50800"/>
                    <a:pt x="0" y="39370"/>
                    <a:pt x="0" y="25400"/>
                  </a:cubicBezTo>
                  <a:cubicBezTo>
                    <a:pt x="0" y="11430"/>
                    <a:pt x="11430" y="0"/>
                    <a:pt x="25400" y="0"/>
                  </a:cubicBezTo>
                  <a:close/>
                </a:path>
              </a:pathLst>
            </a:custGeom>
            <a:solidFill>
              <a:srgbClr val="6377B6"/>
            </a:solidFill>
          </p:spPr>
        </p:sp>
      </p:grpSp>
      <p:grpSp>
        <p:nvGrpSpPr>
          <p:cNvPr id="13" name="Group 13"/>
          <p:cNvGrpSpPr/>
          <p:nvPr/>
        </p:nvGrpSpPr>
        <p:grpSpPr>
          <a:xfrm>
            <a:off x="8637937" y="5786946"/>
            <a:ext cx="1998440" cy="200025"/>
            <a:chOff x="0" y="0"/>
            <a:chExt cx="2664587" cy="266700"/>
          </a:xfrm>
        </p:grpSpPr>
        <p:sp>
          <p:nvSpPr>
            <p:cNvPr id="14" name="Freeform 14"/>
            <p:cNvSpPr/>
            <p:nvPr/>
          </p:nvSpPr>
          <p:spPr>
            <a:xfrm>
              <a:off x="0" y="0"/>
              <a:ext cx="2664587" cy="266700"/>
            </a:xfrm>
            <a:custGeom>
              <a:avLst/>
              <a:gdLst/>
              <a:ahLst/>
              <a:cxnLst/>
              <a:rect l="l" t="t" r="r" b="b"/>
              <a:pathLst>
                <a:path w="2664587" h="266700">
                  <a:moveTo>
                    <a:pt x="133350" y="0"/>
                  </a:moveTo>
                  <a:lnTo>
                    <a:pt x="2531237" y="0"/>
                  </a:lnTo>
                  <a:cubicBezTo>
                    <a:pt x="2604897" y="0"/>
                    <a:pt x="2664587" y="59690"/>
                    <a:pt x="2664587" y="133350"/>
                  </a:cubicBezTo>
                  <a:cubicBezTo>
                    <a:pt x="2664587" y="207010"/>
                    <a:pt x="2604770" y="266700"/>
                    <a:pt x="2531237" y="266700"/>
                  </a:cubicBezTo>
                  <a:lnTo>
                    <a:pt x="133350" y="266700"/>
                  </a:lnTo>
                  <a:cubicBezTo>
                    <a:pt x="59690" y="266700"/>
                    <a:pt x="0" y="207010"/>
                    <a:pt x="0" y="133350"/>
                  </a:cubicBezTo>
                  <a:cubicBezTo>
                    <a:pt x="0" y="59690"/>
                    <a:pt x="59690" y="0"/>
                    <a:pt x="133350" y="0"/>
                  </a:cubicBezTo>
                  <a:close/>
                </a:path>
              </a:pathLst>
            </a:custGeom>
            <a:solidFill>
              <a:srgbClr val="DC6140"/>
            </a:solidFill>
          </p:spPr>
        </p:sp>
      </p:grpSp>
      <p:grpSp>
        <p:nvGrpSpPr>
          <p:cNvPr id="15" name="Group 15"/>
          <p:cNvGrpSpPr/>
          <p:nvPr/>
        </p:nvGrpSpPr>
        <p:grpSpPr>
          <a:xfrm>
            <a:off x="6877419" y="6696281"/>
            <a:ext cx="8046053" cy="38100"/>
            <a:chOff x="0" y="0"/>
            <a:chExt cx="10728071" cy="50800"/>
          </a:xfrm>
        </p:grpSpPr>
        <p:sp>
          <p:nvSpPr>
            <p:cNvPr id="16" name="Freeform 16"/>
            <p:cNvSpPr/>
            <p:nvPr/>
          </p:nvSpPr>
          <p:spPr>
            <a:xfrm>
              <a:off x="0" y="0"/>
              <a:ext cx="10728071" cy="50800"/>
            </a:xfrm>
            <a:custGeom>
              <a:avLst/>
              <a:gdLst/>
              <a:ahLst/>
              <a:cxnLst/>
              <a:rect l="l" t="t" r="r" b="b"/>
              <a:pathLst>
                <a:path w="10728071" h="50800">
                  <a:moveTo>
                    <a:pt x="25400" y="0"/>
                  </a:moveTo>
                  <a:lnTo>
                    <a:pt x="10702671" y="0"/>
                  </a:lnTo>
                  <a:cubicBezTo>
                    <a:pt x="10716640" y="0"/>
                    <a:pt x="10728071" y="11430"/>
                    <a:pt x="10728071" y="25400"/>
                  </a:cubicBezTo>
                  <a:cubicBezTo>
                    <a:pt x="10728071" y="39370"/>
                    <a:pt x="10716640" y="50800"/>
                    <a:pt x="10702671" y="50800"/>
                  </a:cubicBezTo>
                  <a:lnTo>
                    <a:pt x="25400" y="50800"/>
                  </a:lnTo>
                  <a:cubicBezTo>
                    <a:pt x="11430" y="50800"/>
                    <a:pt x="0" y="39370"/>
                    <a:pt x="0" y="25400"/>
                  </a:cubicBezTo>
                  <a:cubicBezTo>
                    <a:pt x="0" y="11430"/>
                    <a:pt x="11430" y="0"/>
                    <a:pt x="25400" y="0"/>
                  </a:cubicBezTo>
                  <a:close/>
                </a:path>
              </a:pathLst>
            </a:custGeom>
            <a:solidFill>
              <a:srgbClr val="6377B6"/>
            </a:solidFill>
          </p:spPr>
        </p:sp>
      </p:grpSp>
      <p:grpSp>
        <p:nvGrpSpPr>
          <p:cNvPr id="17" name="Group 17"/>
          <p:cNvGrpSpPr/>
          <p:nvPr/>
        </p:nvGrpSpPr>
        <p:grpSpPr>
          <a:xfrm>
            <a:off x="9381404" y="6534950"/>
            <a:ext cx="1688211" cy="200025"/>
            <a:chOff x="0" y="0"/>
            <a:chExt cx="2250948" cy="266700"/>
          </a:xfrm>
        </p:grpSpPr>
        <p:sp>
          <p:nvSpPr>
            <p:cNvPr id="18" name="Freeform 18"/>
            <p:cNvSpPr/>
            <p:nvPr/>
          </p:nvSpPr>
          <p:spPr>
            <a:xfrm>
              <a:off x="0" y="0"/>
              <a:ext cx="2250948" cy="266700"/>
            </a:xfrm>
            <a:custGeom>
              <a:avLst/>
              <a:gdLst/>
              <a:ahLst/>
              <a:cxnLst/>
              <a:rect l="l" t="t" r="r" b="b"/>
              <a:pathLst>
                <a:path w="2250948" h="266700">
                  <a:moveTo>
                    <a:pt x="133350" y="0"/>
                  </a:moveTo>
                  <a:lnTo>
                    <a:pt x="2117598" y="0"/>
                  </a:lnTo>
                  <a:cubicBezTo>
                    <a:pt x="2191258" y="0"/>
                    <a:pt x="2250948" y="59690"/>
                    <a:pt x="2250948" y="133350"/>
                  </a:cubicBezTo>
                  <a:cubicBezTo>
                    <a:pt x="2250948" y="207010"/>
                    <a:pt x="2191131" y="266700"/>
                    <a:pt x="2117598" y="266700"/>
                  </a:cubicBezTo>
                  <a:lnTo>
                    <a:pt x="133350" y="266700"/>
                  </a:lnTo>
                  <a:cubicBezTo>
                    <a:pt x="59690" y="266700"/>
                    <a:pt x="0" y="207010"/>
                    <a:pt x="0" y="133350"/>
                  </a:cubicBezTo>
                  <a:cubicBezTo>
                    <a:pt x="0" y="59690"/>
                    <a:pt x="59690" y="0"/>
                    <a:pt x="133350" y="0"/>
                  </a:cubicBezTo>
                  <a:close/>
                </a:path>
              </a:pathLst>
            </a:custGeom>
            <a:solidFill>
              <a:srgbClr val="DC6140"/>
            </a:solidFill>
          </p:spPr>
        </p:sp>
      </p:grpSp>
      <p:grpSp>
        <p:nvGrpSpPr>
          <p:cNvPr id="19" name="Group 19"/>
          <p:cNvGrpSpPr/>
          <p:nvPr/>
        </p:nvGrpSpPr>
        <p:grpSpPr>
          <a:xfrm>
            <a:off x="6877419" y="7444285"/>
            <a:ext cx="8046053" cy="38100"/>
            <a:chOff x="0" y="0"/>
            <a:chExt cx="10728071" cy="50800"/>
          </a:xfrm>
        </p:grpSpPr>
        <p:sp>
          <p:nvSpPr>
            <p:cNvPr id="20" name="Freeform 20"/>
            <p:cNvSpPr/>
            <p:nvPr/>
          </p:nvSpPr>
          <p:spPr>
            <a:xfrm>
              <a:off x="0" y="0"/>
              <a:ext cx="10728071" cy="50800"/>
            </a:xfrm>
            <a:custGeom>
              <a:avLst/>
              <a:gdLst/>
              <a:ahLst/>
              <a:cxnLst/>
              <a:rect l="l" t="t" r="r" b="b"/>
              <a:pathLst>
                <a:path w="10728071" h="50800">
                  <a:moveTo>
                    <a:pt x="25400" y="0"/>
                  </a:moveTo>
                  <a:lnTo>
                    <a:pt x="10702671" y="0"/>
                  </a:lnTo>
                  <a:cubicBezTo>
                    <a:pt x="10716640" y="0"/>
                    <a:pt x="10728071" y="11430"/>
                    <a:pt x="10728071" y="25400"/>
                  </a:cubicBezTo>
                  <a:cubicBezTo>
                    <a:pt x="10728071" y="39370"/>
                    <a:pt x="10716640" y="50800"/>
                    <a:pt x="10702671" y="50800"/>
                  </a:cubicBezTo>
                  <a:lnTo>
                    <a:pt x="25400" y="50800"/>
                  </a:lnTo>
                  <a:cubicBezTo>
                    <a:pt x="11430" y="50800"/>
                    <a:pt x="0" y="39370"/>
                    <a:pt x="0" y="25400"/>
                  </a:cubicBezTo>
                  <a:cubicBezTo>
                    <a:pt x="0" y="11430"/>
                    <a:pt x="11430" y="0"/>
                    <a:pt x="25400" y="0"/>
                  </a:cubicBezTo>
                  <a:close/>
                </a:path>
              </a:pathLst>
            </a:custGeom>
            <a:solidFill>
              <a:srgbClr val="6377B6"/>
            </a:solidFill>
          </p:spPr>
        </p:sp>
      </p:grpSp>
      <p:grpSp>
        <p:nvGrpSpPr>
          <p:cNvPr id="21" name="Group 21"/>
          <p:cNvGrpSpPr/>
          <p:nvPr/>
        </p:nvGrpSpPr>
        <p:grpSpPr>
          <a:xfrm>
            <a:off x="9537122" y="7282956"/>
            <a:ext cx="2120741" cy="200025"/>
            <a:chOff x="0" y="0"/>
            <a:chExt cx="2827655" cy="266700"/>
          </a:xfrm>
        </p:grpSpPr>
        <p:sp>
          <p:nvSpPr>
            <p:cNvPr id="22" name="Freeform 22"/>
            <p:cNvSpPr/>
            <p:nvPr/>
          </p:nvSpPr>
          <p:spPr>
            <a:xfrm>
              <a:off x="0" y="0"/>
              <a:ext cx="2827655" cy="266700"/>
            </a:xfrm>
            <a:custGeom>
              <a:avLst/>
              <a:gdLst/>
              <a:ahLst/>
              <a:cxnLst/>
              <a:rect l="l" t="t" r="r" b="b"/>
              <a:pathLst>
                <a:path w="2827655" h="266700">
                  <a:moveTo>
                    <a:pt x="133350" y="0"/>
                  </a:moveTo>
                  <a:lnTo>
                    <a:pt x="2694305" y="0"/>
                  </a:lnTo>
                  <a:cubicBezTo>
                    <a:pt x="2767965" y="0"/>
                    <a:pt x="2827655" y="59690"/>
                    <a:pt x="2827655" y="133350"/>
                  </a:cubicBezTo>
                  <a:cubicBezTo>
                    <a:pt x="2827655" y="207010"/>
                    <a:pt x="2767965" y="266700"/>
                    <a:pt x="2694305" y="266700"/>
                  </a:cubicBezTo>
                  <a:lnTo>
                    <a:pt x="133350" y="266700"/>
                  </a:lnTo>
                  <a:cubicBezTo>
                    <a:pt x="59690" y="266700"/>
                    <a:pt x="0" y="207010"/>
                    <a:pt x="0" y="133350"/>
                  </a:cubicBezTo>
                  <a:cubicBezTo>
                    <a:pt x="0" y="59690"/>
                    <a:pt x="59690" y="0"/>
                    <a:pt x="133350" y="0"/>
                  </a:cubicBezTo>
                  <a:close/>
                </a:path>
              </a:pathLst>
            </a:custGeom>
            <a:solidFill>
              <a:srgbClr val="DC6140"/>
            </a:solidFill>
          </p:spPr>
        </p:sp>
      </p:grpSp>
      <p:grpSp>
        <p:nvGrpSpPr>
          <p:cNvPr id="23" name="Group 23"/>
          <p:cNvGrpSpPr/>
          <p:nvPr/>
        </p:nvGrpSpPr>
        <p:grpSpPr>
          <a:xfrm>
            <a:off x="6877419" y="8940295"/>
            <a:ext cx="8046053" cy="38100"/>
            <a:chOff x="0" y="0"/>
            <a:chExt cx="10728071" cy="50800"/>
          </a:xfrm>
        </p:grpSpPr>
        <p:sp>
          <p:nvSpPr>
            <p:cNvPr id="24" name="Freeform 24"/>
            <p:cNvSpPr/>
            <p:nvPr/>
          </p:nvSpPr>
          <p:spPr>
            <a:xfrm>
              <a:off x="0" y="0"/>
              <a:ext cx="10728071" cy="50800"/>
            </a:xfrm>
            <a:custGeom>
              <a:avLst/>
              <a:gdLst/>
              <a:ahLst/>
              <a:cxnLst/>
              <a:rect l="l" t="t" r="r" b="b"/>
              <a:pathLst>
                <a:path w="10728071" h="50800">
                  <a:moveTo>
                    <a:pt x="25400" y="0"/>
                  </a:moveTo>
                  <a:lnTo>
                    <a:pt x="10702671" y="0"/>
                  </a:lnTo>
                  <a:cubicBezTo>
                    <a:pt x="10716640" y="0"/>
                    <a:pt x="10728071" y="11430"/>
                    <a:pt x="10728071" y="25400"/>
                  </a:cubicBezTo>
                  <a:cubicBezTo>
                    <a:pt x="10728071" y="39370"/>
                    <a:pt x="10716640" y="50800"/>
                    <a:pt x="10702671" y="50800"/>
                  </a:cubicBezTo>
                  <a:lnTo>
                    <a:pt x="25400" y="50800"/>
                  </a:lnTo>
                  <a:cubicBezTo>
                    <a:pt x="11430" y="50800"/>
                    <a:pt x="0" y="39370"/>
                    <a:pt x="0" y="25400"/>
                  </a:cubicBezTo>
                  <a:cubicBezTo>
                    <a:pt x="0" y="11430"/>
                    <a:pt x="11430" y="0"/>
                    <a:pt x="25400" y="0"/>
                  </a:cubicBezTo>
                  <a:close/>
                </a:path>
              </a:pathLst>
            </a:custGeom>
            <a:solidFill>
              <a:srgbClr val="6377B6"/>
            </a:solidFill>
          </p:spPr>
        </p:sp>
      </p:grpSp>
      <p:grpSp>
        <p:nvGrpSpPr>
          <p:cNvPr id="25" name="Group 25"/>
          <p:cNvGrpSpPr/>
          <p:nvPr/>
        </p:nvGrpSpPr>
        <p:grpSpPr>
          <a:xfrm>
            <a:off x="12496032" y="8778966"/>
            <a:ext cx="2508409" cy="200025"/>
            <a:chOff x="0" y="0"/>
            <a:chExt cx="3344545" cy="266700"/>
          </a:xfrm>
        </p:grpSpPr>
        <p:sp>
          <p:nvSpPr>
            <p:cNvPr id="26" name="Freeform 26"/>
            <p:cNvSpPr/>
            <p:nvPr/>
          </p:nvSpPr>
          <p:spPr>
            <a:xfrm>
              <a:off x="0" y="0"/>
              <a:ext cx="3344545" cy="266700"/>
            </a:xfrm>
            <a:custGeom>
              <a:avLst/>
              <a:gdLst/>
              <a:ahLst/>
              <a:cxnLst/>
              <a:rect l="l" t="t" r="r" b="b"/>
              <a:pathLst>
                <a:path w="3344545" h="266700">
                  <a:moveTo>
                    <a:pt x="133350" y="0"/>
                  </a:moveTo>
                  <a:lnTo>
                    <a:pt x="3211195" y="0"/>
                  </a:lnTo>
                  <a:cubicBezTo>
                    <a:pt x="3284855" y="0"/>
                    <a:pt x="3344545" y="59690"/>
                    <a:pt x="3344545" y="133350"/>
                  </a:cubicBezTo>
                  <a:cubicBezTo>
                    <a:pt x="3344545" y="207010"/>
                    <a:pt x="3284855" y="266700"/>
                    <a:pt x="3211195" y="266700"/>
                  </a:cubicBezTo>
                  <a:lnTo>
                    <a:pt x="133350" y="266700"/>
                  </a:lnTo>
                  <a:cubicBezTo>
                    <a:pt x="59690" y="266700"/>
                    <a:pt x="0" y="207010"/>
                    <a:pt x="0" y="133350"/>
                  </a:cubicBezTo>
                  <a:cubicBezTo>
                    <a:pt x="0" y="59690"/>
                    <a:pt x="59690" y="0"/>
                    <a:pt x="133350" y="0"/>
                  </a:cubicBezTo>
                  <a:close/>
                </a:path>
              </a:pathLst>
            </a:custGeom>
            <a:solidFill>
              <a:srgbClr val="DC6140"/>
            </a:solidFill>
          </p:spPr>
        </p:sp>
      </p:grpSp>
      <p:grpSp>
        <p:nvGrpSpPr>
          <p:cNvPr id="27" name="Group 27"/>
          <p:cNvGrpSpPr/>
          <p:nvPr/>
        </p:nvGrpSpPr>
        <p:grpSpPr>
          <a:xfrm>
            <a:off x="6877419" y="8192290"/>
            <a:ext cx="8046053" cy="38100"/>
            <a:chOff x="0" y="0"/>
            <a:chExt cx="10728071" cy="50800"/>
          </a:xfrm>
        </p:grpSpPr>
        <p:sp>
          <p:nvSpPr>
            <p:cNvPr id="28" name="Freeform 28"/>
            <p:cNvSpPr/>
            <p:nvPr/>
          </p:nvSpPr>
          <p:spPr>
            <a:xfrm>
              <a:off x="0" y="0"/>
              <a:ext cx="10728071" cy="50800"/>
            </a:xfrm>
            <a:custGeom>
              <a:avLst/>
              <a:gdLst/>
              <a:ahLst/>
              <a:cxnLst/>
              <a:rect l="l" t="t" r="r" b="b"/>
              <a:pathLst>
                <a:path w="10728071" h="50800">
                  <a:moveTo>
                    <a:pt x="25400" y="0"/>
                  </a:moveTo>
                  <a:lnTo>
                    <a:pt x="10702671" y="0"/>
                  </a:lnTo>
                  <a:cubicBezTo>
                    <a:pt x="10716640" y="0"/>
                    <a:pt x="10728071" y="11430"/>
                    <a:pt x="10728071" y="25400"/>
                  </a:cubicBezTo>
                  <a:cubicBezTo>
                    <a:pt x="10728071" y="39370"/>
                    <a:pt x="10716640" y="50800"/>
                    <a:pt x="10702671" y="50800"/>
                  </a:cubicBezTo>
                  <a:lnTo>
                    <a:pt x="25400" y="50800"/>
                  </a:lnTo>
                  <a:cubicBezTo>
                    <a:pt x="11430" y="50800"/>
                    <a:pt x="0" y="39370"/>
                    <a:pt x="0" y="25400"/>
                  </a:cubicBezTo>
                  <a:cubicBezTo>
                    <a:pt x="0" y="11430"/>
                    <a:pt x="11430" y="0"/>
                    <a:pt x="25400" y="0"/>
                  </a:cubicBezTo>
                  <a:close/>
                </a:path>
              </a:pathLst>
            </a:custGeom>
            <a:solidFill>
              <a:srgbClr val="6377B6"/>
            </a:solidFill>
          </p:spPr>
        </p:sp>
      </p:grpSp>
      <p:grpSp>
        <p:nvGrpSpPr>
          <p:cNvPr id="29" name="Group 29"/>
          <p:cNvGrpSpPr/>
          <p:nvPr/>
        </p:nvGrpSpPr>
        <p:grpSpPr>
          <a:xfrm>
            <a:off x="11096234" y="8030960"/>
            <a:ext cx="1938052" cy="200025"/>
            <a:chOff x="0" y="0"/>
            <a:chExt cx="2584069" cy="266700"/>
          </a:xfrm>
        </p:grpSpPr>
        <p:sp>
          <p:nvSpPr>
            <p:cNvPr id="30" name="Freeform 30"/>
            <p:cNvSpPr/>
            <p:nvPr/>
          </p:nvSpPr>
          <p:spPr>
            <a:xfrm>
              <a:off x="0" y="0"/>
              <a:ext cx="2584069" cy="266700"/>
            </a:xfrm>
            <a:custGeom>
              <a:avLst/>
              <a:gdLst/>
              <a:ahLst/>
              <a:cxnLst/>
              <a:rect l="l" t="t" r="r" b="b"/>
              <a:pathLst>
                <a:path w="2584069" h="266700">
                  <a:moveTo>
                    <a:pt x="133350" y="0"/>
                  </a:moveTo>
                  <a:lnTo>
                    <a:pt x="2450719" y="0"/>
                  </a:lnTo>
                  <a:cubicBezTo>
                    <a:pt x="2524379" y="0"/>
                    <a:pt x="2584069" y="59690"/>
                    <a:pt x="2584069" y="133350"/>
                  </a:cubicBezTo>
                  <a:cubicBezTo>
                    <a:pt x="2584069" y="207010"/>
                    <a:pt x="2524379" y="266700"/>
                    <a:pt x="2450719" y="266700"/>
                  </a:cubicBezTo>
                  <a:lnTo>
                    <a:pt x="133350" y="266700"/>
                  </a:lnTo>
                  <a:cubicBezTo>
                    <a:pt x="59690" y="266700"/>
                    <a:pt x="0" y="207010"/>
                    <a:pt x="0" y="133350"/>
                  </a:cubicBezTo>
                  <a:cubicBezTo>
                    <a:pt x="0" y="59690"/>
                    <a:pt x="59690" y="0"/>
                    <a:pt x="133350" y="0"/>
                  </a:cubicBezTo>
                  <a:close/>
                </a:path>
              </a:pathLst>
            </a:custGeom>
            <a:solidFill>
              <a:srgbClr val="DC6140"/>
            </a:solidFill>
          </p:spPr>
        </p:sp>
      </p:grpSp>
      <p:sp>
        <p:nvSpPr>
          <p:cNvPr id="31" name="Freeform 31"/>
          <p:cNvSpPr/>
          <p:nvPr/>
        </p:nvSpPr>
        <p:spPr>
          <a:xfrm>
            <a:off x="6896469" y="2690691"/>
            <a:ext cx="8076831" cy="740019"/>
          </a:xfrm>
          <a:custGeom>
            <a:avLst/>
            <a:gdLst/>
            <a:ahLst/>
            <a:cxnLst/>
            <a:rect l="l" t="t" r="r" b="b"/>
            <a:pathLst>
              <a:path w="8076831" h="740019">
                <a:moveTo>
                  <a:pt x="0" y="0"/>
                </a:moveTo>
                <a:lnTo>
                  <a:pt x="8076831" y="0"/>
                </a:lnTo>
                <a:lnTo>
                  <a:pt x="8076831" y="740019"/>
                </a:lnTo>
                <a:lnTo>
                  <a:pt x="0" y="740019"/>
                </a:lnTo>
                <a:lnTo>
                  <a:pt x="0" y="0"/>
                </a:lnTo>
                <a:close/>
              </a:path>
            </a:pathLst>
          </a:custGeom>
          <a:blipFill>
            <a:blip r:embed="rId4">
              <a:extLst>
                <a:ext uri="{96DAC541-7B7A-43D3-8B79-37D633B846F1}">
                  <asvg:svgBlip xmlns:asvg="http://schemas.microsoft.com/office/drawing/2016/SVG/main" r:embed="rId5"/>
                </a:ext>
              </a:extLst>
            </a:blip>
            <a:stretch>
              <a:fillRect t="-195" b="-195"/>
            </a:stretch>
          </a:blipFill>
        </p:spPr>
      </p:sp>
      <p:grpSp>
        <p:nvGrpSpPr>
          <p:cNvPr id="32" name="Group 32"/>
          <p:cNvGrpSpPr/>
          <p:nvPr/>
        </p:nvGrpSpPr>
        <p:grpSpPr>
          <a:xfrm>
            <a:off x="6825667" y="3657620"/>
            <a:ext cx="674849" cy="295275"/>
            <a:chOff x="0" y="0"/>
            <a:chExt cx="899799" cy="393700"/>
          </a:xfrm>
        </p:grpSpPr>
        <p:sp>
          <p:nvSpPr>
            <p:cNvPr id="33" name="Freeform 33"/>
            <p:cNvSpPr/>
            <p:nvPr/>
          </p:nvSpPr>
          <p:spPr>
            <a:xfrm>
              <a:off x="0" y="0"/>
              <a:ext cx="899799" cy="393700"/>
            </a:xfrm>
            <a:custGeom>
              <a:avLst/>
              <a:gdLst/>
              <a:ahLst/>
              <a:cxnLst/>
              <a:rect l="l" t="t" r="r" b="b"/>
              <a:pathLst>
                <a:path w="899799" h="393700">
                  <a:moveTo>
                    <a:pt x="0" y="0"/>
                  </a:moveTo>
                  <a:lnTo>
                    <a:pt x="899799" y="0"/>
                  </a:lnTo>
                  <a:lnTo>
                    <a:pt x="899799" y="393700"/>
                  </a:lnTo>
                  <a:lnTo>
                    <a:pt x="0" y="393700"/>
                  </a:lnTo>
                  <a:close/>
                </a:path>
              </a:pathLst>
            </a:custGeom>
            <a:solidFill>
              <a:srgbClr val="000000">
                <a:alpha val="0"/>
              </a:srgbClr>
            </a:solidFill>
          </p:spPr>
        </p:sp>
        <p:sp>
          <p:nvSpPr>
            <p:cNvPr id="34" name="TextBox 34"/>
            <p:cNvSpPr txBox="1"/>
            <p:nvPr/>
          </p:nvSpPr>
          <p:spPr>
            <a:xfrm>
              <a:off x="0" y="-38100"/>
              <a:ext cx="899799" cy="431800"/>
            </a:xfrm>
            <a:prstGeom prst="rect">
              <a:avLst/>
            </a:prstGeom>
          </p:spPr>
          <p:txBody>
            <a:bodyPr lIns="0" tIns="0" rIns="0" bIns="0" rtlCol="0" anchor="t"/>
            <a:lstStyle/>
            <a:p>
              <a:pPr algn="ctr">
                <a:lnSpc>
                  <a:spcPts val="2165"/>
                </a:lnSpc>
              </a:pPr>
              <a:r>
                <a:rPr lang="en-US" sz="1546" b="1">
                  <a:solidFill>
                    <a:srgbClr val="FFFFFF"/>
                  </a:solidFill>
                  <a:latin typeface="Montserrat Bold"/>
                  <a:ea typeface="Montserrat Bold"/>
                  <a:cs typeface="Montserrat Bold"/>
                  <a:sym typeface="Montserrat Bold"/>
                </a:rPr>
                <a:t>Jan</a:t>
              </a:r>
            </a:p>
          </p:txBody>
        </p:sp>
      </p:grpSp>
      <p:grpSp>
        <p:nvGrpSpPr>
          <p:cNvPr id="35" name="Group 35"/>
          <p:cNvGrpSpPr/>
          <p:nvPr/>
        </p:nvGrpSpPr>
        <p:grpSpPr>
          <a:xfrm>
            <a:off x="6787810" y="3035085"/>
            <a:ext cx="2120899" cy="301823"/>
            <a:chOff x="0" y="0"/>
            <a:chExt cx="2827865" cy="402431"/>
          </a:xfrm>
        </p:grpSpPr>
        <p:sp>
          <p:nvSpPr>
            <p:cNvPr id="36" name="Freeform 36"/>
            <p:cNvSpPr/>
            <p:nvPr/>
          </p:nvSpPr>
          <p:spPr>
            <a:xfrm>
              <a:off x="0" y="0"/>
              <a:ext cx="2827865" cy="402431"/>
            </a:xfrm>
            <a:custGeom>
              <a:avLst/>
              <a:gdLst/>
              <a:ahLst/>
              <a:cxnLst/>
              <a:rect l="l" t="t" r="r" b="b"/>
              <a:pathLst>
                <a:path w="2827865" h="402431">
                  <a:moveTo>
                    <a:pt x="0" y="0"/>
                  </a:moveTo>
                  <a:lnTo>
                    <a:pt x="2827865" y="0"/>
                  </a:lnTo>
                  <a:lnTo>
                    <a:pt x="2827865" y="402431"/>
                  </a:lnTo>
                  <a:lnTo>
                    <a:pt x="0" y="402431"/>
                  </a:lnTo>
                  <a:close/>
                </a:path>
              </a:pathLst>
            </a:custGeom>
            <a:solidFill>
              <a:srgbClr val="000000">
                <a:alpha val="0"/>
              </a:srgbClr>
            </a:solidFill>
          </p:spPr>
        </p:sp>
        <p:sp>
          <p:nvSpPr>
            <p:cNvPr id="37" name="TextBox 37"/>
            <p:cNvSpPr txBox="1"/>
            <p:nvPr/>
          </p:nvSpPr>
          <p:spPr>
            <a:xfrm>
              <a:off x="0" y="-28575"/>
              <a:ext cx="2827865" cy="431006"/>
            </a:xfrm>
            <a:prstGeom prst="rect">
              <a:avLst/>
            </a:prstGeom>
          </p:spPr>
          <p:txBody>
            <a:bodyPr lIns="0" tIns="0" rIns="0" bIns="0" rtlCol="0" anchor="t"/>
            <a:lstStyle/>
            <a:p>
              <a:pPr algn="ctr">
                <a:lnSpc>
                  <a:spcPts val="2361"/>
                </a:lnSpc>
              </a:pPr>
              <a:r>
                <a:rPr lang="en-US" sz="1686" b="1" spc="83">
                  <a:solidFill>
                    <a:srgbClr val="FDF7F0"/>
                  </a:solidFill>
                  <a:latin typeface="Montserrat Bold"/>
                  <a:ea typeface="Montserrat Bold"/>
                  <a:cs typeface="Montserrat Bold"/>
                  <a:sym typeface="Montserrat Bold"/>
                </a:rPr>
                <a:t>QUARTER 1</a:t>
              </a:r>
            </a:p>
          </p:txBody>
        </p:sp>
      </p:grpSp>
      <p:grpSp>
        <p:nvGrpSpPr>
          <p:cNvPr id="38" name="Group 38"/>
          <p:cNvGrpSpPr/>
          <p:nvPr/>
        </p:nvGrpSpPr>
        <p:grpSpPr>
          <a:xfrm>
            <a:off x="8819265" y="3029382"/>
            <a:ext cx="2120899" cy="301823"/>
            <a:chOff x="0" y="0"/>
            <a:chExt cx="2827865" cy="402431"/>
          </a:xfrm>
        </p:grpSpPr>
        <p:sp>
          <p:nvSpPr>
            <p:cNvPr id="39" name="Freeform 39"/>
            <p:cNvSpPr/>
            <p:nvPr/>
          </p:nvSpPr>
          <p:spPr>
            <a:xfrm>
              <a:off x="0" y="0"/>
              <a:ext cx="2827865" cy="402431"/>
            </a:xfrm>
            <a:custGeom>
              <a:avLst/>
              <a:gdLst/>
              <a:ahLst/>
              <a:cxnLst/>
              <a:rect l="l" t="t" r="r" b="b"/>
              <a:pathLst>
                <a:path w="2827865" h="402431">
                  <a:moveTo>
                    <a:pt x="0" y="0"/>
                  </a:moveTo>
                  <a:lnTo>
                    <a:pt x="2827865" y="0"/>
                  </a:lnTo>
                  <a:lnTo>
                    <a:pt x="2827865" y="402431"/>
                  </a:lnTo>
                  <a:lnTo>
                    <a:pt x="0" y="402431"/>
                  </a:lnTo>
                  <a:close/>
                </a:path>
              </a:pathLst>
            </a:custGeom>
            <a:solidFill>
              <a:srgbClr val="000000">
                <a:alpha val="0"/>
              </a:srgbClr>
            </a:solidFill>
          </p:spPr>
        </p:sp>
        <p:sp>
          <p:nvSpPr>
            <p:cNvPr id="40" name="TextBox 40"/>
            <p:cNvSpPr txBox="1"/>
            <p:nvPr/>
          </p:nvSpPr>
          <p:spPr>
            <a:xfrm>
              <a:off x="0" y="-28575"/>
              <a:ext cx="2827865" cy="431006"/>
            </a:xfrm>
            <a:prstGeom prst="rect">
              <a:avLst/>
            </a:prstGeom>
          </p:spPr>
          <p:txBody>
            <a:bodyPr lIns="0" tIns="0" rIns="0" bIns="0" rtlCol="0" anchor="t"/>
            <a:lstStyle/>
            <a:p>
              <a:pPr algn="ctr">
                <a:lnSpc>
                  <a:spcPts val="2361"/>
                </a:lnSpc>
              </a:pPr>
              <a:r>
                <a:rPr lang="en-US" sz="1686" b="1" spc="83">
                  <a:solidFill>
                    <a:srgbClr val="FDF7F0"/>
                  </a:solidFill>
                  <a:latin typeface="Montserrat Bold"/>
                  <a:ea typeface="Montserrat Bold"/>
                  <a:cs typeface="Montserrat Bold"/>
                  <a:sym typeface="Montserrat Bold"/>
                </a:rPr>
                <a:t>QUARTER 2</a:t>
              </a:r>
            </a:p>
          </p:txBody>
        </p:sp>
      </p:grpSp>
      <p:grpSp>
        <p:nvGrpSpPr>
          <p:cNvPr id="41" name="Group 41"/>
          <p:cNvGrpSpPr/>
          <p:nvPr/>
        </p:nvGrpSpPr>
        <p:grpSpPr>
          <a:xfrm>
            <a:off x="10847353" y="3035085"/>
            <a:ext cx="2120899" cy="301823"/>
            <a:chOff x="0" y="0"/>
            <a:chExt cx="2827865" cy="402431"/>
          </a:xfrm>
        </p:grpSpPr>
        <p:sp>
          <p:nvSpPr>
            <p:cNvPr id="42" name="Freeform 42"/>
            <p:cNvSpPr/>
            <p:nvPr/>
          </p:nvSpPr>
          <p:spPr>
            <a:xfrm>
              <a:off x="0" y="0"/>
              <a:ext cx="2827865" cy="402431"/>
            </a:xfrm>
            <a:custGeom>
              <a:avLst/>
              <a:gdLst/>
              <a:ahLst/>
              <a:cxnLst/>
              <a:rect l="l" t="t" r="r" b="b"/>
              <a:pathLst>
                <a:path w="2827865" h="402431">
                  <a:moveTo>
                    <a:pt x="0" y="0"/>
                  </a:moveTo>
                  <a:lnTo>
                    <a:pt x="2827865" y="0"/>
                  </a:lnTo>
                  <a:lnTo>
                    <a:pt x="2827865" y="402431"/>
                  </a:lnTo>
                  <a:lnTo>
                    <a:pt x="0" y="402431"/>
                  </a:lnTo>
                  <a:close/>
                </a:path>
              </a:pathLst>
            </a:custGeom>
            <a:solidFill>
              <a:srgbClr val="000000">
                <a:alpha val="0"/>
              </a:srgbClr>
            </a:solidFill>
          </p:spPr>
        </p:sp>
        <p:sp>
          <p:nvSpPr>
            <p:cNvPr id="43" name="TextBox 43"/>
            <p:cNvSpPr txBox="1"/>
            <p:nvPr/>
          </p:nvSpPr>
          <p:spPr>
            <a:xfrm>
              <a:off x="0" y="-28575"/>
              <a:ext cx="2827865" cy="431006"/>
            </a:xfrm>
            <a:prstGeom prst="rect">
              <a:avLst/>
            </a:prstGeom>
          </p:spPr>
          <p:txBody>
            <a:bodyPr lIns="0" tIns="0" rIns="0" bIns="0" rtlCol="0" anchor="t"/>
            <a:lstStyle/>
            <a:p>
              <a:pPr algn="ctr">
                <a:lnSpc>
                  <a:spcPts val="2361"/>
                </a:lnSpc>
              </a:pPr>
              <a:r>
                <a:rPr lang="en-US" sz="1686" b="1" spc="83">
                  <a:solidFill>
                    <a:srgbClr val="FDF7F0"/>
                  </a:solidFill>
                  <a:latin typeface="Montserrat Bold"/>
                  <a:ea typeface="Montserrat Bold"/>
                  <a:cs typeface="Montserrat Bold"/>
                  <a:sym typeface="Montserrat Bold"/>
                </a:rPr>
                <a:t>QUARTER 3</a:t>
              </a:r>
            </a:p>
          </p:txBody>
        </p:sp>
      </p:grpSp>
      <p:grpSp>
        <p:nvGrpSpPr>
          <p:cNvPr id="44" name="Group 44"/>
          <p:cNvGrpSpPr/>
          <p:nvPr/>
        </p:nvGrpSpPr>
        <p:grpSpPr>
          <a:xfrm>
            <a:off x="9577517" y="3645280"/>
            <a:ext cx="664760" cy="295275"/>
            <a:chOff x="0" y="0"/>
            <a:chExt cx="886347" cy="393700"/>
          </a:xfrm>
        </p:grpSpPr>
        <p:sp>
          <p:nvSpPr>
            <p:cNvPr id="45" name="Freeform 45"/>
            <p:cNvSpPr/>
            <p:nvPr/>
          </p:nvSpPr>
          <p:spPr>
            <a:xfrm>
              <a:off x="0" y="0"/>
              <a:ext cx="886347" cy="393700"/>
            </a:xfrm>
            <a:custGeom>
              <a:avLst/>
              <a:gdLst/>
              <a:ahLst/>
              <a:cxnLst/>
              <a:rect l="l" t="t" r="r" b="b"/>
              <a:pathLst>
                <a:path w="886347" h="393700">
                  <a:moveTo>
                    <a:pt x="0" y="0"/>
                  </a:moveTo>
                  <a:lnTo>
                    <a:pt x="886347" y="0"/>
                  </a:lnTo>
                  <a:lnTo>
                    <a:pt x="886347" y="393700"/>
                  </a:lnTo>
                  <a:lnTo>
                    <a:pt x="0" y="393700"/>
                  </a:lnTo>
                  <a:close/>
                </a:path>
              </a:pathLst>
            </a:custGeom>
            <a:solidFill>
              <a:srgbClr val="000000">
                <a:alpha val="0"/>
              </a:srgbClr>
            </a:solidFill>
          </p:spPr>
        </p:sp>
        <p:sp>
          <p:nvSpPr>
            <p:cNvPr id="46" name="TextBox 46"/>
            <p:cNvSpPr txBox="1"/>
            <p:nvPr/>
          </p:nvSpPr>
          <p:spPr>
            <a:xfrm>
              <a:off x="0" y="-38100"/>
              <a:ext cx="886347" cy="431800"/>
            </a:xfrm>
            <a:prstGeom prst="rect">
              <a:avLst/>
            </a:prstGeom>
          </p:spPr>
          <p:txBody>
            <a:bodyPr lIns="0" tIns="0" rIns="0" bIns="0" rtlCol="0" anchor="t"/>
            <a:lstStyle/>
            <a:p>
              <a:pPr algn="ctr">
                <a:lnSpc>
                  <a:spcPts val="2165"/>
                </a:lnSpc>
              </a:pPr>
              <a:r>
                <a:rPr lang="en-US" sz="1546" b="1">
                  <a:solidFill>
                    <a:srgbClr val="FFFFFF"/>
                  </a:solidFill>
                  <a:latin typeface="Montserrat Bold"/>
                  <a:ea typeface="Montserrat Bold"/>
                  <a:cs typeface="Montserrat Bold"/>
                  <a:sym typeface="Montserrat Bold"/>
                </a:rPr>
                <a:t>May</a:t>
              </a:r>
            </a:p>
          </p:txBody>
        </p:sp>
      </p:grpSp>
      <p:grpSp>
        <p:nvGrpSpPr>
          <p:cNvPr id="47" name="Group 47"/>
          <p:cNvGrpSpPr/>
          <p:nvPr/>
        </p:nvGrpSpPr>
        <p:grpSpPr>
          <a:xfrm>
            <a:off x="12318773" y="3645280"/>
            <a:ext cx="689914" cy="295275"/>
            <a:chOff x="0" y="0"/>
            <a:chExt cx="919885" cy="393700"/>
          </a:xfrm>
        </p:grpSpPr>
        <p:sp>
          <p:nvSpPr>
            <p:cNvPr id="48" name="Freeform 48"/>
            <p:cNvSpPr/>
            <p:nvPr/>
          </p:nvSpPr>
          <p:spPr>
            <a:xfrm>
              <a:off x="0" y="0"/>
              <a:ext cx="919885" cy="393700"/>
            </a:xfrm>
            <a:custGeom>
              <a:avLst/>
              <a:gdLst/>
              <a:ahLst/>
              <a:cxnLst/>
              <a:rect l="l" t="t" r="r" b="b"/>
              <a:pathLst>
                <a:path w="919885" h="393700">
                  <a:moveTo>
                    <a:pt x="0" y="0"/>
                  </a:moveTo>
                  <a:lnTo>
                    <a:pt x="919885" y="0"/>
                  </a:lnTo>
                  <a:lnTo>
                    <a:pt x="919885" y="393700"/>
                  </a:lnTo>
                  <a:lnTo>
                    <a:pt x="0" y="393700"/>
                  </a:lnTo>
                  <a:close/>
                </a:path>
              </a:pathLst>
            </a:custGeom>
            <a:solidFill>
              <a:srgbClr val="000000">
                <a:alpha val="0"/>
              </a:srgbClr>
            </a:solidFill>
          </p:spPr>
        </p:sp>
        <p:sp>
          <p:nvSpPr>
            <p:cNvPr id="49" name="TextBox 49"/>
            <p:cNvSpPr txBox="1"/>
            <p:nvPr/>
          </p:nvSpPr>
          <p:spPr>
            <a:xfrm>
              <a:off x="0" y="-38100"/>
              <a:ext cx="919885" cy="431800"/>
            </a:xfrm>
            <a:prstGeom prst="rect">
              <a:avLst/>
            </a:prstGeom>
          </p:spPr>
          <p:txBody>
            <a:bodyPr lIns="0" tIns="0" rIns="0" bIns="0" rtlCol="0" anchor="t"/>
            <a:lstStyle/>
            <a:p>
              <a:pPr algn="ctr">
                <a:lnSpc>
                  <a:spcPts val="2165"/>
                </a:lnSpc>
              </a:pPr>
              <a:r>
                <a:rPr lang="en-US" sz="1546" b="1">
                  <a:solidFill>
                    <a:srgbClr val="FFFFFF"/>
                  </a:solidFill>
                  <a:latin typeface="Montserrat Bold"/>
                  <a:ea typeface="Montserrat Bold"/>
                  <a:cs typeface="Montserrat Bold"/>
                  <a:sym typeface="Montserrat Bold"/>
                </a:rPr>
                <a:t>Sep</a:t>
              </a:r>
            </a:p>
          </p:txBody>
        </p:sp>
      </p:grpSp>
      <p:grpSp>
        <p:nvGrpSpPr>
          <p:cNvPr id="50" name="Group 50"/>
          <p:cNvGrpSpPr/>
          <p:nvPr/>
        </p:nvGrpSpPr>
        <p:grpSpPr>
          <a:xfrm>
            <a:off x="7507213" y="3657620"/>
            <a:ext cx="682092" cy="295275"/>
            <a:chOff x="0" y="0"/>
            <a:chExt cx="909456" cy="393700"/>
          </a:xfrm>
        </p:grpSpPr>
        <p:sp>
          <p:nvSpPr>
            <p:cNvPr id="51" name="Freeform 51"/>
            <p:cNvSpPr/>
            <p:nvPr/>
          </p:nvSpPr>
          <p:spPr>
            <a:xfrm>
              <a:off x="0" y="0"/>
              <a:ext cx="909456" cy="393700"/>
            </a:xfrm>
            <a:custGeom>
              <a:avLst/>
              <a:gdLst/>
              <a:ahLst/>
              <a:cxnLst/>
              <a:rect l="l" t="t" r="r" b="b"/>
              <a:pathLst>
                <a:path w="909456" h="393700">
                  <a:moveTo>
                    <a:pt x="0" y="0"/>
                  </a:moveTo>
                  <a:lnTo>
                    <a:pt x="909456" y="0"/>
                  </a:lnTo>
                  <a:lnTo>
                    <a:pt x="909456" y="393700"/>
                  </a:lnTo>
                  <a:lnTo>
                    <a:pt x="0" y="393700"/>
                  </a:lnTo>
                  <a:close/>
                </a:path>
              </a:pathLst>
            </a:custGeom>
            <a:solidFill>
              <a:srgbClr val="000000">
                <a:alpha val="0"/>
              </a:srgbClr>
            </a:solidFill>
          </p:spPr>
        </p:sp>
        <p:sp>
          <p:nvSpPr>
            <p:cNvPr id="52" name="TextBox 52"/>
            <p:cNvSpPr txBox="1"/>
            <p:nvPr/>
          </p:nvSpPr>
          <p:spPr>
            <a:xfrm>
              <a:off x="0" y="-38100"/>
              <a:ext cx="909456" cy="431800"/>
            </a:xfrm>
            <a:prstGeom prst="rect">
              <a:avLst/>
            </a:prstGeom>
          </p:spPr>
          <p:txBody>
            <a:bodyPr lIns="0" tIns="0" rIns="0" bIns="0" rtlCol="0" anchor="t"/>
            <a:lstStyle/>
            <a:p>
              <a:pPr algn="ctr">
                <a:lnSpc>
                  <a:spcPts val="2165"/>
                </a:lnSpc>
              </a:pPr>
              <a:r>
                <a:rPr lang="en-US" sz="1546" b="1">
                  <a:solidFill>
                    <a:srgbClr val="FFFFFF"/>
                  </a:solidFill>
                  <a:latin typeface="Montserrat Bold"/>
                  <a:ea typeface="Montserrat Bold"/>
                  <a:cs typeface="Montserrat Bold"/>
                  <a:sym typeface="Montserrat Bold"/>
                </a:rPr>
                <a:t>Feb</a:t>
              </a:r>
            </a:p>
          </p:txBody>
        </p:sp>
      </p:grpSp>
      <p:grpSp>
        <p:nvGrpSpPr>
          <p:cNvPr id="53" name="Group 53"/>
          <p:cNvGrpSpPr/>
          <p:nvPr/>
        </p:nvGrpSpPr>
        <p:grpSpPr>
          <a:xfrm>
            <a:off x="10251117" y="3645280"/>
            <a:ext cx="677158" cy="295275"/>
            <a:chOff x="0" y="0"/>
            <a:chExt cx="902877" cy="393700"/>
          </a:xfrm>
        </p:grpSpPr>
        <p:sp>
          <p:nvSpPr>
            <p:cNvPr id="54" name="Freeform 54"/>
            <p:cNvSpPr/>
            <p:nvPr/>
          </p:nvSpPr>
          <p:spPr>
            <a:xfrm>
              <a:off x="0" y="0"/>
              <a:ext cx="902877" cy="393700"/>
            </a:xfrm>
            <a:custGeom>
              <a:avLst/>
              <a:gdLst/>
              <a:ahLst/>
              <a:cxnLst/>
              <a:rect l="l" t="t" r="r" b="b"/>
              <a:pathLst>
                <a:path w="902877" h="393700">
                  <a:moveTo>
                    <a:pt x="0" y="0"/>
                  </a:moveTo>
                  <a:lnTo>
                    <a:pt x="902877" y="0"/>
                  </a:lnTo>
                  <a:lnTo>
                    <a:pt x="902877" y="393700"/>
                  </a:lnTo>
                  <a:lnTo>
                    <a:pt x="0" y="393700"/>
                  </a:lnTo>
                  <a:close/>
                </a:path>
              </a:pathLst>
            </a:custGeom>
            <a:solidFill>
              <a:srgbClr val="000000">
                <a:alpha val="0"/>
              </a:srgbClr>
            </a:solidFill>
          </p:spPr>
        </p:sp>
        <p:sp>
          <p:nvSpPr>
            <p:cNvPr id="55" name="TextBox 55"/>
            <p:cNvSpPr txBox="1"/>
            <p:nvPr/>
          </p:nvSpPr>
          <p:spPr>
            <a:xfrm>
              <a:off x="0" y="-38100"/>
              <a:ext cx="902877" cy="431800"/>
            </a:xfrm>
            <a:prstGeom prst="rect">
              <a:avLst/>
            </a:prstGeom>
          </p:spPr>
          <p:txBody>
            <a:bodyPr lIns="0" tIns="0" rIns="0" bIns="0" rtlCol="0" anchor="t"/>
            <a:lstStyle/>
            <a:p>
              <a:pPr algn="ctr">
                <a:lnSpc>
                  <a:spcPts val="2165"/>
                </a:lnSpc>
              </a:pPr>
              <a:r>
                <a:rPr lang="en-US" sz="1546" b="1">
                  <a:solidFill>
                    <a:srgbClr val="FFFFFF"/>
                  </a:solidFill>
                  <a:latin typeface="Montserrat Bold"/>
                  <a:ea typeface="Montserrat Bold"/>
                  <a:cs typeface="Montserrat Bold"/>
                  <a:sym typeface="Montserrat Bold"/>
                </a:rPr>
                <a:t>Jun</a:t>
              </a:r>
            </a:p>
          </p:txBody>
        </p:sp>
      </p:grpSp>
      <p:grpSp>
        <p:nvGrpSpPr>
          <p:cNvPr id="56" name="Group 56"/>
          <p:cNvGrpSpPr/>
          <p:nvPr/>
        </p:nvGrpSpPr>
        <p:grpSpPr>
          <a:xfrm>
            <a:off x="13007017" y="3645280"/>
            <a:ext cx="680421" cy="295275"/>
            <a:chOff x="0" y="0"/>
            <a:chExt cx="907228" cy="393700"/>
          </a:xfrm>
        </p:grpSpPr>
        <p:sp>
          <p:nvSpPr>
            <p:cNvPr id="57" name="Freeform 57"/>
            <p:cNvSpPr/>
            <p:nvPr/>
          </p:nvSpPr>
          <p:spPr>
            <a:xfrm>
              <a:off x="0" y="0"/>
              <a:ext cx="907228" cy="393700"/>
            </a:xfrm>
            <a:custGeom>
              <a:avLst/>
              <a:gdLst/>
              <a:ahLst/>
              <a:cxnLst/>
              <a:rect l="l" t="t" r="r" b="b"/>
              <a:pathLst>
                <a:path w="907228" h="393700">
                  <a:moveTo>
                    <a:pt x="0" y="0"/>
                  </a:moveTo>
                  <a:lnTo>
                    <a:pt x="907228" y="0"/>
                  </a:lnTo>
                  <a:lnTo>
                    <a:pt x="907228" y="393700"/>
                  </a:lnTo>
                  <a:lnTo>
                    <a:pt x="0" y="393700"/>
                  </a:lnTo>
                  <a:close/>
                </a:path>
              </a:pathLst>
            </a:custGeom>
            <a:solidFill>
              <a:srgbClr val="000000">
                <a:alpha val="0"/>
              </a:srgbClr>
            </a:solidFill>
          </p:spPr>
        </p:sp>
        <p:sp>
          <p:nvSpPr>
            <p:cNvPr id="58" name="TextBox 58"/>
            <p:cNvSpPr txBox="1"/>
            <p:nvPr/>
          </p:nvSpPr>
          <p:spPr>
            <a:xfrm>
              <a:off x="0" y="-38100"/>
              <a:ext cx="907228" cy="431800"/>
            </a:xfrm>
            <a:prstGeom prst="rect">
              <a:avLst/>
            </a:prstGeom>
          </p:spPr>
          <p:txBody>
            <a:bodyPr lIns="0" tIns="0" rIns="0" bIns="0" rtlCol="0" anchor="t"/>
            <a:lstStyle/>
            <a:p>
              <a:pPr algn="ctr">
                <a:lnSpc>
                  <a:spcPts val="2165"/>
                </a:lnSpc>
              </a:pPr>
              <a:r>
                <a:rPr lang="en-US" sz="1546" b="1">
                  <a:solidFill>
                    <a:srgbClr val="FFFFFF"/>
                  </a:solidFill>
                  <a:latin typeface="Montserrat Bold"/>
                  <a:ea typeface="Montserrat Bold"/>
                  <a:cs typeface="Montserrat Bold"/>
                  <a:sym typeface="Montserrat Bold"/>
                </a:rPr>
                <a:t>Oct</a:t>
              </a:r>
            </a:p>
          </p:txBody>
        </p:sp>
      </p:grpSp>
      <p:grpSp>
        <p:nvGrpSpPr>
          <p:cNvPr id="59" name="Group 59"/>
          <p:cNvGrpSpPr/>
          <p:nvPr/>
        </p:nvGrpSpPr>
        <p:grpSpPr>
          <a:xfrm>
            <a:off x="8189305" y="3645280"/>
            <a:ext cx="671457" cy="295275"/>
            <a:chOff x="0" y="0"/>
            <a:chExt cx="895276" cy="393700"/>
          </a:xfrm>
        </p:grpSpPr>
        <p:sp>
          <p:nvSpPr>
            <p:cNvPr id="60" name="Freeform 60"/>
            <p:cNvSpPr/>
            <p:nvPr/>
          </p:nvSpPr>
          <p:spPr>
            <a:xfrm>
              <a:off x="0" y="0"/>
              <a:ext cx="895276" cy="393700"/>
            </a:xfrm>
            <a:custGeom>
              <a:avLst/>
              <a:gdLst/>
              <a:ahLst/>
              <a:cxnLst/>
              <a:rect l="l" t="t" r="r" b="b"/>
              <a:pathLst>
                <a:path w="895276" h="393700">
                  <a:moveTo>
                    <a:pt x="0" y="0"/>
                  </a:moveTo>
                  <a:lnTo>
                    <a:pt x="895276" y="0"/>
                  </a:lnTo>
                  <a:lnTo>
                    <a:pt x="895276" y="393700"/>
                  </a:lnTo>
                  <a:lnTo>
                    <a:pt x="0" y="393700"/>
                  </a:lnTo>
                  <a:close/>
                </a:path>
              </a:pathLst>
            </a:custGeom>
            <a:solidFill>
              <a:srgbClr val="000000">
                <a:alpha val="0"/>
              </a:srgbClr>
            </a:solidFill>
          </p:spPr>
        </p:sp>
        <p:sp>
          <p:nvSpPr>
            <p:cNvPr id="61" name="TextBox 61"/>
            <p:cNvSpPr txBox="1"/>
            <p:nvPr/>
          </p:nvSpPr>
          <p:spPr>
            <a:xfrm>
              <a:off x="0" y="-38100"/>
              <a:ext cx="895276" cy="431800"/>
            </a:xfrm>
            <a:prstGeom prst="rect">
              <a:avLst/>
            </a:prstGeom>
          </p:spPr>
          <p:txBody>
            <a:bodyPr lIns="0" tIns="0" rIns="0" bIns="0" rtlCol="0" anchor="t"/>
            <a:lstStyle/>
            <a:p>
              <a:pPr algn="ctr">
                <a:lnSpc>
                  <a:spcPts val="2165"/>
                </a:lnSpc>
              </a:pPr>
              <a:r>
                <a:rPr lang="en-US" sz="1546" b="1">
                  <a:solidFill>
                    <a:srgbClr val="FFFFFF"/>
                  </a:solidFill>
                  <a:latin typeface="Montserrat Bold"/>
                  <a:ea typeface="Montserrat Bold"/>
                  <a:cs typeface="Montserrat Bold"/>
                  <a:sym typeface="Montserrat Bold"/>
                </a:rPr>
                <a:t>Mar</a:t>
              </a:r>
            </a:p>
          </p:txBody>
        </p:sp>
      </p:grpSp>
      <p:grpSp>
        <p:nvGrpSpPr>
          <p:cNvPr id="62" name="Group 62"/>
          <p:cNvGrpSpPr/>
          <p:nvPr/>
        </p:nvGrpSpPr>
        <p:grpSpPr>
          <a:xfrm>
            <a:off x="10942284" y="3645280"/>
            <a:ext cx="658978" cy="295275"/>
            <a:chOff x="0" y="0"/>
            <a:chExt cx="878637" cy="393700"/>
          </a:xfrm>
        </p:grpSpPr>
        <p:sp>
          <p:nvSpPr>
            <p:cNvPr id="63" name="Freeform 63"/>
            <p:cNvSpPr/>
            <p:nvPr/>
          </p:nvSpPr>
          <p:spPr>
            <a:xfrm>
              <a:off x="0" y="0"/>
              <a:ext cx="878637" cy="393700"/>
            </a:xfrm>
            <a:custGeom>
              <a:avLst/>
              <a:gdLst/>
              <a:ahLst/>
              <a:cxnLst/>
              <a:rect l="l" t="t" r="r" b="b"/>
              <a:pathLst>
                <a:path w="878637" h="393700">
                  <a:moveTo>
                    <a:pt x="0" y="0"/>
                  </a:moveTo>
                  <a:lnTo>
                    <a:pt x="878637" y="0"/>
                  </a:lnTo>
                  <a:lnTo>
                    <a:pt x="878637" y="393700"/>
                  </a:lnTo>
                  <a:lnTo>
                    <a:pt x="0" y="393700"/>
                  </a:lnTo>
                  <a:close/>
                </a:path>
              </a:pathLst>
            </a:custGeom>
            <a:solidFill>
              <a:srgbClr val="000000">
                <a:alpha val="0"/>
              </a:srgbClr>
            </a:solidFill>
          </p:spPr>
        </p:sp>
        <p:sp>
          <p:nvSpPr>
            <p:cNvPr id="64" name="TextBox 64"/>
            <p:cNvSpPr txBox="1"/>
            <p:nvPr/>
          </p:nvSpPr>
          <p:spPr>
            <a:xfrm>
              <a:off x="0" y="-38100"/>
              <a:ext cx="878637" cy="431800"/>
            </a:xfrm>
            <a:prstGeom prst="rect">
              <a:avLst/>
            </a:prstGeom>
          </p:spPr>
          <p:txBody>
            <a:bodyPr lIns="0" tIns="0" rIns="0" bIns="0" rtlCol="0" anchor="t"/>
            <a:lstStyle/>
            <a:p>
              <a:pPr algn="ctr">
                <a:lnSpc>
                  <a:spcPts val="2165"/>
                </a:lnSpc>
              </a:pPr>
              <a:r>
                <a:rPr lang="en-US" sz="1546" b="1">
                  <a:solidFill>
                    <a:srgbClr val="FFFFFF"/>
                  </a:solidFill>
                  <a:latin typeface="Montserrat Bold"/>
                  <a:ea typeface="Montserrat Bold"/>
                  <a:cs typeface="Montserrat Bold"/>
                  <a:sym typeface="Montserrat Bold"/>
                </a:rPr>
                <a:t>Jul</a:t>
              </a:r>
            </a:p>
          </p:txBody>
        </p:sp>
      </p:grpSp>
      <p:grpSp>
        <p:nvGrpSpPr>
          <p:cNvPr id="65" name="Group 65"/>
          <p:cNvGrpSpPr/>
          <p:nvPr/>
        </p:nvGrpSpPr>
        <p:grpSpPr>
          <a:xfrm>
            <a:off x="13694179" y="3645280"/>
            <a:ext cx="662495" cy="295275"/>
            <a:chOff x="0" y="0"/>
            <a:chExt cx="883327" cy="393700"/>
          </a:xfrm>
        </p:grpSpPr>
        <p:sp>
          <p:nvSpPr>
            <p:cNvPr id="66" name="Freeform 66"/>
            <p:cNvSpPr/>
            <p:nvPr/>
          </p:nvSpPr>
          <p:spPr>
            <a:xfrm>
              <a:off x="0" y="0"/>
              <a:ext cx="883327" cy="393700"/>
            </a:xfrm>
            <a:custGeom>
              <a:avLst/>
              <a:gdLst/>
              <a:ahLst/>
              <a:cxnLst/>
              <a:rect l="l" t="t" r="r" b="b"/>
              <a:pathLst>
                <a:path w="883327" h="393700">
                  <a:moveTo>
                    <a:pt x="0" y="0"/>
                  </a:moveTo>
                  <a:lnTo>
                    <a:pt x="883327" y="0"/>
                  </a:lnTo>
                  <a:lnTo>
                    <a:pt x="883327" y="393700"/>
                  </a:lnTo>
                  <a:lnTo>
                    <a:pt x="0" y="393700"/>
                  </a:lnTo>
                  <a:close/>
                </a:path>
              </a:pathLst>
            </a:custGeom>
            <a:solidFill>
              <a:srgbClr val="000000">
                <a:alpha val="0"/>
              </a:srgbClr>
            </a:solidFill>
          </p:spPr>
        </p:sp>
        <p:sp>
          <p:nvSpPr>
            <p:cNvPr id="67" name="TextBox 67"/>
            <p:cNvSpPr txBox="1"/>
            <p:nvPr/>
          </p:nvSpPr>
          <p:spPr>
            <a:xfrm>
              <a:off x="0" y="-38100"/>
              <a:ext cx="883327" cy="431800"/>
            </a:xfrm>
            <a:prstGeom prst="rect">
              <a:avLst/>
            </a:prstGeom>
          </p:spPr>
          <p:txBody>
            <a:bodyPr lIns="0" tIns="0" rIns="0" bIns="0" rtlCol="0" anchor="t"/>
            <a:lstStyle/>
            <a:p>
              <a:pPr algn="ctr">
                <a:lnSpc>
                  <a:spcPts val="2165"/>
                </a:lnSpc>
              </a:pPr>
              <a:r>
                <a:rPr lang="en-US" sz="1546" b="1">
                  <a:solidFill>
                    <a:srgbClr val="FFFFFF"/>
                  </a:solidFill>
                  <a:latin typeface="Montserrat Bold"/>
                  <a:ea typeface="Montserrat Bold"/>
                  <a:cs typeface="Montserrat Bold"/>
                  <a:sym typeface="Montserrat Bold"/>
                </a:rPr>
                <a:t>Nov</a:t>
              </a:r>
            </a:p>
          </p:txBody>
        </p:sp>
      </p:grpSp>
      <p:grpSp>
        <p:nvGrpSpPr>
          <p:cNvPr id="68" name="Group 68"/>
          <p:cNvGrpSpPr/>
          <p:nvPr/>
        </p:nvGrpSpPr>
        <p:grpSpPr>
          <a:xfrm>
            <a:off x="8877550" y="3645280"/>
            <a:ext cx="686573" cy="295275"/>
            <a:chOff x="0" y="0"/>
            <a:chExt cx="915431" cy="393700"/>
          </a:xfrm>
        </p:grpSpPr>
        <p:sp>
          <p:nvSpPr>
            <p:cNvPr id="69" name="Freeform 69"/>
            <p:cNvSpPr/>
            <p:nvPr/>
          </p:nvSpPr>
          <p:spPr>
            <a:xfrm>
              <a:off x="0" y="0"/>
              <a:ext cx="915431" cy="393700"/>
            </a:xfrm>
            <a:custGeom>
              <a:avLst/>
              <a:gdLst/>
              <a:ahLst/>
              <a:cxnLst/>
              <a:rect l="l" t="t" r="r" b="b"/>
              <a:pathLst>
                <a:path w="915431" h="393700">
                  <a:moveTo>
                    <a:pt x="0" y="0"/>
                  </a:moveTo>
                  <a:lnTo>
                    <a:pt x="915431" y="0"/>
                  </a:lnTo>
                  <a:lnTo>
                    <a:pt x="915431" y="393700"/>
                  </a:lnTo>
                  <a:lnTo>
                    <a:pt x="0" y="393700"/>
                  </a:lnTo>
                  <a:close/>
                </a:path>
              </a:pathLst>
            </a:custGeom>
            <a:solidFill>
              <a:srgbClr val="000000">
                <a:alpha val="0"/>
              </a:srgbClr>
            </a:solidFill>
          </p:spPr>
        </p:sp>
        <p:sp>
          <p:nvSpPr>
            <p:cNvPr id="70" name="TextBox 70"/>
            <p:cNvSpPr txBox="1"/>
            <p:nvPr/>
          </p:nvSpPr>
          <p:spPr>
            <a:xfrm>
              <a:off x="0" y="-38100"/>
              <a:ext cx="915431" cy="431800"/>
            </a:xfrm>
            <a:prstGeom prst="rect">
              <a:avLst/>
            </a:prstGeom>
          </p:spPr>
          <p:txBody>
            <a:bodyPr lIns="0" tIns="0" rIns="0" bIns="0" rtlCol="0" anchor="t"/>
            <a:lstStyle/>
            <a:p>
              <a:pPr algn="ctr">
                <a:lnSpc>
                  <a:spcPts val="2165"/>
                </a:lnSpc>
              </a:pPr>
              <a:r>
                <a:rPr lang="en-US" sz="1546" b="1">
                  <a:solidFill>
                    <a:srgbClr val="FFFFFF"/>
                  </a:solidFill>
                  <a:latin typeface="Montserrat Bold"/>
                  <a:ea typeface="Montserrat Bold"/>
                  <a:cs typeface="Montserrat Bold"/>
                  <a:sym typeface="Montserrat Bold"/>
                </a:rPr>
                <a:t>Apr</a:t>
              </a:r>
            </a:p>
          </p:txBody>
        </p:sp>
      </p:grpSp>
      <p:grpSp>
        <p:nvGrpSpPr>
          <p:cNvPr id="71" name="Group 71"/>
          <p:cNvGrpSpPr/>
          <p:nvPr/>
        </p:nvGrpSpPr>
        <p:grpSpPr>
          <a:xfrm>
            <a:off x="11625503" y="3645280"/>
            <a:ext cx="673178" cy="295275"/>
            <a:chOff x="0" y="0"/>
            <a:chExt cx="897571" cy="393700"/>
          </a:xfrm>
        </p:grpSpPr>
        <p:sp>
          <p:nvSpPr>
            <p:cNvPr id="72" name="Freeform 72"/>
            <p:cNvSpPr/>
            <p:nvPr/>
          </p:nvSpPr>
          <p:spPr>
            <a:xfrm>
              <a:off x="0" y="0"/>
              <a:ext cx="897571" cy="393700"/>
            </a:xfrm>
            <a:custGeom>
              <a:avLst/>
              <a:gdLst/>
              <a:ahLst/>
              <a:cxnLst/>
              <a:rect l="l" t="t" r="r" b="b"/>
              <a:pathLst>
                <a:path w="897571" h="393700">
                  <a:moveTo>
                    <a:pt x="0" y="0"/>
                  </a:moveTo>
                  <a:lnTo>
                    <a:pt x="897571" y="0"/>
                  </a:lnTo>
                  <a:lnTo>
                    <a:pt x="897571" y="393700"/>
                  </a:lnTo>
                  <a:lnTo>
                    <a:pt x="0" y="393700"/>
                  </a:lnTo>
                  <a:close/>
                </a:path>
              </a:pathLst>
            </a:custGeom>
            <a:solidFill>
              <a:srgbClr val="000000">
                <a:alpha val="0"/>
              </a:srgbClr>
            </a:solidFill>
          </p:spPr>
        </p:sp>
        <p:sp>
          <p:nvSpPr>
            <p:cNvPr id="73" name="TextBox 73"/>
            <p:cNvSpPr txBox="1"/>
            <p:nvPr/>
          </p:nvSpPr>
          <p:spPr>
            <a:xfrm>
              <a:off x="0" y="-38100"/>
              <a:ext cx="897571" cy="431800"/>
            </a:xfrm>
            <a:prstGeom prst="rect">
              <a:avLst/>
            </a:prstGeom>
          </p:spPr>
          <p:txBody>
            <a:bodyPr lIns="0" tIns="0" rIns="0" bIns="0" rtlCol="0" anchor="t"/>
            <a:lstStyle/>
            <a:p>
              <a:pPr algn="ctr">
                <a:lnSpc>
                  <a:spcPts val="2165"/>
                </a:lnSpc>
              </a:pPr>
              <a:r>
                <a:rPr lang="en-US" sz="1546" b="1">
                  <a:solidFill>
                    <a:srgbClr val="FFFFFF"/>
                  </a:solidFill>
                  <a:latin typeface="Montserrat Bold"/>
                  <a:ea typeface="Montserrat Bold"/>
                  <a:cs typeface="Montserrat Bold"/>
                  <a:sym typeface="Montserrat Bold"/>
                </a:rPr>
                <a:t>Aug</a:t>
              </a:r>
            </a:p>
          </p:txBody>
        </p:sp>
      </p:grpSp>
      <p:grpSp>
        <p:nvGrpSpPr>
          <p:cNvPr id="74" name="Group 74"/>
          <p:cNvGrpSpPr/>
          <p:nvPr/>
        </p:nvGrpSpPr>
        <p:grpSpPr>
          <a:xfrm>
            <a:off x="14383507" y="3645280"/>
            <a:ext cx="688837" cy="295275"/>
            <a:chOff x="0" y="0"/>
            <a:chExt cx="918449" cy="393700"/>
          </a:xfrm>
        </p:grpSpPr>
        <p:sp>
          <p:nvSpPr>
            <p:cNvPr id="75" name="Freeform 75"/>
            <p:cNvSpPr/>
            <p:nvPr/>
          </p:nvSpPr>
          <p:spPr>
            <a:xfrm>
              <a:off x="0" y="0"/>
              <a:ext cx="918449" cy="393700"/>
            </a:xfrm>
            <a:custGeom>
              <a:avLst/>
              <a:gdLst/>
              <a:ahLst/>
              <a:cxnLst/>
              <a:rect l="l" t="t" r="r" b="b"/>
              <a:pathLst>
                <a:path w="918449" h="393700">
                  <a:moveTo>
                    <a:pt x="0" y="0"/>
                  </a:moveTo>
                  <a:lnTo>
                    <a:pt x="918449" y="0"/>
                  </a:lnTo>
                  <a:lnTo>
                    <a:pt x="918449" y="393700"/>
                  </a:lnTo>
                  <a:lnTo>
                    <a:pt x="0" y="393700"/>
                  </a:lnTo>
                  <a:close/>
                </a:path>
              </a:pathLst>
            </a:custGeom>
            <a:solidFill>
              <a:srgbClr val="000000">
                <a:alpha val="0"/>
              </a:srgbClr>
            </a:solidFill>
          </p:spPr>
        </p:sp>
        <p:sp>
          <p:nvSpPr>
            <p:cNvPr id="76" name="TextBox 76"/>
            <p:cNvSpPr txBox="1"/>
            <p:nvPr/>
          </p:nvSpPr>
          <p:spPr>
            <a:xfrm>
              <a:off x="0" y="-38100"/>
              <a:ext cx="918449" cy="431800"/>
            </a:xfrm>
            <a:prstGeom prst="rect">
              <a:avLst/>
            </a:prstGeom>
          </p:spPr>
          <p:txBody>
            <a:bodyPr lIns="0" tIns="0" rIns="0" bIns="0" rtlCol="0" anchor="t"/>
            <a:lstStyle/>
            <a:p>
              <a:pPr algn="ctr">
                <a:lnSpc>
                  <a:spcPts val="2165"/>
                </a:lnSpc>
              </a:pPr>
              <a:r>
                <a:rPr lang="en-US" sz="1546" b="1">
                  <a:solidFill>
                    <a:srgbClr val="FFFFFF"/>
                  </a:solidFill>
                  <a:latin typeface="Montserrat Bold"/>
                  <a:ea typeface="Montserrat Bold"/>
                  <a:cs typeface="Montserrat Bold"/>
                  <a:sym typeface="Montserrat Bold"/>
                </a:rPr>
                <a:t>Dec</a:t>
              </a:r>
            </a:p>
          </p:txBody>
        </p:sp>
      </p:grpSp>
      <p:grpSp>
        <p:nvGrpSpPr>
          <p:cNvPr id="77" name="Group 77"/>
          <p:cNvGrpSpPr/>
          <p:nvPr/>
        </p:nvGrpSpPr>
        <p:grpSpPr>
          <a:xfrm>
            <a:off x="12892222" y="3035085"/>
            <a:ext cx="2120899" cy="301823"/>
            <a:chOff x="0" y="0"/>
            <a:chExt cx="2827865" cy="402431"/>
          </a:xfrm>
        </p:grpSpPr>
        <p:sp>
          <p:nvSpPr>
            <p:cNvPr id="78" name="Freeform 78"/>
            <p:cNvSpPr/>
            <p:nvPr/>
          </p:nvSpPr>
          <p:spPr>
            <a:xfrm>
              <a:off x="0" y="0"/>
              <a:ext cx="2827865" cy="402431"/>
            </a:xfrm>
            <a:custGeom>
              <a:avLst/>
              <a:gdLst/>
              <a:ahLst/>
              <a:cxnLst/>
              <a:rect l="l" t="t" r="r" b="b"/>
              <a:pathLst>
                <a:path w="2827865" h="402431">
                  <a:moveTo>
                    <a:pt x="0" y="0"/>
                  </a:moveTo>
                  <a:lnTo>
                    <a:pt x="2827865" y="0"/>
                  </a:lnTo>
                  <a:lnTo>
                    <a:pt x="2827865" y="402431"/>
                  </a:lnTo>
                  <a:lnTo>
                    <a:pt x="0" y="402431"/>
                  </a:lnTo>
                  <a:close/>
                </a:path>
              </a:pathLst>
            </a:custGeom>
            <a:solidFill>
              <a:srgbClr val="000000">
                <a:alpha val="0"/>
              </a:srgbClr>
            </a:solidFill>
          </p:spPr>
        </p:sp>
        <p:sp>
          <p:nvSpPr>
            <p:cNvPr id="79" name="TextBox 79"/>
            <p:cNvSpPr txBox="1"/>
            <p:nvPr/>
          </p:nvSpPr>
          <p:spPr>
            <a:xfrm>
              <a:off x="0" y="-28575"/>
              <a:ext cx="2827865" cy="431006"/>
            </a:xfrm>
            <a:prstGeom prst="rect">
              <a:avLst/>
            </a:prstGeom>
          </p:spPr>
          <p:txBody>
            <a:bodyPr lIns="0" tIns="0" rIns="0" bIns="0" rtlCol="0" anchor="t"/>
            <a:lstStyle/>
            <a:p>
              <a:pPr algn="ctr">
                <a:lnSpc>
                  <a:spcPts val="2361"/>
                </a:lnSpc>
              </a:pPr>
              <a:r>
                <a:rPr lang="en-US" sz="1686" b="1" spc="83">
                  <a:solidFill>
                    <a:srgbClr val="FDF7F0"/>
                  </a:solidFill>
                  <a:latin typeface="Montserrat Bold"/>
                  <a:ea typeface="Montserrat Bold"/>
                  <a:cs typeface="Montserrat Bold"/>
                  <a:sym typeface="Montserrat Bold"/>
                </a:rPr>
                <a:t>QUARTER 4</a:t>
              </a:r>
            </a:p>
          </p:txBody>
        </p:sp>
      </p:grpSp>
      <p:grpSp>
        <p:nvGrpSpPr>
          <p:cNvPr id="80" name="Group 80"/>
          <p:cNvGrpSpPr/>
          <p:nvPr/>
        </p:nvGrpSpPr>
        <p:grpSpPr>
          <a:xfrm>
            <a:off x="3314700" y="4094907"/>
            <a:ext cx="3202019" cy="9525"/>
            <a:chOff x="0" y="0"/>
            <a:chExt cx="4269359" cy="12700"/>
          </a:xfrm>
        </p:grpSpPr>
        <p:sp>
          <p:nvSpPr>
            <p:cNvPr id="81" name="Freeform 81"/>
            <p:cNvSpPr/>
            <p:nvPr/>
          </p:nvSpPr>
          <p:spPr>
            <a:xfrm>
              <a:off x="0" y="0"/>
              <a:ext cx="4269359" cy="12700"/>
            </a:xfrm>
            <a:custGeom>
              <a:avLst/>
              <a:gdLst/>
              <a:ahLst/>
              <a:cxnLst/>
              <a:rect l="l" t="t" r="r" b="b"/>
              <a:pathLst>
                <a:path w="4269359" h="12700">
                  <a:moveTo>
                    <a:pt x="0" y="0"/>
                  </a:moveTo>
                  <a:lnTo>
                    <a:pt x="4269359" y="0"/>
                  </a:lnTo>
                  <a:lnTo>
                    <a:pt x="4269359" y="12700"/>
                  </a:lnTo>
                  <a:lnTo>
                    <a:pt x="0" y="12700"/>
                  </a:lnTo>
                  <a:close/>
                </a:path>
              </a:pathLst>
            </a:custGeom>
            <a:solidFill>
              <a:srgbClr val="FFFFFF"/>
            </a:solidFill>
          </p:spPr>
        </p:sp>
      </p:grpSp>
      <p:grpSp>
        <p:nvGrpSpPr>
          <p:cNvPr id="82" name="Group 82"/>
          <p:cNvGrpSpPr/>
          <p:nvPr/>
        </p:nvGrpSpPr>
        <p:grpSpPr>
          <a:xfrm>
            <a:off x="3948143" y="8016172"/>
            <a:ext cx="1642157" cy="301823"/>
            <a:chOff x="0" y="0"/>
            <a:chExt cx="2189543" cy="402431"/>
          </a:xfrm>
        </p:grpSpPr>
        <p:sp>
          <p:nvSpPr>
            <p:cNvPr id="83" name="Freeform 83"/>
            <p:cNvSpPr/>
            <p:nvPr/>
          </p:nvSpPr>
          <p:spPr>
            <a:xfrm>
              <a:off x="0" y="0"/>
              <a:ext cx="2189543" cy="402431"/>
            </a:xfrm>
            <a:custGeom>
              <a:avLst/>
              <a:gdLst/>
              <a:ahLst/>
              <a:cxnLst/>
              <a:rect l="l" t="t" r="r" b="b"/>
              <a:pathLst>
                <a:path w="2189543" h="402431">
                  <a:moveTo>
                    <a:pt x="0" y="0"/>
                  </a:moveTo>
                  <a:lnTo>
                    <a:pt x="2189543" y="0"/>
                  </a:lnTo>
                  <a:lnTo>
                    <a:pt x="2189543" y="402431"/>
                  </a:lnTo>
                  <a:lnTo>
                    <a:pt x="0" y="402431"/>
                  </a:lnTo>
                  <a:close/>
                </a:path>
              </a:pathLst>
            </a:custGeom>
            <a:solidFill>
              <a:srgbClr val="000000">
                <a:alpha val="0"/>
              </a:srgbClr>
            </a:solidFill>
          </p:spPr>
        </p:sp>
        <p:sp>
          <p:nvSpPr>
            <p:cNvPr id="84" name="TextBox 84"/>
            <p:cNvSpPr txBox="1"/>
            <p:nvPr/>
          </p:nvSpPr>
          <p:spPr>
            <a:xfrm>
              <a:off x="0" y="-28575"/>
              <a:ext cx="2189543" cy="431006"/>
            </a:xfrm>
            <a:prstGeom prst="rect">
              <a:avLst/>
            </a:prstGeom>
          </p:spPr>
          <p:txBody>
            <a:bodyPr lIns="0" tIns="0" rIns="0" bIns="0" rtlCol="0" anchor="t"/>
            <a:lstStyle/>
            <a:p>
              <a:pPr algn="l">
                <a:lnSpc>
                  <a:spcPts val="2361"/>
                </a:lnSpc>
              </a:pPr>
              <a:r>
                <a:rPr lang="en-US" sz="1686">
                  <a:solidFill>
                    <a:srgbClr val="FFFFFF"/>
                  </a:solidFill>
                  <a:latin typeface="Montserrat"/>
                  <a:ea typeface="Montserrat"/>
                  <a:cs typeface="Montserrat"/>
                  <a:sym typeface="Montserrat"/>
                </a:rPr>
                <a:t>Field Survey</a:t>
              </a:r>
            </a:p>
          </p:txBody>
        </p:sp>
      </p:grpSp>
      <p:grpSp>
        <p:nvGrpSpPr>
          <p:cNvPr id="85" name="Group 85"/>
          <p:cNvGrpSpPr/>
          <p:nvPr/>
        </p:nvGrpSpPr>
        <p:grpSpPr>
          <a:xfrm>
            <a:off x="3948143" y="6529202"/>
            <a:ext cx="1642157" cy="301823"/>
            <a:chOff x="0" y="0"/>
            <a:chExt cx="2189543" cy="402431"/>
          </a:xfrm>
        </p:grpSpPr>
        <p:sp>
          <p:nvSpPr>
            <p:cNvPr id="86" name="Freeform 86"/>
            <p:cNvSpPr/>
            <p:nvPr/>
          </p:nvSpPr>
          <p:spPr>
            <a:xfrm>
              <a:off x="0" y="0"/>
              <a:ext cx="2189543" cy="402431"/>
            </a:xfrm>
            <a:custGeom>
              <a:avLst/>
              <a:gdLst/>
              <a:ahLst/>
              <a:cxnLst/>
              <a:rect l="l" t="t" r="r" b="b"/>
              <a:pathLst>
                <a:path w="2189543" h="402431">
                  <a:moveTo>
                    <a:pt x="0" y="0"/>
                  </a:moveTo>
                  <a:lnTo>
                    <a:pt x="2189543" y="0"/>
                  </a:lnTo>
                  <a:lnTo>
                    <a:pt x="2189543" y="402431"/>
                  </a:lnTo>
                  <a:lnTo>
                    <a:pt x="0" y="402431"/>
                  </a:lnTo>
                  <a:close/>
                </a:path>
              </a:pathLst>
            </a:custGeom>
            <a:solidFill>
              <a:srgbClr val="000000">
                <a:alpha val="0"/>
              </a:srgbClr>
            </a:solidFill>
          </p:spPr>
        </p:sp>
        <p:sp>
          <p:nvSpPr>
            <p:cNvPr id="87" name="TextBox 87"/>
            <p:cNvSpPr txBox="1"/>
            <p:nvPr/>
          </p:nvSpPr>
          <p:spPr>
            <a:xfrm>
              <a:off x="0" y="-28575"/>
              <a:ext cx="2189543" cy="431006"/>
            </a:xfrm>
            <a:prstGeom prst="rect">
              <a:avLst/>
            </a:prstGeom>
          </p:spPr>
          <p:txBody>
            <a:bodyPr lIns="0" tIns="0" rIns="0" bIns="0" rtlCol="0" anchor="t"/>
            <a:lstStyle/>
            <a:p>
              <a:pPr algn="l">
                <a:lnSpc>
                  <a:spcPts val="2361"/>
                </a:lnSpc>
              </a:pPr>
              <a:r>
                <a:rPr lang="en-US" sz="1686">
                  <a:solidFill>
                    <a:srgbClr val="FFFFFF"/>
                  </a:solidFill>
                  <a:latin typeface="Montserrat"/>
                  <a:ea typeface="Montserrat"/>
                  <a:cs typeface="Montserrat"/>
                  <a:sym typeface="Montserrat"/>
                </a:rPr>
                <a:t>Methodology </a:t>
              </a:r>
            </a:p>
          </p:txBody>
        </p:sp>
      </p:grpSp>
      <p:grpSp>
        <p:nvGrpSpPr>
          <p:cNvPr id="88" name="Group 88"/>
          <p:cNvGrpSpPr/>
          <p:nvPr/>
        </p:nvGrpSpPr>
        <p:grpSpPr>
          <a:xfrm>
            <a:off x="3948143" y="5785716"/>
            <a:ext cx="1642157" cy="596503"/>
            <a:chOff x="0" y="0"/>
            <a:chExt cx="2189543" cy="795338"/>
          </a:xfrm>
        </p:grpSpPr>
        <p:sp>
          <p:nvSpPr>
            <p:cNvPr id="89" name="Freeform 89"/>
            <p:cNvSpPr/>
            <p:nvPr/>
          </p:nvSpPr>
          <p:spPr>
            <a:xfrm>
              <a:off x="0" y="0"/>
              <a:ext cx="2189543" cy="795338"/>
            </a:xfrm>
            <a:custGeom>
              <a:avLst/>
              <a:gdLst/>
              <a:ahLst/>
              <a:cxnLst/>
              <a:rect l="l" t="t" r="r" b="b"/>
              <a:pathLst>
                <a:path w="2189543" h="795338">
                  <a:moveTo>
                    <a:pt x="0" y="0"/>
                  </a:moveTo>
                  <a:lnTo>
                    <a:pt x="2189543" y="0"/>
                  </a:lnTo>
                  <a:lnTo>
                    <a:pt x="2189543" y="795338"/>
                  </a:lnTo>
                  <a:lnTo>
                    <a:pt x="0" y="795338"/>
                  </a:lnTo>
                  <a:close/>
                </a:path>
              </a:pathLst>
            </a:custGeom>
            <a:solidFill>
              <a:srgbClr val="000000">
                <a:alpha val="0"/>
              </a:srgbClr>
            </a:solidFill>
          </p:spPr>
        </p:sp>
        <p:sp>
          <p:nvSpPr>
            <p:cNvPr id="90" name="TextBox 90"/>
            <p:cNvSpPr txBox="1"/>
            <p:nvPr/>
          </p:nvSpPr>
          <p:spPr>
            <a:xfrm>
              <a:off x="0" y="-28575"/>
              <a:ext cx="2189543" cy="823913"/>
            </a:xfrm>
            <a:prstGeom prst="rect">
              <a:avLst/>
            </a:prstGeom>
          </p:spPr>
          <p:txBody>
            <a:bodyPr lIns="0" tIns="0" rIns="0" bIns="0" rtlCol="0" anchor="t"/>
            <a:lstStyle/>
            <a:p>
              <a:pPr algn="l">
                <a:lnSpc>
                  <a:spcPts val="2361"/>
                </a:lnSpc>
              </a:pPr>
              <a:r>
                <a:rPr lang="en-US" sz="1686">
                  <a:solidFill>
                    <a:srgbClr val="FFFFFF"/>
                  </a:solidFill>
                  <a:latin typeface="Montserrat"/>
                  <a:ea typeface="Montserrat"/>
                  <a:cs typeface="Montserrat"/>
                  <a:sym typeface="Montserrat"/>
                </a:rPr>
                <a:t>Literature review </a:t>
              </a:r>
            </a:p>
          </p:txBody>
        </p:sp>
      </p:grpSp>
      <p:grpSp>
        <p:nvGrpSpPr>
          <p:cNvPr id="91" name="Group 91"/>
          <p:cNvGrpSpPr/>
          <p:nvPr/>
        </p:nvGrpSpPr>
        <p:grpSpPr>
          <a:xfrm>
            <a:off x="3948143" y="5042231"/>
            <a:ext cx="1496896" cy="301823"/>
            <a:chOff x="0" y="0"/>
            <a:chExt cx="1995861" cy="402431"/>
          </a:xfrm>
        </p:grpSpPr>
        <p:sp>
          <p:nvSpPr>
            <p:cNvPr id="92" name="Freeform 92"/>
            <p:cNvSpPr/>
            <p:nvPr/>
          </p:nvSpPr>
          <p:spPr>
            <a:xfrm>
              <a:off x="0" y="0"/>
              <a:ext cx="1995861" cy="402431"/>
            </a:xfrm>
            <a:custGeom>
              <a:avLst/>
              <a:gdLst/>
              <a:ahLst/>
              <a:cxnLst/>
              <a:rect l="l" t="t" r="r" b="b"/>
              <a:pathLst>
                <a:path w="1995861" h="402431">
                  <a:moveTo>
                    <a:pt x="0" y="0"/>
                  </a:moveTo>
                  <a:lnTo>
                    <a:pt x="1995861" y="0"/>
                  </a:lnTo>
                  <a:lnTo>
                    <a:pt x="1995861" y="402431"/>
                  </a:lnTo>
                  <a:lnTo>
                    <a:pt x="0" y="402431"/>
                  </a:lnTo>
                  <a:close/>
                </a:path>
              </a:pathLst>
            </a:custGeom>
            <a:solidFill>
              <a:srgbClr val="000000">
                <a:alpha val="0"/>
              </a:srgbClr>
            </a:solidFill>
          </p:spPr>
        </p:sp>
        <p:sp>
          <p:nvSpPr>
            <p:cNvPr id="93" name="TextBox 93"/>
            <p:cNvSpPr txBox="1"/>
            <p:nvPr/>
          </p:nvSpPr>
          <p:spPr>
            <a:xfrm>
              <a:off x="0" y="-28575"/>
              <a:ext cx="1995861" cy="431006"/>
            </a:xfrm>
            <a:prstGeom prst="rect">
              <a:avLst/>
            </a:prstGeom>
          </p:spPr>
          <p:txBody>
            <a:bodyPr lIns="0" tIns="0" rIns="0" bIns="0" rtlCol="0" anchor="t"/>
            <a:lstStyle/>
            <a:p>
              <a:pPr algn="l">
                <a:lnSpc>
                  <a:spcPts val="2361"/>
                </a:lnSpc>
              </a:pPr>
              <a:r>
                <a:rPr lang="en-US" sz="1686">
                  <a:solidFill>
                    <a:srgbClr val="FFFFFF"/>
                  </a:solidFill>
                  <a:latin typeface="Montserrat"/>
                  <a:ea typeface="Montserrat"/>
                  <a:cs typeface="Montserrat"/>
                  <a:sym typeface="Montserrat"/>
                </a:rPr>
                <a:t>Procurement </a:t>
              </a:r>
            </a:p>
          </p:txBody>
        </p:sp>
      </p:grpSp>
      <p:grpSp>
        <p:nvGrpSpPr>
          <p:cNvPr id="94" name="Group 94"/>
          <p:cNvGrpSpPr/>
          <p:nvPr/>
        </p:nvGrpSpPr>
        <p:grpSpPr>
          <a:xfrm>
            <a:off x="3948143" y="4298746"/>
            <a:ext cx="1642157" cy="301823"/>
            <a:chOff x="0" y="0"/>
            <a:chExt cx="2189543" cy="402431"/>
          </a:xfrm>
        </p:grpSpPr>
        <p:sp>
          <p:nvSpPr>
            <p:cNvPr id="95" name="Freeform 95"/>
            <p:cNvSpPr/>
            <p:nvPr/>
          </p:nvSpPr>
          <p:spPr>
            <a:xfrm>
              <a:off x="0" y="0"/>
              <a:ext cx="2189543" cy="402431"/>
            </a:xfrm>
            <a:custGeom>
              <a:avLst/>
              <a:gdLst/>
              <a:ahLst/>
              <a:cxnLst/>
              <a:rect l="l" t="t" r="r" b="b"/>
              <a:pathLst>
                <a:path w="2189543" h="402431">
                  <a:moveTo>
                    <a:pt x="0" y="0"/>
                  </a:moveTo>
                  <a:lnTo>
                    <a:pt x="2189543" y="0"/>
                  </a:lnTo>
                  <a:lnTo>
                    <a:pt x="2189543" y="402431"/>
                  </a:lnTo>
                  <a:lnTo>
                    <a:pt x="0" y="402431"/>
                  </a:lnTo>
                  <a:close/>
                </a:path>
              </a:pathLst>
            </a:custGeom>
            <a:solidFill>
              <a:srgbClr val="000000">
                <a:alpha val="0"/>
              </a:srgbClr>
            </a:solidFill>
          </p:spPr>
        </p:sp>
        <p:sp>
          <p:nvSpPr>
            <p:cNvPr id="96" name="TextBox 96"/>
            <p:cNvSpPr txBox="1"/>
            <p:nvPr/>
          </p:nvSpPr>
          <p:spPr>
            <a:xfrm>
              <a:off x="0" y="-28575"/>
              <a:ext cx="2189543" cy="431006"/>
            </a:xfrm>
            <a:prstGeom prst="rect">
              <a:avLst/>
            </a:prstGeom>
          </p:spPr>
          <p:txBody>
            <a:bodyPr lIns="0" tIns="0" rIns="0" bIns="0" rtlCol="0" anchor="t"/>
            <a:lstStyle/>
            <a:p>
              <a:pPr algn="l">
                <a:lnSpc>
                  <a:spcPts val="2361"/>
                </a:lnSpc>
              </a:pPr>
              <a:r>
                <a:rPr lang="en-US" sz="1686">
                  <a:solidFill>
                    <a:srgbClr val="FFFFFF"/>
                  </a:solidFill>
                  <a:latin typeface="Montserrat"/>
                  <a:ea typeface="Montserrat"/>
                  <a:cs typeface="Montserrat"/>
                  <a:sym typeface="Montserrat"/>
                </a:rPr>
                <a:t>Planning</a:t>
              </a:r>
            </a:p>
          </p:txBody>
        </p:sp>
      </p:grpSp>
      <p:grpSp>
        <p:nvGrpSpPr>
          <p:cNvPr id="97" name="Group 97"/>
          <p:cNvGrpSpPr/>
          <p:nvPr/>
        </p:nvGrpSpPr>
        <p:grpSpPr>
          <a:xfrm>
            <a:off x="3948143" y="8741908"/>
            <a:ext cx="1496896" cy="301823"/>
            <a:chOff x="0" y="0"/>
            <a:chExt cx="1995861" cy="402431"/>
          </a:xfrm>
        </p:grpSpPr>
        <p:sp>
          <p:nvSpPr>
            <p:cNvPr id="98" name="Freeform 98"/>
            <p:cNvSpPr/>
            <p:nvPr/>
          </p:nvSpPr>
          <p:spPr>
            <a:xfrm>
              <a:off x="0" y="0"/>
              <a:ext cx="1995861" cy="402431"/>
            </a:xfrm>
            <a:custGeom>
              <a:avLst/>
              <a:gdLst/>
              <a:ahLst/>
              <a:cxnLst/>
              <a:rect l="l" t="t" r="r" b="b"/>
              <a:pathLst>
                <a:path w="1995861" h="402431">
                  <a:moveTo>
                    <a:pt x="0" y="0"/>
                  </a:moveTo>
                  <a:lnTo>
                    <a:pt x="1995861" y="0"/>
                  </a:lnTo>
                  <a:lnTo>
                    <a:pt x="1995861" y="402431"/>
                  </a:lnTo>
                  <a:lnTo>
                    <a:pt x="0" y="402431"/>
                  </a:lnTo>
                  <a:close/>
                </a:path>
              </a:pathLst>
            </a:custGeom>
            <a:solidFill>
              <a:srgbClr val="000000">
                <a:alpha val="0"/>
              </a:srgbClr>
            </a:solidFill>
          </p:spPr>
        </p:sp>
        <p:sp>
          <p:nvSpPr>
            <p:cNvPr id="99" name="TextBox 99"/>
            <p:cNvSpPr txBox="1"/>
            <p:nvPr/>
          </p:nvSpPr>
          <p:spPr>
            <a:xfrm>
              <a:off x="0" y="-28575"/>
              <a:ext cx="1995861" cy="431006"/>
            </a:xfrm>
            <a:prstGeom prst="rect">
              <a:avLst/>
            </a:prstGeom>
          </p:spPr>
          <p:txBody>
            <a:bodyPr lIns="0" tIns="0" rIns="0" bIns="0" rtlCol="0" anchor="t"/>
            <a:lstStyle/>
            <a:p>
              <a:pPr algn="l">
                <a:lnSpc>
                  <a:spcPts val="2361"/>
                </a:lnSpc>
              </a:pPr>
              <a:r>
                <a:rPr lang="en-US" sz="1686">
                  <a:solidFill>
                    <a:srgbClr val="FFFFFF"/>
                  </a:solidFill>
                  <a:latin typeface="Montserrat"/>
                  <a:ea typeface="Montserrat"/>
                  <a:cs typeface="Montserrat"/>
                  <a:sym typeface="Montserrat"/>
                </a:rPr>
                <a:t>Reporting</a:t>
              </a:r>
            </a:p>
          </p:txBody>
        </p:sp>
      </p:grpSp>
      <p:grpSp>
        <p:nvGrpSpPr>
          <p:cNvPr id="100" name="Group 100"/>
          <p:cNvGrpSpPr/>
          <p:nvPr/>
        </p:nvGrpSpPr>
        <p:grpSpPr>
          <a:xfrm>
            <a:off x="3948143" y="7272687"/>
            <a:ext cx="1642157" cy="301823"/>
            <a:chOff x="0" y="0"/>
            <a:chExt cx="2189543" cy="402431"/>
          </a:xfrm>
        </p:grpSpPr>
        <p:sp>
          <p:nvSpPr>
            <p:cNvPr id="101" name="Freeform 101"/>
            <p:cNvSpPr/>
            <p:nvPr/>
          </p:nvSpPr>
          <p:spPr>
            <a:xfrm>
              <a:off x="0" y="0"/>
              <a:ext cx="2189543" cy="402431"/>
            </a:xfrm>
            <a:custGeom>
              <a:avLst/>
              <a:gdLst/>
              <a:ahLst/>
              <a:cxnLst/>
              <a:rect l="l" t="t" r="r" b="b"/>
              <a:pathLst>
                <a:path w="2189543" h="402431">
                  <a:moveTo>
                    <a:pt x="0" y="0"/>
                  </a:moveTo>
                  <a:lnTo>
                    <a:pt x="2189543" y="0"/>
                  </a:lnTo>
                  <a:lnTo>
                    <a:pt x="2189543" y="402431"/>
                  </a:lnTo>
                  <a:lnTo>
                    <a:pt x="0" y="402431"/>
                  </a:lnTo>
                  <a:close/>
                </a:path>
              </a:pathLst>
            </a:custGeom>
            <a:solidFill>
              <a:srgbClr val="000000">
                <a:alpha val="0"/>
              </a:srgbClr>
            </a:solidFill>
          </p:spPr>
        </p:sp>
        <p:sp>
          <p:nvSpPr>
            <p:cNvPr id="102" name="TextBox 102"/>
            <p:cNvSpPr txBox="1"/>
            <p:nvPr/>
          </p:nvSpPr>
          <p:spPr>
            <a:xfrm>
              <a:off x="0" y="-28575"/>
              <a:ext cx="2189543" cy="431006"/>
            </a:xfrm>
            <a:prstGeom prst="rect">
              <a:avLst/>
            </a:prstGeom>
          </p:spPr>
          <p:txBody>
            <a:bodyPr lIns="0" tIns="0" rIns="0" bIns="0" rtlCol="0" anchor="t"/>
            <a:lstStyle/>
            <a:p>
              <a:pPr algn="l">
                <a:lnSpc>
                  <a:spcPts val="2361"/>
                </a:lnSpc>
              </a:pPr>
              <a:r>
                <a:rPr lang="en-US" sz="1686">
                  <a:solidFill>
                    <a:srgbClr val="FFFFFF"/>
                  </a:solidFill>
                  <a:latin typeface="Montserrat"/>
                  <a:ea typeface="Montserrat"/>
                  <a:cs typeface="Montserrat"/>
                  <a:sym typeface="Montserrat"/>
                </a:rPr>
                <a:t>Questionnaire </a:t>
              </a:r>
            </a:p>
          </p:txBody>
        </p:sp>
      </p:grpSp>
      <p:grpSp>
        <p:nvGrpSpPr>
          <p:cNvPr id="103" name="Group 103"/>
          <p:cNvGrpSpPr/>
          <p:nvPr/>
        </p:nvGrpSpPr>
        <p:grpSpPr>
          <a:xfrm>
            <a:off x="3948143" y="3283287"/>
            <a:ext cx="2375118" cy="454920"/>
            <a:chOff x="0" y="0"/>
            <a:chExt cx="3166824" cy="606561"/>
          </a:xfrm>
        </p:grpSpPr>
        <p:sp>
          <p:nvSpPr>
            <p:cNvPr id="104" name="Freeform 104"/>
            <p:cNvSpPr/>
            <p:nvPr/>
          </p:nvSpPr>
          <p:spPr>
            <a:xfrm>
              <a:off x="0" y="0"/>
              <a:ext cx="3166824" cy="606561"/>
            </a:xfrm>
            <a:custGeom>
              <a:avLst/>
              <a:gdLst/>
              <a:ahLst/>
              <a:cxnLst/>
              <a:rect l="l" t="t" r="r" b="b"/>
              <a:pathLst>
                <a:path w="3166824" h="606561">
                  <a:moveTo>
                    <a:pt x="0" y="0"/>
                  </a:moveTo>
                  <a:lnTo>
                    <a:pt x="3166824" y="0"/>
                  </a:lnTo>
                  <a:lnTo>
                    <a:pt x="3166824" y="606561"/>
                  </a:lnTo>
                  <a:lnTo>
                    <a:pt x="0" y="606561"/>
                  </a:lnTo>
                  <a:close/>
                </a:path>
              </a:pathLst>
            </a:custGeom>
            <a:solidFill>
              <a:srgbClr val="000000">
                <a:alpha val="0"/>
              </a:srgbClr>
            </a:solidFill>
          </p:spPr>
        </p:sp>
        <p:sp>
          <p:nvSpPr>
            <p:cNvPr id="105" name="TextBox 105"/>
            <p:cNvSpPr txBox="1"/>
            <p:nvPr/>
          </p:nvSpPr>
          <p:spPr>
            <a:xfrm>
              <a:off x="0" y="-57150"/>
              <a:ext cx="3166824" cy="663711"/>
            </a:xfrm>
            <a:prstGeom prst="rect">
              <a:avLst/>
            </a:prstGeom>
          </p:spPr>
          <p:txBody>
            <a:bodyPr lIns="0" tIns="0" rIns="0" bIns="0" rtlCol="0" anchor="t"/>
            <a:lstStyle/>
            <a:p>
              <a:pPr algn="l">
                <a:lnSpc>
                  <a:spcPts val="3324"/>
                </a:lnSpc>
              </a:pPr>
              <a:r>
                <a:rPr lang="en-US" sz="2374" b="1" spc="638">
                  <a:solidFill>
                    <a:srgbClr val="DC6140"/>
                  </a:solidFill>
                  <a:latin typeface="Montserrat Bold"/>
                  <a:ea typeface="Montserrat Bold"/>
                  <a:cs typeface="Montserrat Bold"/>
                  <a:sym typeface="Montserrat Bold"/>
                </a:rPr>
                <a:t>PROCESS</a:t>
              </a:r>
            </a:p>
          </p:txBody>
        </p:sp>
      </p:grpSp>
      <p:grpSp>
        <p:nvGrpSpPr>
          <p:cNvPr id="106" name="Group 106"/>
          <p:cNvGrpSpPr/>
          <p:nvPr/>
        </p:nvGrpSpPr>
        <p:grpSpPr>
          <a:xfrm>
            <a:off x="3314700" y="2932994"/>
            <a:ext cx="3202019" cy="9525"/>
            <a:chOff x="0" y="0"/>
            <a:chExt cx="4269359" cy="12700"/>
          </a:xfrm>
        </p:grpSpPr>
        <p:sp>
          <p:nvSpPr>
            <p:cNvPr id="107" name="Freeform 107"/>
            <p:cNvSpPr/>
            <p:nvPr/>
          </p:nvSpPr>
          <p:spPr>
            <a:xfrm>
              <a:off x="0" y="0"/>
              <a:ext cx="4269359" cy="12700"/>
            </a:xfrm>
            <a:custGeom>
              <a:avLst/>
              <a:gdLst/>
              <a:ahLst/>
              <a:cxnLst/>
              <a:rect l="l" t="t" r="r" b="b"/>
              <a:pathLst>
                <a:path w="4269359" h="12700">
                  <a:moveTo>
                    <a:pt x="0" y="0"/>
                  </a:moveTo>
                  <a:lnTo>
                    <a:pt x="4269359" y="0"/>
                  </a:lnTo>
                  <a:lnTo>
                    <a:pt x="4269359" y="12700"/>
                  </a:lnTo>
                  <a:lnTo>
                    <a:pt x="0" y="12700"/>
                  </a:lnTo>
                  <a:close/>
                </a:path>
              </a:pathLst>
            </a:custGeom>
            <a:solidFill>
              <a:srgbClr val="FFFFFF"/>
            </a:solidFill>
          </p:spPr>
        </p:sp>
      </p:grpSp>
      <p:grpSp>
        <p:nvGrpSpPr>
          <p:cNvPr id="108" name="Group 108"/>
          <p:cNvGrpSpPr/>
          <p:nvPr/>
        </p:nvGrpSpPr>
        <p:grpSpPr>
          <a:xfrm>
            <a:off x="6033050" y="709800"/>
            <a:ext cx="5238723" cy="942082"/>
            <a:chOff x="0" y="0"/>
            <a:chExt cx="6984964" cy="1256109"/>
          </a:xfrm>
        </p:grpSpPr>
        <p:sp>
          <p:nvSpPr>
            <p:cNvPr id="109" name="Freeform 109"/>
            <p:cNvSpPr/>
            <p:nvPr/>
          </p:nvSpPr>
          <p:spPr>
            <a:xfrm>
              <a:off x="0" y="0"/>
              <a:ext cx="6984964" cy="1256109"/>
            </a:xfrm>
            <a:custGeom>
              <a:avLst/>
              <a:gdLst/>
              <a:ahLst/>
              <a:cxnLst/>
              <a:rect l="l" t="t" r="r" b="b"/>
              <a:pathLst>
                <a:path w="6984964" h="1256109">
                  <a:moveTo>
                    <a:pt x="0" y="0"/>
                  </a:moveTo>
                  <a:lnTo>
                    <a:pt x="6984964" y="0"/>
                  </a:lnTo>
                  <a:lnTo>
                    <a:pt x="6984964" y="1256109"/>
                  </a:lnTo>
                  <a:lnTo>
                    <a:pt x="0" y="1256109"/>
                  </a:lnTo>
                  <a:close/>
                </a:path>
              </a:pathLst>
            </a:custGeom>
            <a:solidFill>
              <a:srgbClr val="000000">
                <a:alpha val="0"/>
              </a:srgbClr>
            </a:solidFill>
          </p:spPr>
        </p:sp>
        <p:sp>
          <p:nvSpPr>
            <p:cNvPr id="110" name="TextBox 110"/>
            <p:cNvSpPr txBox="1"/>
            <p:nvPr/>
          </p:nvSpPr>
          <p:spPr>
            <a:xfrm>
              <a:off x="0" y="-85725"/>
              <a:ext cx="6984964" cy="1341834"/>
            </a:xfrm>
            <a:prstGeom prst="rect">
              <a:avLst/>
            </a:prstGeom>
          </p:spPr>
          <p:txBody>
            <a:bodyPr lIns="0" tIns="0" rIns="0" bIns="0" rtlCol="0" anchor="t"/>
            <a:lstStyle/>
            <a:p>
              <a:pPr algn="r">
                <a:lnSpc>
                  <a:spcPts val="7284"/>
                </a:lnSpc>
              </a:pPr>
              <a:r>
                <a:rPr lang="en-US" sz="5203" b="1" spc="858">
                  <a:solidFill>
                    <a:srgbClr val="DC6140"/>
                  </a:solidFill>
                  <a:latin typeface="Montserrat Bold"/>
                  <a:ea typeface="Montserrat Bold"/>
                  <a:cs typeface="Montserrat Bold"/>
                  <a:sym typeface="Montserrat Bold"/>
                </a:rPr>
                <a:t>Gantt Chart</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14433615" y="5839830"/>
            <a:ext cx="5114584" cy="5142635"/>
          </a:xfrm>
          <a:custGeom>
            <a:avLst/>
            <a:gdLst/>
            <a:ahLst/>
            <a:cxnLst/>
            <a:rect l="l" t="t" r="r" b="b"/>
            <a:pathLst>
              <a:path w="5114584" h="5142635">
                <a:moveTo>
                  <a:pt x="0" y="0"/>
                </a:moveTo>
                <a:lnTo>
                  <a:pt x="5114584" y="0"/>
                </a:lnTo>
                <a:lnTo>
                  <a:pt x="5114584" y="5142635"/>
                </a:lnTo>
                <a:lnTo>
                  <a:pt x="0" y="5142635"/>
                </a:lnTo>
                <a:lnTo>
                  <a:pt x="0" y="0"/>
                </a:lnTo>
                <a:close/>
              </a:path>
            </a:pathLst>
          </a:custGeom>
          <a:blipFill>
            <a:blip r:embed="rId2">
              <a:extLst>
                <a:ext uri="{96DAC541-7B7A-43D3-8B79-37D633B846F1}">
                  <asvg:svgBlip xmlns:asvg="http://schemas.microsoft.com/office/drawing/2016/SVG/main" r:embed="rId3"/>
                </a:ext>
              </a:extLst>
            </a:blip>
            <a:stretch>
              <a:fillRect l="-181" r="-181"/>
            </a:stretch>
          </a:blipFill>
        </p:spPr>
      </p:sp>
      <p:sp>
        <p:nvSpPr>
          <p:cNvPr id="3" name="Freeform 3"/>
          <p:cNvSpPr/>
          <p:nvPr/>
        </p:nvSpPr>
        <p:spPr>
          <a:xfrm rot="-5400000" flipV="1">
            <a:off x="16780859" y="6318214"/>
            <a:ext cx="2450438" cy="4185866"/>
          </a:xfrm>
          <a:custGeom>
            <a:avLst/>
            <a:gdLst/>
            <a:ahLst/>
            <a:cxnLst/>
            <a:rect l="l" t="t" r="r" b="b"/>
            <a:pathLst>
              <a:path w="2450438" h="4185866">
                <a:moveTo>
                  <a:pt x="0" y="4185866"/>
                </a:moveTo>
                <a:lnTo>
                  <a:pt x="2450438" y="4185866"/>
                </a:lnTo>
                <a:lnTo>
                  <a:pt x="2450438" y="0"/>
                </a:lnTo>
                <a:lnTo>
                  <a:pt x="0" y="0"/>
                </a:lnTo>
                <a:lnTo>
                  <a:pt x="0" y="4185866"/>
                </a:lnTo>
                <a:close/>
              </a:path>
            </a:pathLst>
          </a:custGeom>
          <a:blipFill>
            <a:blip r:embed="rId4">
              <a:extLst>
                <a:ext uri="{96DAC541-7B7A-43D3-8B79-37D633B846F1}">
                  <asvg:svgBlip xmlns:asvg="http://schemas.microsoft.com/office/drawing/2016/SVG/main" r:embed="rId5"/>
                </a:ext>
              </a:extLst>
            </a:blip>
            <a:stretch>
              <a:fillRect l="-81" r="-81"/>
            </a:stretch>
          </a:blipFill>
        </p:spPr>
      </p:sp>
      <p:sp>
        <p:nvSpPr>
          <p:cNvPr id="4" name="Freeform 4"/>
          <p:cNvSpPr/>
          <p:nvPr/>
        </p:nvSpPr>
        <p:spPr>
          <a:xfrm rot="-5400000">
            <a:off x="15413013" y="4691241"/>
            <a:ext cx="2909455" cy="1433567"/>
          </a:xfrm>
          <a:custGeom>
            <a:avLst/>
            <a:gdLst/>
            <a:ahLst/>
            <a:cxnLst/>
            <a:rect l="l" t="t" r="r" b="b"/>
            <a:pathLst>
              <a:path w="2909455" h="1433567">
                <a:moveTo>
                  <a:pt x="0" y="0"/>
                </a:moveTo>
                <a:lnTo>
                  <a:pt x="2909455" y="0"/>
                </a:lnTo>
                <a:lnTo>
                  <a:pt x="2909455" y="1433567"/>
                </a:lnTo>
                <a:lnTo>
                  <a:pt x="0" y="1433567"/>
                </a:lnTo>
                <a:lnTo>
                  <a:pt x="0" y="0"/>
                </a:lnTo>
                <a:close/>
              </a:path>
            </a:pathLst>
          </a:custGeom>
          <a:blipFill>
            <a:blip r:embed="rId6">
              <a:extLst>
                <a:ext uri="{96DAC541-7B7A-43D3-8B79-37D633B846F1}">
                  <asvg:svgBlip xmlns:asvg="http://schemas.microsoft.com/office/drawing/2016/SVG/main" r:embed="rId7"/>
                </a:ext>
              </a:extLst>
            </a:blip>
            <a:stretch>
              <a:fillRect l="-88" r="-88"/>
            </a:stretch>
          </a:blipFill>
        </p:spPr>
      </p:sp>
      <p:sp>
        <p:nvSpPr>
          <p:cNvPr id="5" name="Freeform 5"/>
          <p:cNvSpPr/>
          <p:nvPr/>
        </p:nvSpPr>
        <p:spPr>
          <a:xfrm flipH="1">
            <a:off x="-1808388" y="292931"/>
            <a:ext cx="3616776" cy="7883980"/>
          </a:xfrm>
          <a:custGeom>
            <a:avLst/>
            <a:gdLst/>
            <a:ahLst/>
            <a:cxnLst/>
            <a:rect l="l" t="t" r="r" b="b"/>
            <a:pathLst>
              <a:path w="3616776" h="7883980">
                <a:moveTo>
                  <a:pt x="3616776" y="0"/>
                </a:moveTo>
                <a:lnTo>
                  <a:pt x="0" y="0"/>
                </a:lnTo>
                <a:lnTo>
                  <a:pt x="0" y="7883980"/>
                </a:lnTo>
                <a:lnTo>
                  <a:pt x="3616776" y="7883980"/>
                </a:lnTo>
                <a:lnTo>
                  <a:pt x="3616776" y="0"/>
                </a:lnTo>
                <a:close/>
              </a:path>
            </a:pathLst>
          </a:custGeom>
          <a:blipFill>
            <a:blip r:embed="rId8">
              <a:alphaModFix amt="75000"/>
              <a:extLst>
                <a:ext uri="{96DAC541-7B7A-43D3-8B79-37D633B846F1}">
                  <asvg:svgBlip xmlns:asvg="http://schemas.microsoft.com/office/drawing/2016/SVG/main" r:embed="rId9"/>
                </a:ext>
              </a:extLst>
            </a:blip>
            <a:stretch>
              <a:fillRect t="-39" b="-39"/>
            </a:stretch>
          </a:blipFill>
        </p:spPr>
      </p:sp>
      <p:grpSp>
        <p:nvGrpSpPr>
          <p:cNvPr id="6" name="Group 6"/>
          <p:cNvGrpSpPr/>
          <p:nvPr/>
        </p:nvGrpSpPr>
        <p:grpSpPr>
          <a:xfrm>
            <a:off x="2759030" y="494810"/>
            <a:ext cx="10063511" cy="968442"/>
            <a:chOff x="0" y="0"/>
            <a:chExt cx="13418015" cy="1291256"/>
          </a:xfrm>
        </p:grpSpPr>
        <p:sp>
          <p:nvSpPr>
            <p:cNvPr id="7" name="Freeform 7"/>
            <p:cNvSpPr/>
            <p:nvPr/>
          </p:nvSpPr>
          <p:spPr>
            <a:xfrm>
              <a:off x="0" y="0"/>
              <a:ext cx="13418015" cy="1291256"/>
            </a:xfrm>
            <a:custGeom>
              <a:avLst/>
              <a:gdLst/>
              <a:ahLst/>
              <a:cxnLst/>
              <a:rect l="l" t="t" r="r" b="b"/>
              <a:pathLst>
                <a:path w="13418015" h="1291256">
                  <a:moveTo>
                    <a:pt x="0" y="0"/>
                  </a:moveTo>
                  <a:lnTo>
                    <a:pt x="13418015" y="0"/>
                  </a:lnTo>
                  <a:lnTo>
                    <a:pt x="13418015" y="1291256"/>
                  </a:lnTo>
                  <a:lnTo>
                    <a:pt x="0" y="1291256"/>
                  </a:lnTo>
                  <a:close/>
                </a:path>
              </a:pathLst>
            </a:custGeom>
            <a:solidFill>
              <a:srgbClr val="000000">
                <a:alpha val="0"/>
              </a:srgbClr>
            </a:solidFill>
          </p:spPr>
        </p:sp>
        <p:sp>
          <p:nvSpPr>
            <p:cNvPr id="8" name="TextBox 8"/>
            <p:cNvSpPr txBox="1"/>
            <p:nvPr/>
          </p:nvSpPr>
          <p:spPr>
            <a:xfrm>
              <a:off x="0" y="-123825"/>
              <a:ext cx="13418015" cy="1415081"/>
            </a:xfrm>
            <a:prstGeom prst="rect">
              <a:avLst/>
            </a:prstGeom>
          </p:spPr>
          <p:txBody>
            <a:bodyPr lIns="0" tIns="0" rIns="0" bIns="0" rtlCol="0" anchor="t"/>
            <a:lstStyle/>
            <a:p>
              <a:pPr algn="ctr">
                <a:lnSpc>
                  <a:spcPts val="7200"/>
                </a:lnSpc>
              </a:pPr>
              <a:r>
                <a:rPr lang="en-US" sz="6000" b="1">
                  <a:solidFill>
                    <a:srgbClr val="984807"/>
                  </a:solidFill>
                  <a:latin typeface="Calibri (MS) Bold"/>
                  <a:ea typeface="Calibri (MS) Bold"/>
                  <a:cs typeface="Calibri (MS) Bold"/>
                  <a:sym typeface="Calibri (MS) Bold"/>
                </a:rPr>
                <a:t>References</a:t>
              </a:r>
            </a:p>
          </p:txBody>
        </p:sp>
      </p:grpSp>
      <p:sp>
        <p:nvSpPr>
          <p:cNvPr id="9" name="Freeform 9"/>
          <p:cNvSpPr/>
          <p:nvPr/>
        </p:nvSpPr>
        <p:spPr>
          <a:xfrm>
            <a:off x="1600200" y="2019416"/>
            <a:ext cx="14754755" cy="7616949"/>
          </a:xfrm>
          <a:custGeom>
            <a:avLst/>
            <a:gdLst/>
            <a:ahLst/>
            <a:cxnLst/>
            <a:rect l="l" t="t" r="r" b="b"/>
            <a:pathLst>
              <a:path w="14754755" h="7616949">
                <a:moveTo>
                  <a:pt x="0" y="0"/>
                </a:moveTo>
                <a:lnTo>
                  <a:pt x="14754755" y="0"/>
                </a:lnTo>
                <a:lnTo>
                  <a:pt x="14754755" y="7616949"/>
                </a:lnTo>
                <a:lnTo>
                  <a:pt x="0" y="7616949"/>
                </a:lnTo>
                <a:lnTo>
                  <a:pt x="0" y="0"/>
                </a:lnTo>
                <a:close/>
              </a:path>
            </a:pathLst>
          </a:custGeom>
          <a:blipFill>
            <a:blip r:embed="rId10">
              <a:extLst>
                <a:ext uri="{96DAC541-7B7A-43D3-8B79-37D633B846F1}">
                  <asvg:svgBlip xmlns:asvg="http://schemas.microsoft.com/office/drawing/2016/SVG/main" r:embed="rId11"/>
                </a:ext>
              </a:extLst>
            </a:blip>
            <a:stretch>
              <a:fillRect l="-10" r="-10"/>
            </a:stretch>
          </a:blipFill>
        </p:spPr>
      </p:sp>
      <p:grpSp>
        <p:nvGrpSpPr>
          <p:cNvPr id="10" name="Group 10"/>
          <p:cNvGrpSpPr/>
          <p:nvPr/>
        </p:nvGrpSpPr>
        <p:grpSpPr>
          <a:xfrm>
            <a:off x="1660410" y="2021633"/>
            <a:ext cx="12344400" cy="8553986"/>
            <a:chOff x="0" y="0"/>
            <a:chExt cx="16459200" cy="11405315"/>
          </a:xfrm>
        </p:grpSpPr>
        <p:sp>
          <p:nvSpPr>
            <p:cNvPr id="11" name="Freeform 11"/>
            <p:cNvSpPr/>
            <p:nvPr/>
          </p:nvSpPr>
          <p:spPr>
            <a:xfrm>
              <a:off x="0" y="0"/>
              <a:ext cx="16459200" cy="11405315"/>
            </a:xfrm>
            <a:custGeom>
              <a:avLst/>
              <a:gdLst/>
              <a:ahLst/>
              <a:cxnLst/>
              <a:rect l="l" t="t" r="r" b="b"/>
              <a:pathLst>
                <a:path w="16459200" h="11405315">
                  <a:moveTo>
                    <a:pt x="0" y="0"/>
                  </a:moveTo>
                  <a:lnTo>
                    <a:pt x="16459200" y="0"/>
                  </a:lnTo>
                  <a:lnTo>
                    <a:pt x="16459200" y="11405315"/>
                  </a:lnTo>
                  <a:lnTo>
                    <a:pt x="0" y="11405315"/>
                  </a:lnTo>
                  <a:close/>
                </a:path>
              </a:pathLst>
            </a:custGeom>
            <a:solidFill>
              <a:srgbClr val="000000">
                <a:alpha val="0"/>
              </a:srgbClr>
            </a:solidFill>
          </p:spPr>
        </p:sp>
        <p:sp>
          <p:nvSpPr>
            <p:cNvPr id="12" name="TextBox 12"/>
            <p:cNvSpPr txBox="1"/>
            <p:nvPr/>
          </p:nvSpPr>
          <p:spPr>
            <a:xfrm>
              <a:off x="0" y="-38100"/>
              <a:ext cx="16459200" cy="11443415"/>
            </a:xfrm>
            <a:prstGeom prst="rect">
              <a:avLst/>
            </a:prstGeom>
          </p:spPr>
          <p:txBody>
            <a:bodyPr lIns="0" tIns="0" rIns="0" bIns="0" rtlCol="0" anchor="t"/>
            <a:lstStyle/>
            <a:p>
              <a:pPr algn="l">
                <a:lnSpc>
                  <a:spcPts val="2160"/>
                </a:lnSpc>
              </a:pPr>
              <a:r>
                <a:rPr lang="en-US" sz="1800">
                  <a:solidFill>
                    <a:srgbClr val="000000"/>
                  </a:solidFill>
                  <a:latin typeface="Arial"/>
                  <a:ea typeface="Arial"/>
                  <a:cs typeface="Arial"/>
                  <a:sym typeface="Arial"/>
                </a:rPr>
                <a:t>1.(Papatla &amp; Krishnamurthi, 1996)Ahmad, S. A., Mehmood, W., Ahmed, S. A., Mustafa, M., Khan, M. F. T., &amp; Yasmeen, M. (2015). Impact of Sales Promotion on consumer buying behavior in Pakistan. </a:t>
              </a:r>
              <a:r>
                <a:rPr lang="en-US" sz="1800" i="1">
                  <a:solidFill>
                    <a:srgbClr val="000000"/>
                  </a:solidFill>
                  <a:latin typeface="Arial Italics"/>
                  <a:ea typeface="Arial Italics"/>
                  <a:cs typeface="Arial Italics"/>
                  <a:sym typeface="Arial Italics"/>
                </a:rPr>
                <a:t>International Interdisciplinary Journal of Scholarly Research</a:t>
              </a:r>
              <a:r>
                <a:rPr lang="en-US" sz="1800">
                  <a:solidFill>
                    <a:srgbClr val="000000"/>
                  </a:solidFill>
                  <a:latin typeface="Arial"/>
                  <a:ea typeface="Arial"/>
                  <a:cs typeface="Arial"/>
                  <a:sym typeface="Arial"/>
                </a:rPr>
                <a:t>, </a:t>
              </a:r>
              <a:r>
                <a:rPr lang="en-US" sz="1800" i="1">
                  <a:solidFill>
                    <a:srgbClr val="000000"/>
                  </a:solidFill>
                  <a:latin typeface="Arial Italics"/>
                  <a:ea typeface="Arial Italics"/>
                  <a:cs typeface="Arial Italics"/>
                  <a:sym typeface="Arial Italics"/>
                </a:rPr>
                <a:t>1</a:t>
              </a:r>
              <a:r>
                <a:rPr lang="en-US" sz="1800">
                  <a:solidFill>
                    <a:srgbClr val="000000"/>
                  </a:solidFill>
                  <a:latin typeface="Arial"/>
                  <a:ea typeface="Arial"/>
                  <a:cs typeface="Arial"/>
                  <a:sym typeface="Arial"/>
                </a:rPr>
                <a:t>(3), 13–22.</a:t>
              </a:r>
            </a:p>
            <a:p>
              <a:pPr algn="l">
                <a:lnSpc>
                  <a:spcPts val="2160"/>
                </a:lnSpc>
              </a:pPr>
              <a:r>
                <a:rPr lang="en-US" sz="1800">
                  <a:solidFill>
                    <a:srgbClr val="000000"/>
                  </a:solidFill>
                  <a:latin typeface="Arial"/>
                  <a:ea typeface="Arial"/>
                  <a:cs typeface="Arial"/>
                  <a:sym typeface="Arial"/>
                </a:rPr>
                <a:t>2.Ailawadi, K. L., Beauchamp, J. P., Donthu, N., Gauri, D. K., &amp; Shankar, V. (2009). Communication and Promotion Decisions in Retailing: A Review and Directions for Future Research. </a:t>
              </a:r>
              <a:r>
                <a:rPr lang="en-US" sz="1800" i="1">
                  <a:solidFill>
                    <a:srgbClr val="000000"/>
                  </a:solidFill>
                  <a:latin typeface="Arial Italics"/>
                  <a:ea typeface="Arial Italics"/>
                  <a:cs typeface="Arial Italics"/>
                  <a:sym typeface="Arial Italics"/>
                </a:rPr>
                <a:t>Journal of Retailing</a:t>
              </a:r>
              <a:r>
                <a:rPr lang="en-US" sz="1800">
                  <a:solidFill>
                    <a:srgbClr val="000000"/>
                  </a:solidFill>
                  <a:latin typeface="Arial"/>
                  <a:ea typeface="Arial"/>
                  <a:cs typeface="Arial"/>
                  <a:sym typeface="Arial"/>
                </a:rPr>
                <a:t>, </a:t>
              </a:r>
              <a:r>
                <a:rPr lang="en-US" sz="1800" i="1">
                  <a:solidFill>
                    <a:srgbClr val="000000"/>
                  </a:solidFill>
                  <a:latin typeface="Arial Italics"/>
                  <a:ea typeface="Arial Italics"/>
                  <a:cs typeface="Arial Italics"/>
                  <a:sym typeface="Arial Italics"/>
                </a:rPr>
                <a:t>85</a:t>
              </a:r>
              <a:r>
                <a:rPr lang="en-US" sz="1800">
                  <a:solidFill>
                    <a:srgbClr val="000000"/>
                  </a:solidFill>
                  <a:latin typeface="Arial"/>
                  <a:ea typeface="Arial"/>
                  <a:cs typeface="Arial"/>
                  <a:sym typeface="Arial"/>
                </a:rPr>
                <a:t>(1), 42–55. https://doi.org/10.1016/j.jretai.2008.11.002</a:t>
              </a:r>
            </a:p>
            <a:p>
              <a:pPr algn="l">
                <a:lnSpc>
                  <a:spcPts val="2160"/>
                </a:lnSpc>
              </a:pPr>
              <a:r>
                <a:rPr lang="en-US" sz="1800">
                  <a:solidFill>
                    <a:srgbClr val="000000"/>
                  </a:solidFill>
                  <a:latin typeface="Arial"/>
                  <a:ea typeface="Arial"/>
                  <a:cs typeface="Arial"/>
                  <a:sym typeface="Arial"/>
                </a:rPr>
                <a:t>3.Ailawadi, K. L., Harlam, B. A., César, J., &amp; Trounce, D. (2006). </a:t>
              </a:r>
              <a:r>
                <a:rPr lang="en-US" sz="1800" i="1">
                  <a:solidFill>
                    <a:srgbClr val="000000"/>
                  </a:solidFill>
                  <a:latin typeface="Arial Italics"/>
                  <a:ea typeface="Arial Italics"/>
                  <a:cs typeface="Arial Italics"/>
                  <a:sym typeface="Arial Italics"/>
                </a:rPr>
                <a:t>Ailawadi2006</a:t>
              </a:r>
              <a:r>
                <a:rPr lang="en-US" sz="1800">
                  <a:solidFill>
                    <a:srgbClr val="000000"/>
                  </a:solidFill>
                  <a:latin typeface="Arial"/>
                  <a:ea typeface="Arial"/>
                  <a:cs typeface="Arial"/>
                  <a:sym typeface="Arial"/>
                </a:rPr>
                <a:t>. </a:t>
              </a:r>
              <a:r>
                <a:rPr lang="en-US" sz="1800" i="1">
                  <a:solidFill>
                    <a:srgbClr val="000000"/>
                  </a:solidFill>
                  <a:latin typeface="Arial Italics"/>
                  <a:ea typeface="Arial Italics"/>
                  <a:cs typeface="Arial Italics"/>
                  <a:sym typeface="Arial Italics"/>
                </a:rPr>
                <a:t>2437</a:t>
              </a:r>
              <a:r>
                <a:rPr lang="en-US" sz="1800">
                  <a:solidFill>
                    <a:srgbClr val="000000"/>
                  </a:solidFill>
                  <a:latin typeface="Arial"/>
                  <a:ea typeface="Arial"/>
                  <a:cs typeface="Arial"/>
                  <a:sym typeface="Arial"/>
                </a:rPr>
                <a:t>, 518–535.</a:t>
              </a:r>
            </a:p>
            <a:p>
              <a:pPr algn="l">
                <a:lnSpc>
                  <a:spcPts val="2160"/>
                </a:lnSpc>
              </a:pPr>
              <a:r>
                <a:rPr lang="en-US" sz="1800">
                  <a:solidFill>
                    <a:srgbClr val="000000"/>
                  </a:solidFill>
                  <a:latin typeface="Arial"/>
                  <a:ea typeface="Arial"/>
                  <a:cs typeface="Arial"/>
                  <a:sym typeface="Arial"/>
                </a:rPr>
                <a:t>4.Ailawadi, K. L., &amp; Neslin, S. A. (1998). The Effect of Promotion on Consumption: Buying More and Consuming it Faster. </a:t>
              </a:r>
              <a:r>
                <a:rPr lang="en-US" sz="1800" i="1">
                  <a:solidFill>
                    <a:srgbClr val="000000"/>
                  </a:solidFill>
                  <a:latin typeface="Arial Italics"/>
                  <a:ea typeface="Arial Italics"/>
                  <a:cs typeface="Arial Italics"/>
                  <a:sym typeface="Arial Italics"/>
                </a:rPr>
                <a:t>Journal of Marketing Research</a:t>
              </a:r>
              <a:r>
                <a:rPr lang="en-US" sz="1800">
                  <a:solidFill>
                    <a:srgbClr val="000000"/>
                  </a:solidFill>
                  <a:latin typeface="Arial"/>
                  <a:ea typeface="Arial"/>
                  <a:cs typeface="Arial"/>
                  <a:sym typeface="Arial"/>
                </a:rPr>
                <a:t>, </a:t>
              </a:r>
              <a:r>
                <a:rPr lang="en-US" sz="1800" i="1">
                  <a:solidFill>
                    <a:srgbClr val="000000"/>
                  </a:solidFill>
                  <a:latin typeface="Arial Italics"/>
                  <a:ea typeface="Arial Italics"/>
                  <a:cs typeface="Arial Italics"/>
                  <a:sym typeface="Arial Italics"/>
                </a:rPr>
                <a:t>35</a:t>
              </a:r>
              <a:r>
                <a:rPr lang="en-US" sz="1800">
                  <a:solidFill>
                    <a:srgbClr val="000000"/>
                  </a:solidFill>
                  <a:latin typeface="Arial"/>
                  <a:ea typeface="Arial"/>
                  <a:cs typeface="Arial"/>
                  <a:sym typeface="Arial"/>
                </a:rPr>
                <a:t>(3), 390–398. https://doi.org/10.1177/002224379803500309</a:t>
              </a:r>
            </a:p>
            <a:p>
              <a:pPr algn="l">
                <a:lnSpc>
                  <a:spcPts val="2160"/>
                </a:lnSpc>
              </a:pPr>
              <a:r>
                <a:rPr lang="en-US" sz="1800">
                  <a:solidFill>
                    <a:srgbClr val="000000"/>
                  </a:solidFill>
                  <a:latin typeface="Arial"/>
                  <a:ea typeface="Arial"/>
                  <a:cs typeface="Arial"/>
                  <a:sym typeface="Arial"/>
                </a:rPr>
                <a:t>5.Ali, A., &amp; Muhammad, K. (2021). Impact of Promotional Tools on Consumer Buying Behavior: A Case of FMCG Industry. </a:t>
              </a:r>
              <a:r>
                <a:rPr lang="en-US" sz="1800" i="1">
                  <a:solidFill>
                    <a:srgbClr val="000000"/>
                  </a:solidFill>
                  <a:latin typeface="Arial Italics"/>
                  <a:ea typeface="Arial Italics"/>
                  <a:cs typeface="Arial Italics"/>
                  <a:sym typeface="Arial Italics"/>
                </a:rPr>
                <a:t>Journal of Marketing Strategies</a:t>
              </a:r>
              <a:r>
                <a:rPr lang="en-US" sz="1800">
                  <a:solidFill>
                    <a:srgbClr val="000000"/>
                  </a:solidFill>
                  <a:latin typeface="Arial"/>
                  <a:ea typeface="Arial"/>
                  <a:cs typeface="Arial"/>
                  <a:sym typeface="Arial"/>
                </a:rPr>
                <a:t>, </a:t>
              </a:r>
              <a:r>
                <a:rPr lang="en-US" sz="1800" i="1">
                  <a:solidFill>
                    <a:srgbClr val="000000"/>
                  </a:solidFill>
                  <a:latin typeface="Arial Italics"/>
                  <a:ea typeface="Arial Italics"/>
                  <a:cs typeface="Arial Italics"/>
                  <a:sym typeface="Arial Italics"/>
                </a:rPr>
                <a:t>3</a:t>
              </a:r>
              <a:r>
                <a:rPr lang="en-US" sz="1800">
                  <a:solidFill>
                    <a:srgbClr val="000000"/>
                  </a:solidFill>
                  <a:latin typeface="Arial"/>
                  <a:ea typeface="Arial"/>
                  <a:cs typeface="Arial"/>
                  <a:sym typeface="Arial"/>
                </a:rPr>
                <a:t>(1), 44–67. https://doi.org/10.52633/jms.v3i1.34</a:t>
              </a:r>
            </a:p>
            <a:p>
              <a:pPr algn="l">
                <a:lnSpc>
                  <a:spcPts val="2160"/>
                </a:lnSpc>
              </a:pPr>
              <a:r>
                <a:rPr lang="en-US" sz="1800">
                  <a:solidFill>
                    <a:srgbClr val="000000"/>
                  </a:solidFill>
                  <a:latin typeface="Arial"/>
                  <a:ea typeface="Arial"/>
                  <a:cs typeface="Arial"/>
                  <a:sym typeface="Arial"/>
                </a:rPr>
                <a:t>6.Alireza Aghighi, M. F. (2015). Analyzing the Influence of Sales Promotion on Customer Purchasing Behavior. </a:t>
              </a:r>
              <a:r>
                <a:rPr lang="en-US" sz="1800" i="1">
                  <a:solidFill>
                    <a:srgbClr val="000000"/>
                  </a:solidFill>
                  <a:latin typeface="Arial Italics"/>
                  <a:ea typeface="Arial Italics"/>
                  <a:cs typeface="Arial Italics"/>
                  <a:sym typeface="Arial Italics"/>
                </a:rPr>
                <a:t>International Journal of Economics and Management Sciences</a:t>
              </a:r>
              <a:r>
                <a:rPr lang="en-US" sz="1800">
                  <a:solidFill>
                    <a:srgbClr val="000000"/>
                  </a:solidFill>
                  <a:latin typeface="Arial"/>
                  <a:ea typeface="Arial"/>
                  <a:cs typeface="Arial"/>
                  <a:sym typeface="Arial"/>
                </a:rPr>
                <a:t>, </a:t>
              </a:r>
              <a:r>
                <a:rPr lang="en-US" sz="1800" i="1">
                  <a:solidFill>
                    <a:srgbClr val="000000"/>
                  </a:solidFill>
                  <a:latin typeface="Arial Italics"/>
                  <a:ea typeface="Arial Italics"/>
                  <a:cs typeface="Arial Italics"/>
                  <a:sym typeface="Arial Italics"/>
                </a:rPr>
                <a:t>04</a:t>
              </a:r>
              <a:r>
                <a:rPr lang="en-US" sz="1800">
                  <a:solidFill>
                    <a:srgbClr val="000000"/>
                  </a:solidFill>
                  <a:latin typeface="Arial"/>
                  <a:ea typeface="Arial"/>
                  <a:cs typeface="Arial"/>
                  <a:sym typeface="Arial"/>
                </a:rPr>
                <a:t>(04). https://doi.org/10.4172/2162-6359.1000243</a:t>
              </a:r>
            </a:p>
            <a:p>
              <a:pPr algn="l">
                <a:lnSpc>
                  <a:spcPts val="2160"/>
                </a:lnSpc>
              </a:pPr>
              <a:r>
                <a:rPr lang="en-US" sz="1800">
                  <a:solidFill>
                    <a:srgbClr val="000000"/>
                  </a:solidFill>
                  <a:latin typeface="Arial"/>
                  <a:ea typeface="Arial"/>
                  <a:cs typeface="Arial"/>
                  <a:sym typeface="Arial"/>
                </a:rPr>
                <a:t>7.Alnahhal, M., Aldhuhoori, E., Ahmad Al-Omari, M., &amp; Tabash, M. I. (2024). The impact of pricing on consumer buying behavior in the UAE. </a:t>
              </a:r>
              <a:r>
                <a:rPr lang="en-US" sz="1800" i="1">
                  <a:solidFill>
                    <a:srgbClr val="000000"/>
                  </a:solidFill>
                  <a:latin typeface="Arial Italics"/>
                  <a:ea typeface="Arial Italics"/>
                  <a:cs typeface="Arial Italics"/>
                  <a:sym typeface="Arial Italics"/>
                </a:rPr>
                <a:t>Cogent Business and Management</a:t>
              </a:r>
              <a:r>
                <a:rPr lang="en-US" sz="1800">
                  <a:solidFill>
                    <a:srgbClr val="000000"/>
                  </a:solidFill>
                  <a:latin typeface="Arial"/>
                  <a:ea typeface="Arial"/>
                  <a:cs typeface="Arial"/>
                  <a:sym typeface="Arial"/>
                </a:rPr>
                <a:t>, </a:t>
              </a:r>
              <a:r>
                <a:rPr lang="en-US" sz="1800" i="1">
                  <a:solidFill>
                    <a:srgbClr val="000000"/>
                  </a:solidFill>
                  <a:latin typeface="Arial Italics"/>
                  <a:ea typeface="Arial Italics"/>
                  <a:cs typeface="Arial Italics"/>
                  <a:sym typeface="Arial Italics"/>
                </a:rPr>
                <a:t>11</a:t>
              </a:r>
              <a:r>
                <a:rPr lang="en-US" sz="1800">
                  <a:solidFill>
                    <a:srgbClr val="000000"/>
                  </a:solidFill>
                  <a:latin typeface="Arial"/>
                  <a:ea typeface="Arial"/>
                  <a:cs typeface="Arial"/>
                  <a:sym typeface="Arial"/>
                </a:rPr>
                <a:t>(1), 62–73. </a:t>
              </a:r>
              <a:r>
                <a:rPr lang="en-US" sz="1800" u="sng">
                  <a:solidFill>
                    <a:srgbClr val="0000FF"/>
                  </a:solidFill>
                  <a:latin typeface="Arial"/>
                  <a:ea typeface="Arial"/>
                  <a:cs typeface="Arial"/>
                  <a:sym typeface="Arial"/>
                  <a:hlinkClick r:id="rId12" tooltip="https://doi.org/10.1080/23311975.2023.2300159"/>
                </a:rPr>
                <a:t>https://doi.org/10.1080/23311975.2023.2300159</a:t>
              </a:r>
            </a:p>
            <a:p>
              <a:pPr algn="l">
                <a:lnSpc>
                  <a:spcPts val="2160"/>
                </a:lnSpc>
              </a:pPr>
              <a:endParaRPr lang="en-US" sz="1800" u="sng">
                <a:solidFill>
                  <a:srgbClr val="0000FF"/>
                </a:solidFill>
                <a:latin typeface="Arial"/>
                <a:ea typeface="Arial"/>
                <a:cs typeface="Arial"/>
                <a:sym typeface="Arial"/>
                <a:hlinkClick r:id="rId12" tooltip="https://doi.org/10.1080/23311975.2023.2300159"/>
              </a:endParaRPr>
            </a:p>
            <a:p>
              <a:pPr algn="l">
                <a:lnSpc>
                  <a:spcPts val="2160"/>
                </a:lnSpc>
              </a:pPr>
              <a:endParaRPr lang="en-US" sz="1800" u="sng">
                <a:solidFill>
                  <a:srgbClr val="0000FF"/>
                </a:solidFill>
                <a:latin typeface="Arial"/>
                <a:ea typeface="Arial"/>
                <a:cs typeface="Arial"/>
                <a:sym typeface="Arial"/>
                <a:hlinkClick r:id="rId12" tooltip="https://doi.org/10.1080/23311975.2023.2300159"/>
              </a:endParaRPr>
            </a:p>
            <a:p>
              <a:pPr algn="l">
                <a:lnSpc>
                  <a:spcPts val="2160"/>
                </a:lnSpc>
              </a:pPr>
              <a:endParaRPr lang="en-US" sz="1800" u="sng">
                <a:solidFill>
                  <a:srgbClr val="0000FF"/>
                </a:solidFill>
                <a:latin typeface="Arial"/>
                <a:ea typeface="Arial"/>
                <a:cs typeface="Arial"/>
                <a:sym typeface="Arial"/>
                <a:hlinkClick r:id="rId12" tooltip="https://doi.org/10.1080/23311975.2023.2300159"/>
              </a:endParaRPr>
            </a:p>
            <a:p>
              <a:pPr algn="l">
                <a:lnSpc>
                  <a:spcPts val="2160"/>
                </a:lnSpc>
              </a:pPr>
              <a:endParaRPr lang="en-US" sz="1800" u="sng">
                <a:solidFill>
                  <a:srgbClr val="0000FF"/>
                </a:solidFill>
                <a:latin typeface="Arial"/>
                <a:ea typeface="Arial"/>
                <a:cs typeface="Arial"/>
                <a:sym typeface="Arial"/>
                <a:hlinkClick r:id="rId12" tooltip="https://doi.org/10.1080/23311975.2023.2300159"/>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grpSp>
        <p:nvGrpSpPr>
          <p:cNvPr id="2" name="Group 2"/>
          <p:cNvGrpSpPr/>
          <p:nvPr/>
        </p:nvGrpSpPr>
        <p:grpSpPr>
          <a:xfrm>
            <a:off x="6175821" y="611981"/>
            <a:ext cx="5936359" cy="1338104"/>
            <a:chOff x="0" y="0"/>
            <a:chExt cx="7915145" cy="1784138"/>
          </a:xfrm>
        </p:grpSpPr>
        <p:sp>
          <p:nvSpPr>
            <p:cNvPr id="3" name="Freeform 3"/>
            <p:cNvSpPr/>
            <p:nvPr/>
          </p:nvSpPr>
          <p:spPr>
            <a:xfrm>
              <a:off x="0" y="0"/>
              <a:ext cx="7915146" cy="1784138"/>
            </a:xfrm>
            <a:custGeom>
              <a:avLst/>
              <a:gdLst/>
              <a:ahLst/>
              <a:cxnLst/>
              <a:rect l="l" t="t" r="r" b="b"/>
              <a:pathLst>
                <a:path w="7915146" h="1784138">
                  <a:moveTo>
                    <a:pt x="0" y="0"/>
                  </a:moveTo>
                  <a:lnTo>
                    <a:pt x="7915146" y="0"/>
                  </a:lnTo>
                  <a:lnTo>
                    <a:pt x="7915146" y="1784138"/>
                  </a:lnTo>
                  <a:lnTo>
                    <a:pt x="0" y="1784138"/>
                  </a:lnTo>
                  <a:close/>
                </a:path>
              </a:pathLst>
            </a:custGeom>
            <a:solidFill>
              <a:srgbClr val="000000">
                <a:alpha val="0"/>
              </a:srgbClr>
            </a:solidFill>
          </p:spPr>
        </p:sp>
        <p:sp>
          <p:nvSpPr>
            <p:cNvPr id="4" name="TextBox 4"/>
            <p:cNvSpPr txBox="1"/>
            <p:nvPr/>
          </p:nvSpPr>
          <p:spPr>
            <a:xfrm>
              <a:off x="0" y="-238125"/>
              <a:ext cx="7915145" cy="2022263"/>
            </a:xfrm>
            <a:prstGeom prst="rect">
              <a:avLst/>
            </a:prstGeom>
          </p:spPr>
          <p:txBody>
            <a:bodyPr lIns="0" tIns="0" rIns="0" bIns="0" rtlCol="0" anchor="t"/>
            <a:lstStyle/>
            <a:p>
              <a:pPr algn="ctr">
                <a:lnSpc>
                  <a:spcPts val="8539"/>
                </a:lnSpc>
              </a:pPr>
              <a:r>
                <a:rPr lang="en-US" sz="6098" b="1">
                  <a:solidFill>
                    <a:srgbClr val="984807"/>
                  </a:solidFill>
                  <a:latin typeface="Arial Bold"/>
                  <a:ea typeface="Arial Bold"/>
                  <a:cs typeface="Arial Bold"/>
                  <a:sym typeface="Arial Bold"/>
                </a:rPr>
                <a:t>Continued</a:t>
              </a:r>
              <a:r>
                <a:rPr lang="en-US" sz="6098">
                  <a:solidFill>
                    <a:srgbClr val="984807"/>
                  </a:solidFill>
                  <a:latin typeface="Arial"/>
                  <a:ea typeface="Arial"/>
                  <a:cs typeface="Arial"/>
                  <a:sym typeface="Arial"/>
                </a:rPr>
                <a:t> </a:t>
              </a:r>
            </a:p>
          </p:txBody>
        </p:sp>
      </p:grpSp>
      <p:sp>
        <p:nvSpPr>
          <p:cNvPr id="5" name="Freeform 5"/>
          <p:cNvSpPr/>
          <p:nvPr/>
        </p:nvSpPr>
        <p:spPr>
          <a:xfrm rot="-1279815">
            <a:off x="16479612" y="1697"/>
            <a:ext cx="3616776" cy="7883980"/>
          </a:xfrm>
          <a:custGeom>
            <a:avLst/>
            <a:gdLst/>
            <a:ahLst/>
            <a:cxnLst/>
            <a:rect l="l" t="t" r="r" b="b"/>
            <a:pathLst>
              <a:path w="3616776" h="7883980">
                <a:moveTo>
                  <a:pt x="0" y="0"/>
                </a:moveTo>
                <a:lnTo>
                  <a:pt x="3616776" y="0"/>
                </a:lnTo>
                <a:lnTo>
                  <a:pt x="3616776" y="7883980"/>
                </a:lnTo>
                <a:lnTo>
                  <a:pt x="0" y="7883980"/>
                </a:lnTo>
                <a:lnTo>
                  <a:pt x="0" y="0"/>
                </a:lnTo>
                <a:close/>
              </a:path>
            </a:pathLst>
          </a:custGeom>
          <a:blipFill>
            <a:blip r:embed="rId2">
              <a:alphaModFix amt="75000"/>
              <a:extLst>
                <a:ext uri="{96DAC541-7B7A-43D3-8B79-37D633B846F1}">
                  <asvg:svgBlip xmlns:asvg="http://schemas.microsoft.com/office/drawing/2016/SVG/main" r:embed="rId3"/>
                </a:ext>
              </a:extLst>
            </a:blip>
            <a:stretch>
              <a:fillRect t="-39" b="-39"/>
            </a:stretch>
          </a:blipFill>
        </p:spPr>
      </p:sp>
      <p:sp>
        <p:nvSpPr>
          <p:cNvPr id="6" name="Freeform 6"/>
          <p:cNvSpPr/>
          <p:nvPr/>
        </p:nvSpPr>
        <p:spPr>
          <a:xfrm>
            <a:off x="-2014169" y="6326281"/>
            <a:ext cx="6493940" cy="6529555"/>
          </a:xfrm>
          <a:custGeom>
            <a:avLst/>
            <a:gdLst/>
            <a:ahLst/>
            <a:cxnLst/>
            <a:rect l="l" t="t" r="r" b="b"/>
            <a:pathLst>
              <a:path w="6493940" h="6529555">
                <a:moveTo>
                  <a:pt x="0" y="0"/>
                </a:moveTo>
                <a:lnTo>
                  <a:pt x="6493940" y="0"/>
                </a:lnTo>
                <a:lnTo>
                  <a:pt x="6493940" y="6529555"/>
                </a:lnTo>
                <a:lnTo>
                  <a:pt x="0" y="6529555"/>
                </a:lnTo>
                <a:lnTo>
                  <a:pt x="0" y="0"/>
                </a:lnTo>
                <a:close/>
              </a:path>
            </a:pathLst>
          </a:custGeom>
          <a:blipFill>
            <a:blip r:embed="rId4">
              <a:extLst>
                <a:ext uri="{96DAC541-7B7A-43D3-8B79-37D633B846F1}">
                  <asvg:svgBlip xmlns:asvg="http://schemas.microsoft.com/office/drawing/2016/SVG/main" r:embed="rId5"/>
                </a:ext>
              </a:extLst>
            </a:blip>
            <a:stretch>
              <a:fillRect l="-127" r="-127"/>
            </a:stretch>
          </a:blipFill>
        </p:spPr>
      </p:sp>
      <p:sp>
        <p:nvSpPr>
          <p:cNvPr id="7" name="Freeform 7"/>
          <p:cNvSpPr/>
          <p:nvPr/>
        </p:nvSpPr>
        <p:spPr>
          <a:xfrm rot="4368370">
            <a:off x="-636901" y="4079291"/>
            <a:ext cx="2689927" cy="1649410"/>
          </a:xfrm>
          <a:custGeom>
            <a:avLst/>
            <a:gdLst/>
            <a:ahLst/>
            <a:cxnLst/>
            <a:rect l="l" t="t" r="r" b="b"/>
            <a:pathLst>
              <a:path w="2689927" h="1649410">
                <a:moveTo>
                  <a:pt x="0" y="0"/>
                </a:moveTo>
                <a:lnTo>
                  <a:pt x="2689927" y="0"/>
                </a:lnTo>
                <a:lnTo>
                  <a:pt x="2689927" y="1649410"/>
                </a:lnTo>
                <a:lnTo>
                  <a:pt x="0" y="1649410"/>
                </a:lnTo>
                <a:lnTo>
                  <a:pt x="0" y="0"/>
                </a:lnTo>
                <a:close/>
              </a:path>
            </a:pathLst>
          </a:custGeom>
          <a:blipFill>
            <a:blip r:embed="rId6">
              <a:extLst>
                <a:ext uri="{96DAC541-7B7A-43D3-8B79-37D633B846F1}">
                  <asvg:svgBlip xmlns:asvg="http://schemas.microsoft.com/office/drawing/2016/SVG/main" r:embed="rId7"/>
                </a:ext>
              </a:extLst>
            </a:blip>
            <a:stretch>
              <a:fillRect l="-36867" r="-36867"/>
            </a:stretch>
          </a:blipFill>
        </p:spPr>
      </p:sp>
      <p:sp>
        <p:nvSpPr>
          <p:cNvPr id="8" name="Freeform 8"/>
          <p:cNvSpPr/>
          <p:nvPr/>
        </p:nvSpPr>
        <p:spPr>
          <a:xfrm rot="8309931" flipV="1">
            <a:off x="7582" y="6646127"/>
            <a:ext cx="2450438" cy="4185866"/>
          </a:xfrm>
          <a:custGeom>
            <a:avLst/>
            <a:gdLst/>
            <a:ahLst/>
            <a:cxnLst/>
            <a:rect l="l" t="t" r="r" b="b"/>
            <a:pathLst>
              <a:path w="2450438" h="4185866">
                <a:moveTo>
                  <a:pt x="0" y="4185866"/>
                </a:moveTo>
                <a:lnTo>
                  <a:pt x="2450438" y="4185866"/>
                </a:lnTo>
                <a:lnTo>
                  <a:pt x="2450438" y="0"/>
                </a:lnTo>
                <a:lnTo>
                  <a:pt x="0" y="0"/>
                </a:lnTo>
                <a:lnTo>
                  <a:pt x="0" y="4185866"/>
                </a:lnTo>
                <a:close/>
              </a:path>
            </a:pathLst>
          </a:custGeom>
          <a:blipFill>
            <a:blip r:embed="rId8">
              <a:extLst>
                <a:ext uri="{96DAC541-7B7A-43D3-8B79-37D633B846F1}">
                  <asvg:svgBlip xmlns:asvg="http://schemas.microsoft.com/office/drawing/2016/SVG/main" r:embed="rId9"/>
                </a:ext>
              </a:extLst>
            </a:blip>
            <a:stretch>
              <a:fillRect l="-81" r="-81"/>
            </a:stretch>
          </a:blipFill>
        </p:spPr>
      </p:sp>
      <p:grpSp>
        <p:nvGrpSpPr>
          <p:cNvPr id="9" name="Group 9"/>
          <p:cNvGrpSpPr/>
          <p:nvPr/>
        </p:nvGrpSpPr>
        <p:grpSpPr>
          <a:xfrm>
            <a:off x="1981200" y="2524125"/>
            <a:ext cx="14032310" cy="5106888"/>
            <a:chOff x="0" y="0"/>
            <a:chExt cx="18709747" cy="6809184"/>
          </a:xfrm>
        </p:grpSpPr>
        <p:sp>
          <p:nvSpPr>
            <p:cNvPr id="10" name="Freeform 10"/>
            <p:cNvSpPr/>
            <p:nvPr/>
          </p:nvSpPr>
          <p:spPr>
            <a:xfrm>
              <a:off x="0" y="0"/>
              <a:ext cx="18709746" cy="6809184"/>
            </a:xfrm>
            <a:custGeom>
              <a:avLst/>
              <a:gdLst/>
              <a:ahLst/>
              <a:cxnLst/>
              <a:rect l="l" t="t" r="r" b="b"/>
              <a:pathLst>
                <a:path w="18709746" h="6809184">
                  <a:moveTo>
                    <a:pt x="0" y="0"/>
                  </a:moveTo>
                  <a:lnTo>
                    <a:pt x="18709746" y="0"/>
                  </a:lnTo>
                  <a:lnTo>
                    <a:pt x="18709746" y="6809184"/>
                  </a:lnTo>
                  <a:lnTo>
                    <a:pt x="0" y="6809184"/>
                  </a:lnTo>
                  <a:close/>
                </a:path>
              </a:pathLst>
            </a:custGeom>
            <a:solidFill>
              <a:srgbClr val="000000">
                <a:alpha val="0"/>
              </a:srgbClr>
            </a:solidFill>
          </p:spPr>
        </p:sp>
        <p:sp>
          <p:nvSpPr>
            <p:cNvPr id="11" name="TextBox 11"/>
            <p:cNvSpPr txBox="1"/>
            <p:nvPr/>
          </p:nvSpPr>
          <p:spPr>
            <a:xfrm>
              <a:off x="0" y="-38100"/>
              <a:ext cx="18709747" cy="6847284"/>
            </a:xfrm>
            <a:prstGeom prst="rect">
              <a:avLst/>
            </a:prstGeom>
          </p:spPr>
          <p:txBody>
            <a:bodyPr lIns="0" tIns="0" rIns="0" bIns="0" rtlCol="0" anchor="t"/>
            <a:lstStyle/>
            <a:p>
              <a:pPr algn="l">
                <a:lnSpc>
                  <a:spcPts val="2160"/>
                </a:lnSpc>
              </a:pPr>
              <a:r>
                <a:rPr lang="en-US" sz="1800">
                  <a:solidFill>
                    <a:srgbClr val="000000"/>
                  </a:solidFill>
                  <a:latin typeface="Arial"/>
                  <a:ea typeface="Arial"/>
                  <a:cs typeface="Arial"/>
                  <a:sym typeface="Arial"/>
                </a:rPr>
                <a:t>8.Beimnet Adela, &amp; Mitiku, S. (2022). THE EFFECT OF SALES PROMOTION ON CONSUMER BUYING BEHAVIOR: THE CASE OF COMMERCIAL BANK OF ETHIOPIA Addis Ababa, Ethiopia. </a:t>
              </a:r>
              <a:r>
                <a:rPr lang="en-US" sz="1800" i="1">
                  <a:solidFill>
                    <a:srgbClr val="000000"/>
                  </a:solidFill>
                  <a:latin typeface="Arial Italics"/>
                  <a:ea typeface="Arial Italics"/>
                  <a:cs typeface="Arial Italics"/>
                  <a:sym typeface="Arial Italics"/>
                </a:rPr>
                <a:t>Problems and Perspectives in Management</a:t>
              </a:r>
              <a:r>
                <a:rPr lang="en-US" sz="1800">
                  <a:solidFill>
                    <a:srgbClr val="000000"/>
                  </a:solidFill>
                  <a:latin typeface="Arial"/>
                  <a:ea typeface="Arial"/>
                  <a:cs typeface="Arial"/>
                  <a:sym typeface="Arial"/>
                </a:rPr>
                <a:t>, </a:t>
              </a:r>
              <a:r>
                <a:rPr lang="en-US" sz="1800" i="1">
                  <a:solidFill>
                    <a:srgbClr val="000000"/>
                  </a:solidFill>
                  <a:latin typeface="Arial Italics"/>
                  <a:ea typeface="Arial Italics"/>
                  <a:cs typeface="Arial Italics"/>
                  <a:sym typeface="Arial Italics"/>
                </a:rPr>
                <a:t>5</a:t>
              </a:r>
              <a:r>
                <a:rPr lang="en-US" sz="1800">
                  <a:solidFill>
                    <a:srgbClr val="000000"/>
                  </a:solidFill>
                  <a:latin typeface="Arial"/>
                  <a:ea typeface="Arial"/>
                  <a:cs typeface="Arial"/>
                  <a:sym typeface="Arial"/>
                </a:rPr>
                <a:t>(7), 77–89.</a:t>
              </a:r>
            </a:p>
            <a:p>
              <a:pPr algn="l">
                <a:lnSpc>
                  <a:spcPts val="2160"/>
                </a:lnSpc>
              </a:pPr>
              <a:r>
                <a:rPr lang="en-US" sz="1800">
                  <a:solidFill>
                    <a:srgbClr val="000000"/>
                  </a:solidFill>
                  <a:latin typeface="Arial"/>
                  <a:ea typeface="Arial"/>
                  <a:cs typeface="Arial"/>
                  <a:sym typeface="Arial"/>
                </a:rPr>
                <a:t>9.Dangi, A., Saini, C. P., Singh, V., &amp; Hooda, J. (2021). Customer perception, purchase intention and buying decision for branded products: measuring the role of price discounts. </a:t>
              </a:r>
              <a:r>
                <a:rPr lang="en-US" sz="1800" i="1">
                  <a:solidFill>
                    <a:srgbClr val="000000"/>
                  </a:solidFill>
                  <a:latin typeface="Arial Italics"/>
                  <a:ea typeface="Arial Italics"/>
                  <a:cs typeface="Arial Italics"/>
                  <a:sym typeface="Arial Italics"/>
                </a:rPr>
                <a:t>Journal of Revenue and Pricing Management</a:t>
              </a:r>
              <a:r>
                <a:rPr lang="en-US" sz="1800">
                  <a:solidFill>
                    <a:srgbClr val="000000"/>
                  </a:solidFill>
                  <a:latin typeface="Arial"/>
                  <a:ea typeface="Arial"/>
                  <a:cs typeface="Arial"/>
                  <a:sym typeface="Arial"/>
                </a:rPr>
                <a:t>, </a:t>
              </a:r>
              <a:r>
                <a:rPr lang="en-US" sz="1800" i="1">
                  <a:solidFill>
                    <a:srgbClr val="000000"/>
                  </a:solidFill>
                  <a:latin typeface="Arial Italics"/>
                  <a:ea typeface="Arial Italics"/>
                  <a:cs typeface="Arial Italics"/>
                  <a:sym typeface="Arial Italics"/>
                </a:rPr>
                <a:t>20</a:t>
              </a:r>
              <a:r>
                <a:rPr lang="en-US" sz="1800">
                  <a:solidFill>
                    <a:srgbClr val="000000"/>
                  </a:solidFill>
                  <a:latin typeface="Arial"/>
                  <a:ea typeface="Arial"/>
                  <a:cs typeface="Arial"/>
                  <a:sym typeface="Arial"/>
                </a:rPr>
                <a:t>(2), 194–203. https://doi.org/10.1057/s41272-021-00300-7</a:t>
              </a:r>
            </a:p>
            <a:p>
              <a:pPr algn="l">
                <a:lnSpc>
                  <a:spcPts val="2160"/>
                </a:lnSpc>
              </a:pPr>
              <a:r>
                <a:rPr lang="en-US" sz="1800">
                  <a:solidFill>
                    <a:srgbClr val="000000"/>
                  </a:solidFill>
                  <a:latin typeface="Arial"/>
                  <a:ea typeface="Arial"/>
                  <a:cs typeface="Arial"/>
                  <a:sym typeface="Arial"/>
                </a:rPr>
                <a:t>10.Fam, K., Brito, P. Q., Gadekar, M., Richard, J. E., Jargal, U., &amp; Liu, W. (2019). Consumer attitude towards sales promotion techniques: a multi-country study. </a:t>
              </a:r>
              <a:r>
                <a:rPr lang="en-US" sz="1800" i="1">
                  <a:solidFill>
                    <a:srgbClr val="000000"/>
                  </a:solidFill>
                  <a:latin typeface="Arial Italics"/>
                  <a:ea typeface="Arial Italics"/>
                  <a:cs typeface="Arial Italics"/>
                  <a:sym typeface="Arial Italics"/>
                </a:rPr>
                <a:t>Asia Pacific Journal of Marketing and Logistics</a:t>
              </a:r>
              <a:r>
                <a:rPr lang="en-US" sz="1800">
                  <a:solidFill>
                    <a:srgbClr val="000000"/>
                  </a:solidFill>
                  <a:latin typeface="Arial"/>
                  <a:ea typeface="Arial"/>
                  <a:cs typeface="Arial"/>
                  <a:sym typeface="Arial"/>
                </a:rPr>
                <a:t>, </a:t>
              </a:r>
              <a:r>
                <a:rPr lang="en-US" sz="1800" i="1">
                  <a:solidFill>
                    <a:srgbClr val="000000"/>
                  </a:solidFill>
                  <a:latin typeface="Arial Italics"/>
                  <a:ea typeface="Arial Italics"/>
                  <a:cs typeface="Arial Italics"/>
                  <a:sym typeface="Arial Italics"/>
                </a:rPr>
                <a:t>31</a:t>
              </a:r>
              <a:r>
                <a:rPr lang="en-US" sz="1800">
                  <a:solidFill>
                    <a:srgbClr val="000000"/>
                  </a:solidFill>
                  <a:latin typeface="Arial"/>
                  <a:ea typeface="Arial"/>
                  <a:cs typeface="Arial"/>
                  <a:sym typeface="Arial"/>
                </a:rPr>
                <a:t>(2), 437–463. https://doi.org/10.1108/APJML-01-2018-0005</a:t>
              </a:r>
            </a:p>
            <a:p>
              <a:pPr algn="l">
                <a:lnSpc>
                  <a:spcPts val="2160"/>
                </a:lnSpc>
              </a:pPr>
              <a:r>
                <a:rPr lang="en-US" sz="1800">
                  <a:solidFill>
                    <a:srgbClr val="000000"/>
                  </a:solidFill>
                  <a:latin typeface="Arial"/>
                  <a:ea typeface="Arial"/>
                  <a:cs typeface="Arial"/>
                  <a:sym typeface="Arial"/>
                </a:rPr>
                <a:t>11.Gupta, S. (1988). Impact of Sales Promotions on When, What, and How Much to Buy. </a:t>
              </a:r>
              <a:r>
                <a:rPr lang="en-US" sz="1800" i="1">
                  <a:solidFill>
                    <a:srgbClr val="000000"/>
                  </a:solidFill>
                  <a:latin typeface="Arial Italics"/>
                  <a:ea typeface="Arial Italics"/>
                  <a:cs typeface="Arial Italics"/>
                  <a:sym typeface="Arial Italics"/>
                </a:rPr>
                <a:t>Journal of Marketing Research</a:t>
              </a:r>
              <a:r>
                <a:rPr lang="en-US" sz="1800">
                  <a:solidFill>
                    <a:srgbClr val="000000"/>
                  </a:solidFill>
                  <a:latin typeface="Arial"/>
                  <a:ea typeface="Arial"/>
                  <a:cs typeface="Arial"/>
                  <a:sym typeface="Arial"/>
                </a:rPr>
                <a:t>, </a:t>
              </a:r>
              <a:r>
                <a:rPr lang="en-US" sz="1800" i="1">
                  <a:solidFill>
                    <a:srgbClr val="000000"/>
                  </a:solidFill>
                  <a:latin typeface="Arial Italics"/>
                  <a:ea typeface="Arial Italics"/>
                  <a:cs typeface="Arial Italics"/>
                  <a:sym typeface="Arial Italics"/>
                </a:rPr>
                <a:t>25</a:t>
              </a:r>
              <a:r>
                <a:rPr lang="en-US" sz="1800">
                  <a:solidFill>
                    <a:srgbClr val="000000"/>
                  </a:solidFill>
                  <a:latin typeface="Arial"/>
                  <a:ea typeface="Arial"/>
                  <a:cs typeface="Arial"/>
                  <a:sym typeface="Arial"/>
                </a:rPr>
                <a:t>(4), 342. https://doi.org/10.2307/3172945</a:t>
              </a:r>
            </a:p>
            <a:p>
              <a:pPr algn="l">
                <a:lnSpc>
                  <a:spcPts val="2160"/>
                </a:lnSpc>
              </a:pPr>
              <a:r>
                <a:rPr lang="en-US" sz="1800">
                  <a:solidFill>
                    <a:srgbClr val="000000"/>
                  </a:solidFill>
                  <a:latin typeface="Arial"/>
                  <a:ea typeface="Arial"/>
                  <a:cs typeface="Arial"/>
                  <a:sym typeface="Arial"/>
                </a:rPr>
                <a:t>12.Ittaqullah, N., Madjid, R., &amp; Suleman, N. R. (2020). The effects of mobile marketing, discount, and lifestyle on consumers’ impulse buying behavior in online marketplace. </a:t>
              </a:r>
              <a:r>
                <a:rPr lang="en-US" sz="1800" i="1">
                  <a:solidFill>
                    <a:srgbClr val="000000"/>
                  </a:solidFill>
                  <a:latin typeface="Arial Italics"/>
                  <a:ea typeface="Arial Italics"/>
                  <a:cs typeface="Arial Italics"/>
                  <a:sym typeface="Arial Italics"/>
                </a:rPr>
                <a:t>International Journal of Scientific and Technology Research</a:t>
              </a:r>
              <a:r>
                <a:rPr lang="en-US" sz="1800">
                  <a:solidFill>
                    <a:srgbClr val="000000"/>
                  </a:solidFill>
                  <a:latin typeface="Arial"/>
                  <a:ea typeface="Arial"/>
                  <a:cs typeface="Arial"/>
                  <a:sym typeface="Arial"/>
                </a:rPr>
                <a:t>, </a:t>
              </a:r>
              <a:r>
                <a:rPr lang="en-US" sz="1800" i="1">
                  <a:solidFill>
                    <a:srgbClr val="000000"/>
                  </a:solidFill>
                  <a:latin typeface="Arial Italics"/>
                  <a:ea typeface="Arial Italics"/>
                  <a:cs typeface="Arial Italics"/>
                  <a:sym typeface="Arial Italics"/>
                </a:rPr>
                <a:t>9</a:t>
              </a:r>
              <a:r>
                <a:rPr lang="en-US" sz="1800">
                  <a:solidFill>
                    <a:srgbClr val="000000"/>
                  </a:solidFill>
                  <a:latin typeface="Arial"/>
                  <a:ea typeface="Arial"/>
                  <a:cs typeface="Arial"/>
                  <a:sym typeface="Arial"/>
                </a:rPr>
                <a:t>(3), 1569–1577.</a:t>
              </a:r>
            </a:p>
            <a:p>
              <a:pPr algn="l">
                <a:lnSpc>
                  <a:spcPts val="2160"/>
                </a:lnSpc>
              </a:pPr>
              <a:r>
                <a:rPr lang="en-US" sz="1800">
                  <a:solidFill>
                    <a:srgbClr val="000000"/>
                  </a:solidFill>
                  <a:latin typeface="Arial"/>
                  <a:ea typeface="Arial"/>
                  <a:cs typeface="Arial"/>
                  <a:sym typeface="Arial"/>
                </a:rPr>
                <a:t>13.Karbasivar, A., &amp; Yarahmadi, H. (2011). Evaluating Effective Factors on Consumer Impulse Buying Behavior. </a:t>
              </a:r>
              <a:r>
                <a:rPr lang="en-US" sz="1800" i="1">
                  <a:solidFill>
                    <a:srgbClr val="000000"/>
                  </a:solidFill>
                  <a:latin typeface="Arial Italics"/>
                  <a:ea typeface="Arial Italics"/>
                  <a:cs typeface="Arial Italics"/>
                  <a:sym typeface="Arial Italics"/>
                </a:rPr>
                <a:t>Asian Journal of Business Management Studies</a:t>
              </a:r>
              <a:r>
                <a:rPr lang="en-US" sz="1800">
                  <a:solidFill>
                    <a:srgbClr val="000000"/>
                  </a:solidFill>
                  <a:latin typeface="Arial"/>
                  <a:ea typeface="Arial"/>
                  <a:cs typeface="Arial"/>
                  <a:sym typeface="Arial"/>
                </a:rPr>
                <a:t>, </a:t>
              </a:r>
              <a:r>
                <a:rPr lang="en-US" sz="1800" i="1">
                  <a:solidFill>
                    <a:srgbClr val="000000"/>
                  </a:solidFill>
                  <a:latin typeface="Arial Italics"/>
                  <a:ea typeface="Arial Italics"/>
                  <a:cs typeface="Arial Italics"/>
                  <a:sym typeface="Arial Italics"/>
                </a:rPr>
                <a:t>2</a:t>
              </a:r>
              <a:r>
                <a:rPr lang="en-US" sz="1800">
                  <a:solidFill>
                    <a:srgbClr val="000000"/>
                  </a:solidFill>
                  <a:latin typeface="Arial"/>
                  <a:ea typeface="Arial"/>
                  <a:cs typeface="Arial"/>
                  <a:sym typeface="Arial"/>
                </a:rPr>
                <a:t>(4), 174–181.</a:t>
              </a: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grpSp>
        <p:nvGrpSpPr>
          <p:cNvPr id="2" name="Group 2"/>
          <p:cNvGrpSpPr/>
          <p:nvPr/>
        </p:nvGrpSpPr>
        <p:grpSpPr>
          <a:xfrm>
            <a:off x="6175821" y="611981"/>
            <a:ext cx="5936359" cy="1331119"/>
            <a:chOff x="0" y="0"/>
            <a:chExt cx="7915145" cy="1774825"/>
          </a:xfrm>
        </p:grpSpPr>
        <p:sp>
          <p:nvSpPr>
            <p:cNvPr id="3" name="Freeform 3"/>
            <p:cNvSpPr/>
            <p:nvPr/>
          </p:nvSpPr>
          <p:spPr>
            <a:xfrm>
              <a:off x="0" y="0"/>
              <a:ext cx="7915146" cy="1774825"/>
            </a:xfrm>
            <a:custGeom>
              <a:avLst/>
              <a:gdLst/>
              <a:ahLst/>
              <a:cxnLst/>
              <a:rect l="l" t="t" r="r" b="b"/>
              <a:pathLst>
                <a:path w="7915146" h="1774825">
                  <a:moveTo>
                    <a:pt x="0" y="0"/>
                  </a:moveTo>
                  <a:lnTo>
                    <a:pt x="7915146" y="0"/>
                  </a:lnTo>
                  <a:lnTo>
                    <a:pt x="7915146" y="1774825"/>
                  </a:lnTo>
                  <a:lnTo>
                    <a:pt x="0" y="1774825"/>
                  </a:lnTo>
                  <a:close/>
                </a:path>
              </a:pathLst>
            </a:custGeom>
            <a:solidFill>
              <a:srgbClr val="000000">
                <a:alpha val="0"/>
              </a:srgbClr>
            </a:solidFill>
          </p:spPr>
        </p:sp>
        <p:sp>
          <p:nvSpPr>
            <p:cNvPr id="4" name="TextBox 4"/>
            <p:cNvSpPr txBox="1"/>
            <p:nvPr/>
          </p:nvSpPr>
          <p:spPr>
            <a:xfrm>
              <a:off x="0" y="-238125"/>
              <a:ext cx="7915145" cy="2012950"/>
            </a:xfrm>
            <a:prstGeom prst="rect">
              <a:avLst/>
            </a:prstGeom>
          </p:spPr>
          <p:txBody>
            <a:bodyPr lIns="0" tIns="0" rIns="0" bIns="0" rtlCol="0" anchor="t"/>
            <a:lstStyle/>
            <a:p>
              <a:pPr algn="ctr">
                <a:lnSpc>
                  <a:spcPts val="8400"/>
                </a:lnSpc>
              </a:pPr>
              <a:r>
                <a:rPr lang="en-US" sz="6000" b="1">
                  <a:solidFill>
                    <a:srgbClr val="984807"/>
                  </a:solidFill>
                  <a:latin typeface="Arial Bold"/>
                  <a:ea typeface="Arial Bold"/>
                  <a:cs typeface="Arial Bold"/>
                  <a:sym typeface="Arial Bold"/>
                </a:rPr>
                <a:t>Continued</a:t>
              </a:r>
              <a:r>
                <a:rPr lang="en-US" sz="6000" b="1">
                  <a:solidFill>
                    <a:srgbClr val="726151"/>
                  </a:solidFill>
                  <a:latin typeface="Arial Bold"/>
                  <a:ea typeface="Arial Bold"/>
                  <a:cs typeface="Arial Bold"/>
                  <a:sym typeface="Arial Bold"/>
                </a:rPr>
                <a:t> </a:t>
              </a:r>
            </a:p>
          </p:txBody>
        </p:sp>
      </p:grpSp>
      <p:sp>
        <p:nvSpPr>
          <p:cNvPr id="5" name="Freeform 5"/>
          <p:cNvSpPr/>
          <p:nvPr/>
        </p:nvSpPr>
        <p:spPr>
          <a:xfrm rot="-1279815">
            <a:off x="16479612" y="1697"/>
            <a:ext cx="3616776" cy="7883980"/>
          </a:xfrm>
          <a:custGeom>
            <a:avLst/>
            <a:gdLst/>
            <a:ahLst/>
            <a:cxnLst/>
            <a:rect l="l" t="t" r="r" b="b"/>
            <a:pathLst>
              <a:path w="3616776" h="7883980">
                <a:moveTo>
                  <a:pt x="0" y="0"/>
                </a:moveTo>
                <a:lnTo>
                  <a:pt x="3616776" y="0"/>
                </a:lnTo>
                <a:lnTo>
                  <a:pt x="3616776" y="7883980"/>
                </a:lnTo>
                <a:lnTo>
                  <a:pt x="0" y="7883980"/>
                </a:lnTo>
                <a:lnTo>
                  <a:pt x="0" y="0"/>
                </a:lnTo>
                <a:close/>
              </a:path>
            </a:pathLst>
          </a:custGeom>
          <a:blipFill>
            <a:blip r:embed="rId2">
              <a:alphaModFix amt="75000"/>
              <a:extLst>
                <a:ext uri="{96DAC541-7B7A-43D3-8B79-37D633B846F1}">
                  <asvg:svgBlip xmlns:asvg="http://schemas.microsoft.com/office/drawing/2016/SVG/main" r:embed="rId3"/>
                </a:ext>
              </a:extLst>
            </a:blip>
            <a:stretch>
              <a:fillRect t="-39" b="-39"/>
            </a:stretch>
          </a:blipFill>
        </p:spPr>
      </p:sp>
      <p:sp>
        <p:nvSpPr>
          <p:cNvPr id="6" name="Freeform 6"/>
          <p:cNvSpPr/>
          <p:nvPr/>
        </p:nvSpPr>
        <p:spPr>
          <a:xfrm>
            <a:off x="-2014169" y="6326281"/>
            <a:ext cx="6493940" cy="6529555"/>
          </a:xfrm>
          <a:custGeom>
            <a:avLst/>
            <a:gdLst/>
            <a:ahLst/>
            <a:cxnLst/>
            <a:rect l="l" t="t" r="r" b="b"/>
            <a:pathLst>
              <a:path w="6493940" h="6529555">
                <a:moveTo>
                  <a:pt x="0" y="0"/>
                </a:moveTo>
                <a:lnTo>
                  <a:pt x="6493940" y="0"/>
                </a:lnTo>
                <a:lnTo>
                  <a:pt x="6493940" y="6529555"/>
                </a:lnTo>
                <a:lnTo>
                  <a:pt x="0" y="6529555"/>
                </a:lnTo>
                <a:lnTo>
                  <a:pt x="0" y="0"/>
                </a:lnTo>
                <a:close/>
              </a:path>
            </a:pathLst>
          </a:custGeom>
          <a:blipFill>
            <a:blip r:embed="rId4">
              <a:extLst>
                <a:ext uri="{96DAC541-7B7A-43D3-8B79-37D633B846F1}">
                  <asvg:svgBlip xmlns:asvg="http://schemas.microsoft.com/office/drawing/2016/SVG/main" r:embed="rId5"/>
                </a:ext>
              </a:extLst>
            </a:blip>
            <a:stretch>
              <a:fillRect l="-127" r="-127"/>
            </a:stretch>
          </a:blipFill>
        </p:spPr>
      </p:sp>
      <p:sp>
        <p:nvSpPr>
          <p:cNvPr id="7" name="Freeform 7"/>
          <p:cNvSpPr/>
          <p:nvPr/>
        </p:nvSpPr>
        <p:spPr>
          <a:xfrm rot="4368370">
            <a:off x="-636901" y="4079291"/>
            <a:ext cx="2689927" cy="1649410"/>
          </a:xfrm>
          <a:custGeom>
            <a:avLst/>
            <a:gdLst/>
            <a:ahLst/>
            <a:cxnLst/>
            <a:rect l="l" t="t" r="r" b="b"/>
            <a:pathLst>
              <a:path w="2689927" h="1649410">
                <a:moveTo>
                  <a:pt x="0" y="0"/>
                </a:moveTo>
                <a:lnTo>
                  <a:pt x="2689927" y="0"/>
                </a:lnTo>
                <a:lnTo>
                  <a:pt x="2689927" y="1649410"/>
                </a:lnTo>
                <a:lnTo>
                  <a:pt x="0" y="1649410"/>
                </a:lnTo>
                <a:lnTo>
                  <a:pt x="0" y="0"/>
                </a:lnTo>
                <a:close/>
              </a:path>
            </a:pathLst>
          </a:custGeom>
          <a:blipFill>
            <a:blip r:embed="rId6">
              <a:extLst>
                <a:ext uri="{96DAC541-7B7A-43D3-8B79-37D633B846F1}">
                  <asvg:svgBlip xmlns:asvg="http://schemas.microsoft.com/office/drawing/2016/SVG/main" r:embed="rId7"/>
                </a:ext>
              </a:extLst>
            </a:blip>
            <a:stretch>
              <a:fillRect l="-36867" r="-36867"/>
            </a:stretch>
          </a:blipFill>
        </p:spPr>
      </p:sp>
      <p:sp>
        <p:nvSpPr>
          <p:cNvPr id="8" name="Freeform 8"/>
          <p:cNvSpPr/>
          <p:nvPr/>
        </p:nvSpPr>
        <p:spPr>
          <a:xfrm rot="8309931" flipV="1">
            <a:off x="7582" y="6646127"/>
            <a:ext cx="2450438" cy="4185866"/>
          </a:xfrm>
          <a:custGeom>
            <a:avLst/>
            <a:gdLst/>
            <a:ahLst/>
            <a:cxnLst/>
            <a:rect l="l" t="t" r="r" b="b"/>
            <a:pathLst>
              <a:path w="2450438" h="4185866">
                <a:moveTo>
                  <a:pt x="0" y="4185866"/>
                </a:moveTo>
                <a:lnTo>
                  <a:pt x="2450438" y="4185866"/>
                </a:lnTo>
                <a:lnTo>
                  <a:pt x="2450438" y="0"/>
                </a:lnTo>
                <a:lnTo>
                  <a:pt x="0" y="0"/>
                </a:lnTo>
                <a:lnTo>
                  <a:pt x="0" y="4185866"/>
                </a:lnTo>
                <a:close/>
              </a:path>
            </a:pathLst>
          </a:custGeom>
          <a:blipFill>
            <a:blip r:embed="rId8">
              <a:extLst>
                <a:ext uri="{96DAC541-7B7A-43D3-8B79-37D633B846F1}">
                  <asvg:svgBlip xmlns:asvg="http://schemas.microsoft.com/office/drawing/2016/SVG/main" r:embed="rId9"/>
                </a:ext>
              </a:extLst>
            </a:blip>
            <a:stretch>
              <a:fillRect l="-81" r="-81"/>
            </a:stretch>
          </a:blipFill>
        </p:spPr>
      </p:sp>
      <p:grpSp>
        <p:nvGrpSpPr>
          <p:cNvPr id="9" name="Group 9"/>
          <p:cNvGrpSpPr/>
          <p:nvPr/>
        </p:nvGrpSpPr>
        <p:grpSpPr>
          <a:xfrm>
            <a:off x="2209800" y="2371725"/>
            <a:ext cx="13258800" cy="7415213"/>
            <a:chOff x="0" y="0"/>
            <a:chExt cx="17678400" cy="9886951"/>
          </a:xfrm>
        </p:grpSpPr>
        <p:sp>
          <p:nvSpPr>
            <p:cNvPr id="10" name="Freeform 10"/>
            <p:cNvSpPr/>
            <p:nvPr/>
          </p:nvSpPr>
          <p:spPr>
            <a:xfrm>
              <a:off x="0" y="0"/>
              <a:ext cx="17678400" cy="9886951"/>
            </a:xfrm>
            <a:custGeom>
              <a:avLst/>
              <a:gdLst/>
              <a:ahLst/>
              <a:cxnLst/>
              <a:rect l="l" t="t" r="r" b="b"/>
              <a:pathLst>
                <a:path w="17678400" h="9886951">
                  <a:moveTo>
                    <a:pt x="0" y="0"/>
                  </a:moveTo>
                  <a:lnTo>
                    <a:pt x="17678400" y="0"/>
                  </a:lnTo>
                  <a:lnTo>
                    <a:pt x="17678400" y="9886951"/>
                  </a:lnTo>
                  <a:lnTo>
                    <a:pt x="0" y="9886951"/>
                  </a:lnTo>
                  <a:close/>
                </a:path>
              </a:pathLst>
            </a:custGeom>
            <a:solidFill>
              <a:srgbClr val="000000">
                <a:alpha val="0"/>
              </a:srgbClr>
            </a:solidFill>
          </p:spPr>
        </p:sp>
        <p:sp>
          <p:nvSpPr>
            <p:cNvPr id="11" name="TextBox 11"/>
            <p:cNvSpPr txBox="1"/>
            <p:nvPr/>
          </p:nvSpPr>
          <p:spPr>
            <a:xfrm>
              <a:off x="0" y="-38100"/>
              <a:ext cx="17678400" cy="9925051"/>
            </a:xfrm>
            <a:prstGeom prst="rect">
              <a:avLst/>
            </a:prstGeom>
          </p:spPr>
          <p:txBody>
            <a:bodyPr lIns="0" tIns="0" rIns="0" bIns="0" rtlCol="0" anchor="t"/>
            <a:lstStyle/>
            <a:p>
              <a:pPr algn="l">
                <a:lnSpc>
                  <a:spcPts val="2160"/>
                </a:lnSpc>
              </a:pPr>
              <a:r>
                <a:rPr lang="en-US" sz="1800">
                  <a:solidFill>
                    <a:srgbClr val="000000"/>
                  </a:solidFill>
                  <a:latin typeface="Arial"/>
                  <a:ea typeface="Arial"/>
                  <a:cs typeface="Arial"/>
                  <a:sym typeface="Arial"/>
                </a:rPr>
                <a:t>14.Kavitha, D., Varalaxmi, T., &amp; Mamatha, E. (2020). an Empirical Study on Customers’ Preferences Towards Digital Marketing Strategy: Coupon and Discount Based Promotional Activities. </a:t>
              </a:r>
              <a:r>
                <a:rPr lang="en-US" sz="1800" i="1">
                  <a:solidFill>
                    <a:srgbClr val="000000"/>
                  </a:solidFill>
                  <a:latin typeface="Arial Italics"/>
                  <a:ea typeface="Arial Italics"/>
                  <a:cs typeface="Arial Italics"/>
                  <a:sym typeface="Arial Italics"/>
                </a:rPr>
                <a:t>International Journal of Applied Services Marketing Perspectives</a:t>
              </a:r>
              <a:r>
                <a:rPr lang="en-US" sz="1800">
                  <a:solidFill>
                    <a:srgbClr val="000000"/>
                  </a:solidFill>
                  <a:latin typeface="Arial"/>
                  <a:ea typeface="Arial"/>
                  <a:cs typeface="Arial"/>
                  <a:sym typeface="Arial"/>
                </a:rPr>
                <a:t>, </a:t>
              </a:r>
              <a:r>
                <a:rPr lang="en-US" sz="1800" i="1">
                  <a:solidFill>
                    <a:srgbClr val="000000"/>
                  </a:solidFill>
                  <a:latin typeface="Arial Italics"/>
                  <a:ea typeface="Arial Italics"/>
                  <a:cs typeface="Arial Italics"/>
                  <a:sym typeface="Arial Italics"/>
                </a:rPr>
                <a:t>9</a:t>
              </a:r>
              <a:r>
                <a:rPr lang="en-US" sz="1800">
                  <a:solidFill>
                    <a:srgbClr val="000000"/>
                  </a:solidFill>
                  <a:latin typeface="Arial"/>
                  <a:ea typeface="Arial"/>
                  <a:cs typeface="Arial"/>
                  <a:sym typeface="Arial"/>
                </a:rPr>
                <a:t>(1), 3730–3735.</a:t>
              </a:r>
            </a:p>
            <a:p>
              <a:pPr algn="l">
                <a:lnSpc>
                  <a:spcPts val="2160"/>
                </a:lnSpc>
              </a:pPr>
              <a:r>
                <a:rPr lang="en-US" sz="1800">
                  <a:solidFill>
                    <a:srgbClr val="000000"/>
                  </a:solidFill>
                  <a:latin typeface="Arial"/>
                  <a:ea typeface="Arial"/>
                  <a:cs typeface="Arial"/>
                  <a:sym typeface="Arial"/>
                </a:rPr>
                <a:t>15.Lee, S. (2002). The effectiveness of promotional tools on consumer buying behavior in Korea. </a:t>
              </a:r>
              <a:r>
                <a:rPr lang="en-US" sz="1800" i="1">
                  <a:solidFill>
                    <a:srgbClr val="000000"/>
                  </a:solidFill>
                  <a:latin typeface="Arial Italics"/>
                  <a:ea typeface="Arial Italics"/>
                  <a:cs typeface="Arial Italics"/>
                  <a:sym typeface="Arial Italics"/>
                </a:rPr>
                <a:t>Journal of Retailing and Consumer Services</a:t>
              </a:r>
              <a:r>
                <a:rPr lang="en-US" sz="1800">
                  <a:solidFill>
                    <a:srgbClr val="000000"/>
                  </a:solidFill>
                  <a:latin typeface="Arial"/>
                  <a:ea typeface="Arial"/>
                  <a:cs typeface="Arial"/>
                  <a:sym typeface="Arial"/>
                </a:rPr>
                <a:t>, </a:t>
              </a:r>
              <a:r>
                <a:rPr lang="en-US" sz="1800" i="1">
                  <a:solidFill>
                    <a:srgbClr val="000000"/>
                  </a:solidFill>
                  <a:latin typeface="Arial Italics"/>
                  <a:ea typeface="Arial Italics"/>
                  <a:cs typeface="Arial Italics"/>
                  <a:sym typeface="Arial Italics"/>
                </a:rPr>
                <a:t>9</a:t>
              </a:r>
              <a:r>
                <a:rPr lang="en-US" sz="1800">
                  <a:solidFill>
                    <a:srgbClr val="000000"/>
                  </a:solidFill>
                  <a:latin typeface="Arial"/>
                  <a:ea typeface="Arial"/>
                  <a:cs typeface="Arial"/>
                  <a:sym typeface="Arial"/>
                </a:rPr>
                <a:t>(1), 15–24.</a:t>
              </a:r>
            </a:p>
            <a:p>
              <a:pPr algn="l">
                <a:lnSpc>
                  <a:spcPts val="2160"/>
                </a:lnSpc>
              </a:pPr>
              <a:r>
                <a:rPr lang="en-US" sz="1800">
                  <a:solidFill>
                    <a:srgbClr val="000000"/>
                  </a:solidFill>
                  <a:latin typeface="Arial"/>
                  <a:ea typeface="Arial"/>
                  <a:cs typeface="Arial"/>
                  <a:sym typeface="Arial"/>
                </a:rPr>
                <a:t>16.Liu, Q., Zhang, X., Huang, S., Zhang, L., &amp; Zhao, Y. (2020). Exploring consumers’ buying behavior in a large online Promotion Activity: The role of Psychological Distance and Involvement. </a:t>
              </a:r>
              <a:r>
                <a:rPr lang="en-US" sz="1800" i="1">
                  <a:solidFill>
                    <a:srgbClr val="000000"/>
                  </a:solidFill>
                  <a:latin typeface="Arial Italics"/>
                  <a:ea typeface="Arial Italics"/>
                  <a:cs typeface="Arial Italics"/>
                  <a:sym typeface="Arial Italics"/>
                </a:rPr>
                <a:t>Journal of Theoretical and Applied Electronic Commerce Research</a:t>
              </a:r>
              <a:r>
                <a:rPr lang="en-US" sz="1800">
                  <a:solidFill>
                    <a:srgbClr val="000000"/>
                  </a:solidFill>
                  <a:latin typeface="Arial"/>
                  <a:ea typeface="Arial"/>
                  <a:cs typeface="Arial"/>
                  <a:sym typeface="Arial"/>
                </a:rPr>
                <a:t>, </a:t>
              </a:r>
              <a:r>
                <a:rPr lang="en-US" sz="1800" i="1">
                  <a:solidFill>
                    <a:srgbClr val="000000"/>
                  </a:solidFill>
                  <a:latin typeface="Arial Italics"/>
                  <a:ea typeface="Arial Italics"/>
                  <a:cs typeface="Arial Italics"/>
                  <a:sym typeface="Arial Italics"/>
                </a:rPr>
                <a:t>15</a:t>
              </a:r>
              <a:r>
                <a:rPr lang="en-US" sz="1800">
                  <a:solidFill>
                    <a:srgbClr val="000000"/>
                  </a:solidFill>
                  <a:latin typeface="Arial"/>
                  <a:ea typeface="Arial"/>
                  <a:cs typeface="Arial"/>
                  <a:sym typeface="Arial"/>
                </a:rPr>
                <a:t>(1), 66–80. https://doi.org/10.4067/S0718-18762020000100106</a:t>
              </a:r>
            </a:p>
            <a:p>
              <a:pPr algn="l">
                <a:lnSpc>
                  <a:spcPts val="2160"/>
                </a:lnSpc>
              </a:pPr>
              <a:r>
                <a:rPr lang="en-US" sz="1800">
                  <a:solidFill>
                    <a:srgbClr val="000000"/>
                  </a:solidFill>
                  <a:latin typeface="Arial"/>
                  <a:ea typeface="Arial"/>
                  <a:cs typeface="Arial"/>
                  <a:sym typeface="Arial"/>
                </a:rPr>
                <a:t>17.Mainardes, E. W. (2019). </a:t>
              </a:r>
              <a:r>
                <a:rPr lang="en-US" sz="1800" i="1">
                  <a:solidFill>
                    <a:srgbClr val="000000"/>
                  </a:solidFill>
                  <a:latin typeface="Arial Italics"/>
                  <a:ea typeface="Arial Italics"/>
                  <a:cs typeface="Arial Italics"/>
                  <a:sym typeface="Arial Italics"/>
                </a:rPr>
                <a:t>Disponible en: https://www.redalyc.org/articulo.oa?id=471767360005</a:t>
              </a:r>
              <a:r>
                <a:rPr lang="en-US" sz="1800">
                  <a:solidFill>
                    <a:srgbClr val="000000"/>
                  </a:solidFill>
                  <a:latin typeface="Arial"/>
                  <a:ea typeface="Arial"/>
                  <a:cs typeface="Arial"/>
                  <a:sym typeface="Arial"/>
                </a:rPr>
                <a:t>.</a:t>
              </a:r>
            </a:p>
            <a:p>
              <a:pPr algn="l">
                <a:lnSpc>
                  <a:spcPts val="2160"/>
                </a:lnSpc>
              </a:pPr>
              <a:r>
                <a:rPr lang="en-US" sz="1800">
                  <a:solidFill>
                    <a:srgbClr val="000000"/>
                  </a:solidFill>
                  <a:latin typeface="Arial"/>
                  <a:ea typeface="Arial"/>
                  <a:cs typeface="Arial"/>
                  <a:sym typeface="Arial"/>
                </a:rPr>
                <a:t>18.Moreno, F. M., Lafuente, J. G., Carreón, F. Á., &amp; Moreno, S. M. (2017). The Characterization of the Millennials and Their Buying Behavior. </a:t>
              </a:r>
              <a:r>
                <a:rPr lang="en-US" sz="1800" i="1">
                  <a:solidFill>
                    <a:srgbClr val="000000"/>
                  </a:solidFill>
                  <a:latin typeface="Arial Italics"/>
                  <a:ea typeface="Arial Italics"/>
                  <a:cs typeface="Arial Italics"/>
                  <a:sym typeface="Arial Italics"/>
                </a:rPr>
                <a:t>International Journal of Marketing Studies</a:t>
              </a:r>
              <a:r>
                <a:rPr lang="en-US" sz="1800">
                  <a:solidFill>
                    <a:srgbClr val="000000"/>
                  </a:solidFill>
                  <a:latin typeface="Arial"/>
                  <a:ea typeface="Arial"/>
                  <a:cs typeface="Arial"/>
                  <a:sym typeface="Arial"/>
                </a:rPr>
                <a:t>, </a:t>
              </a:r>
              <a:r>
                <a:rPr lang="en-US" sz="1800" i="1">
                  <a:solidFill>
                    <a:srgbClr val="000000"/>
                  </a:solidFill>
                  <a:latin typeface="Arial Italics"/>
                  <a:ea typeface="Arial Italics"/>
                  <a:cs typeface="Arial Italics"/>
                  <a:sym typeface="Arial Italics"/>
                </a:rPr>
                <a:t>9</a:t>
              </a:r>
              <a:r>
                <a:rPr lang="en-US" sz="1800">
                  <a:solidFill>
                    <a:srgbClr val="000000"/>
                  </a:solidFill>
                  <a:latin typeface="Arial"/>
                  <a:ea typeface="Arial"/>
                  <a:cs typeface="Arial"/>
                  <a:sym typeface="Arial"/>
                </a:rPr>
                <a:t>(5), 135. https://doi.org/10.5539/ijms.v9n5p135</a:t>
              </a:r>
            </a:p>
            <a:p>
              <a:pPr algn="l">
                <a:lnSpc>
                  <a:spcPts val="2160"/>
                </a:lnSpc>
              </a:pPr>
              <a:r>
                <a:rPr lang="en-US" sz="1800">
                  <a:solidFill>
                    <a:srgbClr val="000000"/>
                  </a:solidFill>
                  <a:latin typeface="Arial"/>
                  <a:ea typeface="Arial"/>
                  <a:cs typeface="Arial"/>
                  <a:sym typeface="Arial"/>
                </a:rPr>
                <a:t>19.Nagadeepa, C., &amp; Tamil Selvi, J. (2015). Impact of Sale Promotıon Technıques on Consumers’ Impulse Buyıng Behavıour towards Apparels at Bangalore. </a:t>
              </a:r>
              <a:r>
                <a:rPr lang="en-US" sz="1800" i="1">
                  <a:solidFill>
                    <a:srgbClr val="000000"/>
                  </a:solidFill>
                  <a:latin typeface="Arial Italics"/>
                  <a:ea typeface="Arial Italics"/>
                  <a:cs typeface="Arial Italics"/>
                  <a:sym typeface="Arial Italics"/>
                </a:rPr>
                <a:t>Asian Journal of Management Sciences &amp; Education</a:t>
              </a:r>
              <a:r>
                <a:rPr lang="en-US" sz="1800">
                  <a:solidFill>
                    <a:srgbClr val="000000"/>
                  </a:solidFill>
                  <a:latin typeface="Arial"/>
                  <a:ea typeface="Arial"/>
                  <a:cs typeface="Arial"/>
                  <a:sym typeface="Arial"/>
                </a:rPr>
                <a:t>, </a:t>
              </a:r>
              <a:r>
                <a:rPr lang="en-US" sz="1800" i="1">
                  <a:solidFill>
                    <a:srgbClr val="000000"/>
                  </a:solidFill>
                  <a:latin typeface="Arial Italics"/>
                  <a:ea typeface="Arial Italics"/>
                  <a:cs typeface="Arial Italics"/>
                  <a:sym typeface="Arial Italics"/>
                </a:rPr>
                <a:t>4</a:t>
              </a:r>
              <a:r>
                <a:rPr lang="en-US" sz="1800">
                  <a:solidFill>
                    <a:srgbClr val="000000"/>
                  </a:solidFill>
                  <a:latin typeface="Arial"/>
                  <a:ea typeface="Arial"/>
                  <a:cs typeface="Arial"/>
                  <a:sym typeface="Arial"/>
                </a:rPr>
                <a:t>(1), 116–124.</a:t>
              </a:r>
            </a:p>
            <a:p>
              <a:pPr algn="l">
                <a:lnSpc>
                  <a:spcPts val="2160"/>
                </a:lnSpc>
              </a:pPr>
              <a:r>
                <a:rPr lang="en-US" sz="1800">
                  <a:solidFill>
                    <a:srgbClr val="000000"/>
                  </a:solidFill>
                  <a:latin typeface="Arial"/>
                  <a:ea typeface="Arial"/>
                  <a:cs typeface="Arial"/>
                  <a:sym typeface="Arial"/>
                </a:rPr>
                <a:t>20.Nakarmi, A. (2018). Effect of Sales Promotion on Consumer Behavior. </a:t>
              </a:r>
              <a:r>
                <a:rPr lang="en-US" sz="1800" i="1">
                  <a:solidFill>
                    <a:srgbClr val="000000"/>
                  </a:solidFill>
                  <a:latin typeface="Arial Italics"/>
                  <a:ea typeface="Arial Italics"/>
                  <a:cs typeface="Arial Italics"/>
                  <a:sym typeface="Arial Italics"/>
                </a:rPr>
                <a:t>Seinajoki University of Applied Science</a:t>
              </a:r>
              <a:r>
                <a:rPr lang="en-US" sz="1800">
                  <a:solidFill>
                    <a:srgbClr val="000000"/>
                  </a:solidFill>
                  <a:latin typeface="Arial"/>
                  <a:ea typeface="Arial"/>
                  <a:cs typeface="Arial"/>
                  <a:sym typeface="Arial"/>
                </a:rPr>
                <a:t>, </a:t>
              </a:r>
              <a:r>
                <a:rPr lang="en-US" sz="1800" i="1">
                  <a:solidFill>
                    <a:srgbClr val="000000"/>
                  </a:solidFill>
                  <a:latin typeface="Arial Italics"/>
                  <a:ea typeface="Arial Italics"/>
                  <a:cs typeface="Arial Italics"/>
                  <a:sym typeface="Arial Italics"/>
                </a:rPr>
                <a:t>1</a:t>
              </a:r>
              <a:r>
                <a:rPr lang="en-US" sz="1800">
                  <a:solidFill>
                    <a:srgbClr val="000000"/>
                  </a:solidFill>
                  <a:latin typeface="Arial"/>
                  <a:ea typeface="Arial"/>
                  <a:cs typeface="Arial"/>
                  <a:sym typeface="Arial"/>
                </a:rPr>
                <a:t>(33), 1–44.</a:t>
              </a:r>
            </a:p>
            <a:p>
              <a:pPr algn="l">
                <a:lnSpc>
                  <a:spcPts val="2160"/>
                </a:lnSpc>
              </a:pPr>
              <a:r>
                <a:rPr lang="en-US" sz="1800">
                  <a:solidFill>
                    <a:srgbClr val="000000"/>
                  </a:solidFill>
                  <a:latin typeface="Arial"/>
                  <a:ea typeface="Arial"/>
                  <a:cs typeface="Arial"/>
                  <a:sym typeface="Arial"/>
                </a:rPr>
                <a:t>21.Oning, A., &amp; Ari, A. (2024). </a:t>
              </a:r>
              <a:r>
                <a:rPr lang="en-US" sz="1800" i="1">
                  <a:solidFill>
                    <a:srgbClr val="000000"/>
                  </a:solidFill>
                  <a:latin typeface="Arial Italics"/>
                  <a:ea typeface="Arial Italics"/>
                  <a:cs typeface="Arial Italics"/>
                  <a:sym typeface="Arial Italics"/>
                </a:rPr>
                <a:t>The Dynamics of Impulse Buying : Exploring the Impact of Price Discounts , Time Pressure , Easy of Transaction , and Price Perception on Shopee Live</a:t>
              </a:r>
              <a:r>
                <a:rPr lang="en-US" sz="1800">
                  <a:solidFill>
                    <a:srgbClr val="000000"/>
                  </a:solidFill>
                  <a:latin typeface="Arial"/>
                  <a:ea typeface="Arial"/>
                  <a:cs typeface="Arial"/>
                  <a:sym typeface="Arial"/>
                </a:rPr>
                <a:t>. </a:t>
              </a:r>
              <a:r>
                <a:rPr lang="en-US" sz="1800" i="1">
                  <a:solidFill>
                    <a:srgbClr val="000000"/>
                  </a:solidFill>
                  <a:latin typeface="Arial Italics"/>
                  <a:ea typeface="Arial Italics"/>
                  <a:cs typeface="Arial Italics"/>
                  <a:sym typeface="Arial Italics"/>
                </a:rPr>
                <a:t>5</a:t>
              </a:r>
              <a:r>
                <a:rPr lang="en-US" sz="1800">
                  <a:solidFill>
                    <a:srgbClr val="000000"/>
                  </a:solidFill>
                  <a:latin typeface="Arial"/>
                  <a:ea typeface="Arial"/>
                  <a:cs typeface="Arial"/>
                  <a:sym typeface="Arial"/>
                </a:rPr>
                <a:t>(5), 4888–4895.</a:t>
              </a:r>
            </a:p>
            <a:p>
              <a:pPr algn="l">
                <a:lnSpc>
                  <a:spcPts val="2160"/>
                </a:lnSpc>
              </a:pPr>
              <a:endParaRPr lang="en-US" sz="1800">
                <a:solidFill>
                  <a:srgbClr val="000000"/>
                </a:solidFill>
                <a:latin typeface="Arial"/>
                <a:ea typeface="Arial"/>
                <a:cs typeface="Arial"/>
                <a:sym typeface="Arial"/>
              </a:endParaRPr>
            </a:p>
            <a:p>
              <a:pPr algn="l">
                <a:lnSpc>
                  <a:spcPts val="2160"/>
                </a:lnSpc>
              </a:pPr>
              <a:endParaRPr lang="en-US" sz="1800">
                <a:solidFill>
                  <a:srgbClr val="000000"/>
                </a:solidFill>
                <a:latin typeface="Arial"/>
                <a:ea typeface="Arial"/>
                <a:cs typeface="Arial"/>
                <a:sym typeface="Arial"/>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1279815">
            <a:off x="16479612" y="1697"/>
            <a:ext cx="3616776" cy="7883980"/>
          </a:xfrm>
          <a:custGeom>
            <a:avLst/>
            <a:gdLst/>
            <a:ahLst/>
            <a:cxnLst/>
            <a:rect l="l" t="t" r="r" b="b"/>
            <a:pathLst>
              <a:path w="3616776" h="7883980">
                <a:moveTo>
                  <a:pt x="0" y="0"/>
                </a:moveTo>
                <a:lnTo>
                  <a:pt x="3616776" y="0"/>
                </a:lnTo>
                <a:lnTo>
                  <a:pt x="3616776" y="7883980"/>
                </a:lnTo>
                <a:lnTo>
                  <a:pt x="0" y="7883980"/>
                </a:lnTo>
                <a:lnTo>
                  <a:pt x="0" y="0"/>
                </a:lnTo>
                <a:close/>
              </a:path>
            </a:pathLst>
          </a:custGeom>
          <a:blipFill>
            <a:blip r:embed="rId2">
              <a:alphaModFix amt="75000"/>
              <a:extLst>
                <a:ext uri="{96DAC541-7B7A-43D3-8B79-37D633B846F1}">
                  <asvg:svgBlip xmlns:asvg="http://schemas.microsoft.com/office/drawing/2016/SVG/main" r:embed="rId3"/>
                </a:ext>
              </a:extLst>
            </a:blip>
            <a:stretch>
              <a:fillRect t="-39" b="-39"/>
            </a:stretch>
          </a:blipFill>
        </p:spPr>
      </p:sp>
      <p:sp>
        <p:nvSpPr>
          <p:cNvPr id="3" name="Freeform 3"/>
          <p:cNvSpPr/>
          <p:nvPr/>
        </p:nvSpPr>
        <p:spPr>
          <a:xfrm>
            <a:off x="-2014169" y="6326281"/>
            <a:ext cx="6493940" cy="6529555"/>
          </a:xfrm>
          <a:custGeom>
            <a:avLst/>
            <a:gdLst/>
            <a:ahLst/>
            <a:cxnLst/>
            <a:rect l="l" t="t" r="r" b="b"/>
            <a:pathLst>
              <a:path w="6493940" h="6529555">
                <a:moveTo>
                  <a:pt x="0" y="0"/>
                </a:moveTo>
                <a:lnTo>
                  <a:pt x="6493940" y="0"/>
                </a:lnTo>
                <a:lnTo>
                  <a:pt x="6493940" y="6529555"/>
                </a:lnTo>
                <a:lnTo>
                  <a:pt x="0" y="6529555"/>
                </a:lnTo>
                <a:lnTo>
                  <a:pt x="0" y="0"/>
                </a:lnTo>
                <a:close/>
              </a:path>
            </a:pathLst>
          </a:custGeom>
          <a:blipFill>
            <a:blip r:embed="rId4">
              <a:extLst>
                <a:ext uri="{96DAC541-7B7A-43D3-8B79-37D633B846F1}">
                  <asvg:svgBlip xmlns:asvg="http://schemas.microsoft.com/office/drawing/2016/SVG/main" r:embed="rId5"/>
                </a:ext>
              </a:extLst>
            </a:blip>
            <a:stretch>
              <a:fillRect l="-127" r="-127"/>
            </a:stretch>
          </a:blipFill>
        </p:spPr>
      </p:sp>
      <p:sp>
        <p:nvSpPr>
          <p:cNvPr id="4" name="Freeform 4"/>
          <p:cNvSpPr/>
          <p:nvPr/>
        </p:nvSpPr>
        <p:spPr>
          <a:xfrm rot="4368370">
            <a:off x="-636901" y="4079291"/>
            <a:ext cx="2689927" cy="1649410"/>
          </a:xfrm>
          <a:custGeom>
            <a:avLst/>
            <a:gdLst/>
            <a:ahLst/>
            <a:cxnLst/>
            <a:rect l="l" t="t" r="r" b="b"/>
            <a:pathLst>
              <a:path w="2689927" h="1649410">
                <a:moveTo>
                  <a:pt x="0" y="0"/>
                </a:moveTo>
                <a:lnTo>
                  <a:pt x="2689927" y="0"/>
                </a:lnTo>
                <a:lnTo>
                  <a:pt x="2689927" y="1649410"/>
                </a:lnTo>
                <a:lnTo>
                  <a:pt x="0" y="1649410"/>
                </a:lnTo>
                <a:lnTo>
                  <a:pt x="0" y="0"/>
                </a:lnTo>
                <a:close/>
              </a:path>
            </a:pathLst>
          </a:custGeom>
          <a:blipFill>
            <a:blip r:embed="rId6">
              <a:extLst>
                <a:ext uri="{96DAC541-7B7A-43D3-8B79-37D633B846F1}">
                  <asvg:svgBlip xmlns:asvg="http://schemas.microsoft.com/office/drawing/2016/SVG/main" r:embed="rId7"/>
                </a:ext>
              </a:extLst>
            </a:blip>
            <a:stretch>
              <a:fillRect l="-36867" r="-36867"/>
            </a:stretch>
          </a:blipFill>
        </p:spPr>
      </p:sp>
      <p:sp>
        <p:nvSpPr>
          <p:cNvPr id="5" name="Freeform 5"/>
          <p:cNvSpPr/>
          <p:nvPr/>
        </p:nvSpPr>
        <p:spPr>
          <a:xfrm rot="8309931" flipV="1">
            <a:off x="7582" y="6646127"/>
            <a:ext cx="2450438" cy="4185866"/>
          </a:xfrm>
          <a:custGeom>
            <a:avLst/>
            <a:gdLst/>
            <a:ahLst/>
            <a:cxnLst/>
            <a:rect l="l" t="t" r="r" b="b"/>
            <a:pathLst>
              <a:path w="2450438" h="4185866">
                <a:moveTo>
                  <a:pt x="0" y="4185866"/>
                </a:moveTo>
                <a:lnTo>
                  <a:pt x="2450438" y="4185866"/>
                </a:lnTo>
                <a:lnTo>
                  <a:pt x="2450438" y="0"/>
                </a:lnTo>
                <a:lnTo>
                  <a:pt x="0" y="0"/>
                </a:lnTo>
                <a:lnTo>
                  <a:pt x="0" y="4185866"/>
                </a:lnTo>
                <a:close/>
              </a:path>
            </a:pathLst>
          </a:custGeom>
          <a:blipFill>
            <a:blip r:embed="rId8">
              <a:extLst>
                <a:ext uri="{96DAC541-7B7A-43D3-8B79-37D633B846F1}">
                  <asvg:svgBlip xmlns:asvg="http://schemas.microsoft.com/office/drawing/2016/SVG/main" r:embed="rId9"/>
                </a:ext>
              </a:extLst>
            </a:blip>
            <a:stretch>
              <a:fillRect l="-81" r="-81"/>
            </a:stretch>
          </a:blipFill>
        </p:spPr>
      </p:sp>
      <p:grpSp>
        <p:nvGrpSpPr>
          <p:cNvPr id="6" name="Group 6"/>
          <p:cNvGrpSpPr/>
          <p:nvPr/>
        </p:nvGrpSpPr>
        <p:grpSpPr>
          <a:xfrm>
            <a:off x="7260332" y="611981"/>
            <a:ext cx="3767336" cy="1331119"/>
            <a:chOff x="0" y="0"/>
            <a:chExt cx="5023115" cy="1774825"/>
          </a:xfrm>
        </p:grpSpPr>
        <p:sp>
          <p:nvSpPr>
            <p:cNvPr id="7" name="Freeform 7"/>
            <p:cNvSpPr/>
            <p:nvPr/>
          </p:nvSpPr>
          <p:spPr>
            <a:xfrm>
              <a:off x="0" y="0"/>
              <a:ext cx="5023115" cy="1774825"/>
            </a:xfrm>
            <a:custGeom>
              <a:avLst/>
              <a:gdLst/>
              <a:ahLst/>
              <a:cxnLst/>
              <a:rect l="l" t="t" r="r" b="b"/>
              <a:pathLst>
                <a:path w="5023115" h="1774825">
                  <a:moveTo>
                    <a:pt x="0" y="0"/>
                  </a:moveTo>
                  <a:lnTo>
                    <a:pt x="5023115" y="0"/>
                  </a:lnTo>
                  <a:lnTo>
                    <a:pt x="5023115" y="1774825"/>
                  </a:lnTo>
                  <a:lnTo>
                    <a:pt x="0" y="1774825"/>
                  </a:lnTo>
                  <a:close/>
                </a:path>
              </a:pathLst>
            </a:custGeom>
            <a:solidFill>
              <a:srgbClr val="000000">
                <a:alpha val="0"/>
              </a:srgbClr>
            </a:solidFill>
          </p:spPr>
        </p:sp>
        <p:sp>
          <p:nvSpPr>
            <p:cNvPr id="8" name="TextBox 8"/>
            <p:cNvSpPr txBox="1"/>
            <p:nvPr/>
          </p:nvSpPr>
          <p:spPr>
            <a:xfrm>
              <a:off x="0" y="-238125"/>
              <a:ext cx="5023115" cy="2012950"/>
            </a:xfrm>
            <a:prstGeom prst="rect">
              <a:avLst/>
            </a:prstGeom>
          </p:spPr>
          <p:txBody>
            <a:bodyPr lIns="0" tIns="0" rIns="0" bIns="0" rtlCol="0" anchor="t"/>
            <a:lstStyle/>
            <a:p>
              <a:pPr algn="ctr">
                <a:lnSpc>
                  <a:spcPts val="8400"/>
                </a:lnSpc>
              </a:pPr>
              <a:r>
                <a:rPr lang="en-US" sz="6000" b="1">
                  <a:solidFill>
                    <a:srgbClr val="984807"/>
                  </a:solidFill>
                  <a:latin typeface="Arial Bold"/>
                  <a:ea typeface="Arial Bold"/>
                  <a:cs typeface="Arial Bold"/>
                  <a:sym typeface="Arial Bold"/>
                </a:rPr>
                <a:t>Continued</a:t>
              </a:r>
            </a:p>
          </p:txBody>
        </p:sp>
      </p:grpSp>
      <p:grpSp>
        <p:nvGrpSpPr>
          <p:cNvPr id="9" name="Group 9"/>
          <p:cNvGrpSpPr/>
          <p:nvPr/>
        </p:nvGrpSpPr>
        <p:grpSpPr>
          <a:xfrm>
            <a:off x="727895" y="2279860"/>
            <a:ext cx="16687800" cy="8276987"/>
            <a:chOff x="0" y="0"/>
            <a:chExt cx="22250400" cy="11035983"/>
          </a:xfrm>
        </p:grpSpPr>
        <p:sp>
          <p:nvSpPr>
            <p:cNvPr id="10" name="Freeform 10"/>
            <p:cNvSpPr/>
            <p:nvPr/>
          </p:nvSpPr>
          <p:spPr>
            <a:xfrm>
              <a:off x="0" y="0"/>
              <a:ext cx="22250400" cy="11035983"/>
            </a:xfrm>
            <a:custGeom>
              <a:avLst/>
              <a:gdLst/>
              <a:ahLst/>
              <a:cxnLst/>
              <a:rect l="l" t="t" r="r" b="b"/>
              <a:pathLst>
                <a:path w="22250400" h="11035983">
                  <a:moveTo>
                    <a:pt x="0" y="0"/>
                  </a:moveTo>
                  <a:lnTo>
                    <a:pt x="22250400" y="0"/>
                  </a:lnTo>
                  <a:lnTo>
                    <a:pt x="22250400" y="11035983"/>
                  </a:lnTo>
                  <a:lnTo>
                    <a:pt x="0" y="11035983"/>
                  </a:lnTo>
                  <a:close/>
                </a:path>
              </a:pathLst>
            </a:custGeom>
            <a:solidFill>
              <a:srgbClr val="000000">
                <a:alpha val="0"/>
              </a:srgbClr>
            </a:solidFill>
          </p:spPr>
        </p:sp>
        <p:sp>
          <p:nvSpPr>
            <p:cNvPr id="11" name="TextBox 11"/>
            <p:cNvSpPr txBox="1"/>
            <p:nvPr/>
          </p:nvSpPr>
          <p:spPr>
            <a:xfrm>
              <a:off x="0" y="-38100"/>
              <a:ext cx="22250400" cy="11074083"/>
            </a:xfrm>
            <a:prstGeom prst="rect">
              <a:avLst/>
            </a:prstGeom>
          </p:spPr>
          <p:txBody>
            <a:bodyPr lIns="0" tIns="0" rIns="0" bIns="0" rtlCol="0" anchor="t"/>
            <a:lstStyle/>
            <a:p>
              <a:pPr algn="l">
                <a:lnSpc>
                  <a:spcPts val="2160"/>
                </a:lnSpc>
              </a:pPr>
              <a:r>
                <a:rPr lang="en-US" sz="1800">
                  <a:solidFill>
                    <a:srgbClr val="000000"/>
                  </a:solidFill>
                  <a:latin typeface="Arial"/>
                  <a:ea typeface="Arial"/>
                  <a:cs typeface="Arial"/>
                  <a:sym typeface="Arial"/>
                </a:rPr>
                <a:t>22.Papatla, P., &amp; Krishnamurthi, L. (1996). Measuring the Dynamic Effects of Promotions on Brand Choice. </a:t>
              </a:r>
              <a:r>
                <a:rPr lang="en-US" sz="1800" i="1">
                  <a:solidFill>
                    <a:srgbClr val="000000"/>
                  </a:solidFill>
                  <a:latin typeface="Arial Italics"/>
                  <a:ea typeface="Arial Italics"/>
                  <a:cs typeface="Arial Italics"/>
                  <a:sym typeface="Arial Italics"/>
                </a:rPr>
                <a:t>Journal of Marketing Research</a:t>
              </a:r>
              <a:r>
                <a:rPr lang="en-US" sz="1800">
                  <a:solidFill>
                    <a:srgbClr val="000000"/>
                  </a:solidFill>
                  <a:latin typeface="Arial"/>
                  <a:ea typeface="Arial"/>
                  <a:cs typeface="Arial"/>
                  <a:sym typeface="Arial"/>
                </a:rPr>
                <a:t>, </a:t>
              </a:r>
              <a:r>
                <a:rPr lang="en-US" sz="1800" i="1">
                  <a:solidFill>
                    <a:srgbClr val="000000"/>
                  </a:solidFill>
                  <a:latin typeface="Arial Italics"/>
                  <a:ea typeface="Arial Italics"/>
                  <a:cs typeface="Arial Italics"/>
                  <a:sym typeface="Arial Italics"/>
                </a:rPr>
                <a:t>33</a:t>
              </a:r>
              <a:r>
                <a:rPr lang="en-US" sz="1800">
                  <a:solidFill>
                    <a:srgbClr val="000000"/>
                  </a:solidFill>
                  <a:latin typeface="Arial"/>
                  <a:ea typeface="Arial"/>
                  <a:cs typeface="Arial"/>
                  <a:sym typeface="Arial"/>
                </a:rPr>
                <a:t>(1), 20–35. https://doi.org/10.1177/002224379603300103</a:t>
              </a:r>
            </a:p>
            <a:p>
              <a:pPr algn="l">
                <a:lnSpc>
                  <a:spcPts val="2160"/>
                </a:lnSpc>
              </a:pPr>
              <a:r>
                <a:rPr lang="en-US" sz="1800">
                  <a:solidFill>
                    <a:srgbClr val="000000"/>
                  </a:solidFill>
                  <a:latin typeface="Arial"/>
                  <a:ea typeface="Arial"/>
                  <a:cs typeface="Arial"/>
                  <a:sym typeface="Arial"/>
                </a:rPr>
                <a:t>23.Riyanti, R., Putri, E. B., &amp; Fauziana, E. (2023). The Impact of Discount and Free Delivery Services to the Buying decisions of Shopee Customers. </a:t>
              </a:r>
              <a:r>
                <a:rPr lang="en-US" sz="1800" i="1">
                  <a:solidFill>
                    <a:srgbClr val="000000"/>
                  </a:solidFill>
                  <a:latin typeface="Arial Italics"/>
                  <a:ea typeface="Arial Italics"/>
                  <a:cs typeface="Arial Italics"/>
                  <a:sym typeface="Arial Italics"/>
                </a:rPr>
                <a:t>SMART : Management Journal</a:t>
              </a:r>
              <a:r>
                <a:rPr lang="en-US" sz="1800">
                  <a:solidFill>
                    <a:srgbClr val="000000"/>
                  </a:solidFill>
                  <a:latin typeface="Arial"/>
                  <a:ea typeface="Arial"/>
                  <a:cs typeface="Arial"/>
                  <a:sym typeface="Arial"/>
                </a:rPr>
                <a:t>, </a:t>
              </a:r>
              <a:r>
                <a:rPr lang="en-US" sz="1800" i="1">
                  <a:solidFill>
                    <a:srgbClr val="000000"/>
                  </a:solidFill>
                  <a:latin typeface="Arial Italics"/>
                  <a:ea typeface="Arial Italics"/>
                  <a:cs typeface="Arial Italics"/>
                  <a:sym typeface="Arial Italics"/>
                </a:rPr>
                <a:t>3</a:t>
              </a:r>
              <a:r>
                <a:rPr lang="en-US" sz="1800">
                  <a:solidFill>
                    <a:srgbClr val="000000"/>
                  </a:solidFill>
                  <a:latin typeface="Arial"/>
                  <a:ea typeface="Arial"/>
                  <a:cs typeface="Arial"/>
                  <a:sym typeface="Arial"/>
                </a:rPr>
                <a:t>(2), 61–70. https://doi.org/10.53990/smart.v3i2.306</a:t>
              </a:r>
            </a:p>
            <a:p>
              <a:pPr algn="l">
                <a:lnSpc>
                  <a:spcPts val="2160"/>
                </a:lnSpc>
              </a:pPr>
              <a:r>
                <a:rPr lang="en-US" sz="1800">
                  <a:solidFill>
                    <a:srgbClr val="000000"/>
                  </a:solidFill>
                  <a:latin typeface="Arial"/>
                  <a:ea typeface="Arial"/>
                  <a:cs typeface="Arial"/>
                  <a:sym typeface="Arial"/>
                </a:rPr>
                <a:t>24.Roviqoh, T. S. (2022). </a:t>
              </a:r>
              <a:r>
                <a:rPr lang="en-US" sz="1800" i="1">
                  <a:solidFill>
                    <a:srgbClr val="000000"/>
                  </a:solidFill>
                  <a:latin typeface="Arial Italics"/>
                  <a:ea typeface="Arial Italics"/>
                  <a:cs typeface="Arial Italics"/>
                  <a:sym typeface="Arial Italics"/>
                </a:rPr>
                <a:t>Journal of Applied Business Administration THE EFFECT OF PRICE DISCOUNTS ON IMPULSIVE ONLINE PURCHASE ( Case Study on Shopee Application Users of Bengkalis State Polytechnic Students )</a:t>
              </a:r>
              <a:r>
                <a:rPr lang="en-US" sz="1800">
                  <a:solidFill>
                    <a:srgbClr val="000000"/>
                  </a:solidFill>
                  <a:latin typeface="Arial"/>
                  <a:ea typeface="Arial"/>
                  <a:cs typeface="Arial"/>
                  <a:sym typeface="Arial"/>
                </a:rPr>
                <a:t>. </a:t>
              </a:r>
              <a:r>
                <a:rPr lang="en-US" sz="1800" i="1">
                  <a:solidFill>
                    <a:srgbClr val="000000"/>
                  </a:solidFill>
                  <a:latin typeface="Arial Italics"/>
                  <a:ea typeface="Arial Italics"/>
                  <a:cs typeface="Arial Italics"/>
                  <a:sym typeface="Arial Italics"/>
                </a:rPr>
                <a:t>March</a:t>
              </a:r>
              <a:r>
                <a:rPr lang="en-US" sz="1800">
                  <a:solidFill>
                    <a:srgbClr val="000000"/>
                  </a:solidFill>
                  <a:latin typeface="Arial"/>
                  <a:ea typeface="Arial"/>
                  <a:cs typeface="Arial"/>
                  <a:sym typeface="Arial"/>
                </a:rPr>
                <a:t>, 69–75.</a:t>
              </a:r>
            </a:p>
            <a:p>
              <a:pPr algn="l">
                <a:lnSpc>
                  <a:spcPts val="2160"/>
                </a:lnSpc>
              </a:pPr>
              <a:r>
                <a:rPr lang="en-US" sz="1800">
                  <a:solidFill>
                    <a:srgbClr val="000000"/>
                  </a:solidFill>
                  <a:latin typeface="Arial"/>
                  <a:ea typeface="Arial"/>
                  <a:cs typeface="Arial"/>
                  <a:sym typeface="Arial"/>
                </a:rPr>
                <a:t>25.sadihuseynzada@gmail.com, S. (2024). The power of sale promotions: Analyzing the impact of sales promotion offerings on consumer buying behavior in the pandemic. </a:t>
              </a:r>
              <a:r>
                <a:rPr lang="en-US" sz="1800" i="1">
                  <a:solidFill>
                    <a:srgbClr val="000000"/>
                  </a:solidFill>
                  <a:latin typeface="Arial Italics"/>
                  <a:ea typeface="Arial Italics"/>
                  <a:cs typeface="Arial Italics"/>
                  <a:sym typeface="Arial Italics"/>
                </a:rPr>
                <a:t>Management</a:t>
              </a:r>
              <a:r>
                <a:rPr lang="en-US" sz="1800">
                  <a:solidFill>
                    <a:srgbClr val="000000"/>
                  </a:solidFill>
                  <a:latin typeface="Arial"/>
                  <a:ea typeface="Arial"/>
                  <a:cs typeface="Arial"/>
                  <a:sym typeface="Arial"/>
                </a:rPr>
                <a:t>, </a:t>
              </a:r>
              <a:r>
                <a:rPr lang="en-US" sz="1800" i="1">
                  <a:solidFill>
                    <a:srgbClr val="000000"/>
                  </a:solidFill>
                  <a:latin typeface="Arial Italics"/>
                  <a:ea typeface="Arial Italics"/>
                  <a:cs typeface="Arial Italics"/>
                  <a:sym typeface="Arial Italics"/>
                </a:rPr>
                <a:t>27</a:t>
              </a:r>
              <a:r>
                <a:rPr lang="en-US" sz="1800">
                  <a:solidFill>
                    <a:srgbClr val="000000"/>
                  </a:solidFill>
                  <a:latin typeface="Arial"/>
                  <a:ea typeface="Arial"/>
                  <a:cs typeface="Arial"/>
                  <a:sym typeface="Arial"/>
                </a:rPr>
                <a:t>(2), 100–120. https://doi.org/10.58691/man/176037</a:t>
              </a:r>
            </a:p>
            <a:p>
              <a:pPr algn="l">
                <a:lnSpc>
                  <a:spcPts val="2160"/>
                </a:lnSpc>
              </a:pPr>
              <a:r>
                <a:rPr lang="en-US" sz="1800">
                  <a:solidFill>
                    <a:srgbClr val="000000"/>
                  </a:solidFill>
                  <a:latin typeface="Arial"/>
                  <a:ea typeface="Arial"/>
                  <a:cs typeface="Arial"/>
                  <a:sym typeface="Arial"/>
                </a:rPr>
                <a:t>26.Santini, F. de O., Sampaio, C. H., Perin, M. G., &amp; Vieira, V. A. (2015). An analysis of the influence of discount sales promotion in consumer buying intent and the moderating effects of attractiveness. </a:t>
              </a:r>
              <a:r>
                <a:rPr lang="en-US" sz="1800" i="1">
                  <a:solidFill>
                    <a:srgbClr val="000000"/>
                  </a:solidFill>
                  <a:latin typeface="Arial Italics"/>
                  <a:ea typeface="Arial Italics"/>
                  <a:cs typeface="Arial Italics"/>
                  <a:sym typeface="Arial Italics"/>
                </a:rPr>
                <a:t>Revista de Administração</a:t>
              </a:r>
              <a:r>
                <a:rPr lang="en-US" sz="1800">
                  <a:solidFill>
                    <a:srgbClr val="000000"/>
                  </a:solidFill>
                  <a:latin typeface="Arial"/>
                  <a:ea typeface="Arial"/>
                  <a:cs typeface="Arial"/>
                  <a:sym typeface="Arial"/>
                </a:rPr>
                <a:t>, </a:t>
              </a:r>
              <a:r>
                <a:rPr lang="en-US" sz="1800" i="1">
                  <a:solidFill>
                    <a:srgbClr val="000000"/>
                  </a:solidFill>
                  <a:latin typeface="Arial Italics"/>
                  <a:ea typeface="Arial Italics"/>
                  <a:cs typeface="Arial Italics"/>
                  <a:sym typeface="Arial Italics"/>
                </a:rPr>
                <a:t>50</a:t>
              </a:r>
              <a:r>
                <a:rPr lang="en-US" sz="1800">
                  <a:solidFill>
                    <a:srgbClr val="000000"/>
                  </a:solidFill>
                  <a:latin typeface="Arial"/>
                  <a:ea typeface="Arial"/>
                  <a:cs typeface="Arial"/>
                  <a:sym typeface="Arial"/>
                </a:rPr>
                <a:t>(4), 416–431. https://doi.org/10.5700/rausp1210</a:t>
              </a:r>
            </a:p>
            <a:p>
              <a:pPr algn="l">
                <a:lnSpc>
                  <a:spcPts val="2160"/>
                </a:lnSpc>
              </a:pPr>
              <a:r>
                <a:rPr lang="en-US" sz="1800">
                  <a:solidFill>
                    <a:srgbClr val="000000"/>
                  </a:solidFill>
                  <a:latin typeface="Arial"/>
                  <a:ea typeface="Arial"/>
                  <a:cs typeface="Arial"/>
                  <a:sym typeface="Arial"/>
                </a:rPr>
                <a:t>27.Shahzad Greenwich University Karachi, K., Anam Bhatti, P., Talat, P., Javaid, A., &amp; Pakistan Syeda mahwish Raza Naqvi, M. (2020). Impact of Sales Promotion on Consumer Buying Behavior: A Case of Garments Industry of Pakistan. </a:t>
              </a:r>
              <a:r>
                <a:rPr lang="en-US" sz="1800" i="1">
                  <a:solidFill>
                    <a:srgbClr val="000000"/>
                  </a:solidFill>
                  <a:latin typeface="Arial Italics"/>
                  <a:ea typeface="Arial Italics"/>
                  <a:cs typeface="Arial Italics"/>
                  <a:sym typeface="Arial Italics"/>
                </a:rPr>
                <a:t>International Journal of Advanced Research in Engineering and Technology (IJARET)</a:t>
              </a:r>
              <a:r>
                <a:rPr lang="en-US" sz="1800">
                  <a:solidFill>
                    <a:srgbClr val="000000"/>
                  </a:solidFill>
                  <a:latin typeface="Arial"/>
                  <a:ea typeface="Arial"/>
                  <a:cs typeface="Arial"/>
                  <a:sym typeface="Arial"/>
                </a:rPr>
                <a:t>, </a:t>
              </a:r>
              <a:r>
                <a:rPr lang="en-US" sz="1800" i="1">
                  <a:solidFill>
                    <a:srgbClr val="000000"/>
                  </a:solidFill>
                  <a:latin typeface="Arial Italics"/>
                  <a:ea typeface="Arial Italics"/>
                  <a:cs typeface="Arial Italics"/>
                  <a:sym typeface="Arial Italics"/>
                </a:rPr>
                <a:t>11</a:t>
              </a:r>
              <a:r>
                <a:rPr lang="en-US" sz="1800">
                  <a:solidFill>
                    <a:srgbClr val="000000"/>
                  </a:solidFill>
                  <a:latin typeface="Arial"/>
                  <a:ea typeface="Arial"/>
                  <a:cs typeface="Arial"/>
                  <a:sym typeface="Arial"/>
                </a:rPr>
                <a:t>(10), 104–114. https://doi.org/10.34218/IJARET.11.10.2020.010</a:t>
              </a:r>
            </a:p>
            <a:p>
              <a:pPr algn="l">
                <a:lnSpc>
                  <a:spcPts val="2160"/>
                </a:lnSpc>
              </a:pPr>
              <a:r>
                <a:rPr lang="en-US" sz="1800">
                  <a:solidFill>
                    <a:srgbClr val="000000"/>
                  </a:solidFill>
                  <a:latin typeface="Arial"/>
                  <a:ea typeface="Arial"/>
                  <a:cs typeface="Arial"/>
                  <a:sym typeface="Arial"/>
                </a:rPr>
                <a:t>28.Stern, H. (1962). The Significance of Impulse Buying Today. </a:t>
              </a:r>
              <a:r>
                <a:rPr lang="en-US" sz="1800" i="1">
                  <a:solidFill>
                    <a:srgbClr val="000000"/>
                  </a:solidFill>
                  <a:latin typeface="Arial Italics"/>
                  <a:ea typeface="Arial Italics"/>
                  <a:cs typeface="Arial Italics"/>
                  <a:sym typeface="Arial Italics"/>
                </a:rPr>
                <a:t>Journal of Marketing</a:t>
              </a:r>
              <a:r>
                <a:rPr lang="en-US" sz="1800">
                  <a:solidFill>
                    <a:srgbClr val="000000"/>
                  </a:solidFill>
                  <a:latin typeface="Arial"/>
                  <a:ea typeface="Arial"/>
                  <a:cs typeface="Arial"/>
                  <a:sym typeface="Arial"/>
                </a:rPr>
                <a:t>, </a:t>
              </a:r>
              <a:r>
                <a:rPr lang="en-US" sz="1800" i="1">
                  <a:solidFill>
                    <a:srgbClr val="000000"/>
                  </a:solidFill>
                  <a:latin typeface="Arial Italics"/>
                  <a:ea typeface="Arial Italics"/>
                  <a:cs typeface="Arial Italics"/>
                  <a:sym typeface="Arial Italics"/>
                </a:rPr>
                <a:t>26</a:t>
              </a:r>
              <a:r>
                <a:rPr lang="en-US" sz="1800">
                  <a:solidFill>
                    <a:srgbClr val="000000"/>
                  </a:solidFill>
                  <a:latin typeface="Arial"/>
                  <a:ea typeface="Arial"/>
                  <a:cs typeface="Arial"/>
                  <a:sym typeface="Arial"/>
                </a:rPr>
                <a:t>(2), 59. https://doi.org/10.2307/1248439</a:t>
              </a:r>
            </a:p>
            <a:p>
              <a:pPr algn="l">
                <a:lnSpc>
                  <a:spcPts val="2160"/>
                </a:lnSpc>
              </a:pPr>
              <a:r>
                <a:rPr lang="en-US" sz="1800">
                  <a:solidFill>
                    <a:srgbClr val="000000"/>
                  </a:solidFill>
                  <a:latin typeface="Arial"/>
                  <a:ea typeface="Arial"/>
                  <a:cs typeface="Arial"/>
                  <a:sym typeface="Arial"/>
                </a:rPr>
                <a:t>29.Stilley, K. M., Jeffrey Inman, J., &amp; Wakefield, K. L. (2010). Spending on the fly: Mental budgets, promotions, and spending behavior. </a:t>
              </a:r>
              <a:r>
                <a:rPr lang="en-US" sz="1800" i="1">
                  <a:solidFill>
                    <a:srgbClr val="000000"/>
                  </a:solidFill>
                  <a:latin typeface="Arial Italics"/>
                  <a:ea typeface="Arial Italics"/>
                  <a:cs typeface="Arial Italics"/>
                  <a:sym typeface="Arial Italics"/>
                </a:rPr>
                <a:t>Journal of Marketing</a:t>
              </a:r>
              <a:r>
                <a:rPr lang="en-US" sz="1800">
                  <a:solidFill>
                    <a:srgbClr val="000000"/>
                  </a:solidFill>
                  <a:latin typeface="Arial"/>
                  <a:ea typeface="Arial"/>
                  <a:cs typeface="Arial"/>
                  <a:sym typeface="Arial"/>
                </a:rPr>
                <a:t>, </a:t>
              </a:r>
              <a:r>
                <a:rPr lang="en-US" sz="1800" i="1">
                  <a:solidFill>
                    <a:srgbClr val="000000"/>
                  </a:solidFill>
                  <a:latin typeface="Arial Italics"/>
                  <a:ea typeface="Arial Italics"/>
                  <a:cs typeface="Arial Italics"/>
                  <a:sym typeface="Arial Italics"/>
                </a:rPr>
                <a:t>74</a:t>
              </a:r>
              <a:r>
                <a:rPr lang="en-US" sz="1800">
                  <a:solidFill>
                    <a:srgbClr val="000000"/>
                  </a:solidFill>
                  <a:latin typeface="Arial"/>
                  <a:ea typeface="Arial"/>
                  <a:cs typeface="Arial"/>
                  <a:sym typeface="Arial"/>
                </a:rPr>
                <a:t>(3), 34–47. https://doi.org/10.1509/jmkg.74.3.34</a:t>
              </a:r>
            </a:p>
            <a:p>
              <a:pPr algn="l">
                <a:lnSpc>
                  <a:spcPts val="2160"/>
                </a:lnSpc>
              </a:pPr>
              <a:r>
                <a:rPr lang="en-US" sz="1800">
                  <a:solidFill>
                    <a:srgbClr val="000000"/>
                  </a:solidFill>
                  <a:latin typeface="Arial"/>
                  <a:ea typeface="Arial"/>
                  <a:cs typeface="Arial"/>
                  <a:sym typeface="Arial"/>
                </a:rPr>
                <a:t>30.Varghese,   Mr. Sony, &amp; Agrawal, M. M. (2021). Impact of Social Media on Consumer Buying Behavior. </a:t>
              </a:r>
              <a:r>
                <a:rPr lang="en-US" sz="1800" i="1">
                  <a:solidFill>
                    <a:srgbClr val="000000"/>
                  </a:solidFill>
                  <a:latin typeface="Arial Italics"/>
                  <a:ea typeface="Arial Italics"/>
                  <a:cs typeface="Arial Italics"/>
                  <a:sym typeface="Arial Italics"/>
                </a:rPr>
                <a:t>Saudi Journal of Business and Management Studies</a:t>
              </a:r>
              <a:r>
                <a:rPr lang="en-US" sz="1800">
                  <a:solidFill>
                    <a:srgbClr val="000000"/>
                  </a:solidFill>
                  <a:latin typeface="Arial"/>
                  <a:ea typeface="Arial"/>
                  <a:cs typeface="Arial"/>
                  <a:sym typeface="Arial"/>
                </a:rPr>
                <a:t>, </a:t>
              </a:r>
              <a:r>
                <a:rPr lang="en-US" sz="1800" i="1">
                  <a:solidFill>
                    <a:srgbClr val="000000"/>
                  </a:solidFill>
                  <a:latin typeface="Arial Italics"/>
                  <a:ea typeface="Arial Italics"/>
                  <a:cs typeface="Arial Italics"/>
                  <a:sym typeface="Arial Italics"/>
                </a:rPr>
                <a:t>6</a:t>
              </a:r>
              <a:r>
                <a:rPr lang="en-US" sz="1800">
                  <a:solidFill>
                    <a:srgbClr val="000000"/>
                  </a:solidFill>
                  <a:latin typeface="Arial"/>
                  <a:ea typeface="Arial"/>
                  <a:cs typeface="Arial"/>
                  <a:sym typeface="Arial"/>
                </a:rPr>
                <a:t>(3), 51–55. https://doi.org/10.36348/sjbms.2021.v06i03.001</a:t>
              </a:r>
            </a:p>
            <a:p>
              <a:pPr algn="l">
                <a:lnSpc>
                  <a:spcPts val="2160"/>
                </a:lnSpc>
              </a:pPr>
              <a:endParaRPr lang="en-US" sz="1800">
                <a:solidFill>
                  <a:srgbClr val="000000"/>
                </a:solidFill>
                <a:latin typeface="Arial"/>
                <a:ea typeface="Arial"/>
                <a:cs typeface="Arial"/>
                <a:sym typeface="Arial"/>
              </a:endParaRPr>
            </a:p>
            <a:p>
              <a:pPr algn="l">
                <a:lnSpc>
                  <a:spcPts val="2160"/>
                </a:lnSpc>
              </a:pPr>
              <a:endParaRPr lang="en-US" sz="1800">
                <a:solidFill>
                  <a:srgbClr val="000000"/>
                </a:solidFill>
                <a:latin typeface="Arial"/>
                <a:ea typeface="Arial"/>
                <a:cs typeface="Arial"/>
                <a:sym typeface="Arial"/>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14433615" y="5839830"/>
            <a:ext cx="5114584" cy="5142635"/>
          </a:xfrm>
          <a:custGeom>
            <a:avLst/>
            <a:gdLst/>
            <a:ahLst/>
            <a:cxnLst/>
            <a:rect l="l" t="t" r="r" b="b"/>
            <a:pathLst>
              <a:path w="5114584" h="5142635">
                <a:moveTo>
                  <a:pt x="0" y="0"/>
                </a:moveTo>
                <a:lnTo>
                  <a:pt x="5114584" y="0"/>
                </a:lnTo>
                <a:lnTo>
                  <a:pt x="5114584" y="5142635"/>
                </a:lnTo>
                <a:lnTo>
                  <a:pt x="0" y="5142635"/>
                </a:lnTo>
                <a:lnTo>
                  <a:pt x="0" y="0"/>
                </a:lnTo>
                <a:close/>
              </a:path>
            </a:pathLst>
          </a:custGeom>
          <a:blipFill>
            <a:blip r:embed="rId2">
              <a:extLst>
                <a:ext uri="{96DAC541-7B7A-43D3-8B79-37D633B846F1}">
                  <asvg:svgBlip xmlns:asvg="http://schemas.microsoft.com/office/drawing/2016/SVG/main" r:embed="rId3"/>
                </a:ext>
              </a:extLst>
            </a:blip>
            <a:stretch>
              <a:fillRect l="-181" r="-181"/>
            </a:stretch>
          </a:blipFill>
        </p:spPr>
      </p:sp>
      <p:sp>
        <p:nvSpPr>
          <p:cNvPr id="3" name="Freeform 3"/>
          <p:cNvSpPr/>
          <p:nvPr/>
        </p:nvSpPr>
        <p:spPr>
          <a:xfrm rot="-5400000" flipV="1">
            <a:off x="16780859" y="6318214"/>
            <a:ext cx="2450438" cy="4185866"/>
          </a:xfrm>
          <a:custGeom>
            <a:avLst/>
            <a:gdLst/>
            <a:ahLst/>
            <a:cxnLst/>
            <a:rect l="l" t="t" r="r" b="b"/>
            <a:pathLst>
              <a:path w="2450438" h="4185866">
                <a:moveTo>
                  <a:pt x="0" y="4185866"/>
                </a:moveTo>
                <a:lnTo>
                  <a:pt x="2450438" y="4185866"/>
                </a:lnTo>
                <a:lnTo>
                  <a:pt x="2450438" y="0"/>
                </a:lnTo>
                <a:lnTo>
                  <a:pt x="0" y="0"/>
                </a:lnTo>
                <a:lnTo>
                  <a:pt x="0" y="4185866"/>
                </a:lnTo>
                <a:close/>
              </a:path>
            </a:pathLst>
          </a:custGeom>
          <a:blipFill>
            <a:blip r:embed="rId4">
              <a:extLst>
                <a:ext uri="{96DAC541-7B7A-43D3-8B79-37D633B846F1}">
                  <asvg:svgBlip xmlns:asvg="http://schemas.microsoft.com/office/drawing/2016/SVG/main" r:embed="rId5"/>
                </a:ext>
              </a:extLst>
            </a:blip>
            <a:stretch>
              <a:fillRect l="-81" r="-81"/>
            </a:stretch>
          </a:blipFill>
        </p:spPr>
      </p:sp>
      <p:sp>
        <p:nvSpPr>
          <p:cNvPr id="4" name="Freeform 4"/>
          <p:cNvSpPr/>
          <p:nvPr/>
        </p:nvSpPr>
        <p:spPr>
          <a:xfrm rot="-5400000">
            <a:off x="15413013" y="4691241"/>
            <a:ext cx="2909455" cy="1433567"/>
          </a:xfrm>
          <a:custGeom>
            <a:avLst/>
            <a:gdLst/>
            <a:ahLst/>
            <a:cxnLst/>
            <a:rect l="l" t="t" r="r" b="b"/>
            <a:pathLst>
              <a:path w="2909455" h="1433567">
                <a:moveTo>
                  <a:pt x="0" y="0"/>
                </a:moveTo>
                <a:lnTo>
                  <a:pt x="2909455" y="0"/>
                </a:lnTo>
                <a:lnTo>
                  <a:pt x="2909455" y="1433567"/>
                </a:lnTo>
                <a:lnTo>
                  <a:pt x="0" y="1433567"/>
                </a:lnTo>
                <a:lnTo>
                  <a:pt x="0" y="0"/>
                </a:lnTo>
                <a:close/>
              </a:path>
            </a:pathLst>
          </a:custGeom>
          <a:blipFill>
            <a:blip r:embed="rId6">
              <a:extLst>
                <a:ext uri="{96DAC541-7B7A-43D3-8B79-37D633B846F1}">
                  <asvg:svgBlip xmlns:asvg="http://schemas.microsoft.com/office/drawing/2016/SVG/main" r:embed="rId7"/>
                </a:ext>
              </a:extLst>
            </a:blip>
            <a:stretch>
              <a:fillRect l="-88" r="-88"/>
            </a:stretch>
          </a:blipFill>
        </p:spPr>
      </p:sp>
      <p:sp>
        <p:nvSpPr>
          <p:cNvPr id="5" name="Freeform 5"/>
          <p:cNvSpPr/>
          <p:nvPr/>
        </p:nvSpPr>
        <p:spPr>
          <a:xfrm flipH="1">
            <a:off x="-1808388" y="292931"/>
            <a:ext cx="3616776" cy="7883980"/>
          </a:xfrm>
          <a:custGeom>
            <a:avLst/>
            <a:gdLst/>
            <a:ahLst/>
            <a:cxnLst/>
            <a:rect l="l" t="t" r="r" b="b"/>
            <a:pathLst>
              <a:path w="3616776" h="7883980">
                <a:moveTo>
                  <a:pt x="3616776" y="0"/>
                </a:moveTo>
                <a:lnTo>
                  <a:pt x="0" y="0"/>
                </a:lnTo>
                <a:lnTo>
                  <a:pt x="0" y="7883980"/>
                </a:lnTo>
                <a:lnTo>
                  <a:pt x="3616776" y="7883980"/>
                </a:lnTo>
                <a:lnTo>
                  <a:pt x="3616776" y="0"/>
                </a:lnTo>
                <a:close/>
              </a:path>
            </a:pathLst>
          </a:custGeom>
          <a:blipFill>
            <a:blip r:embed="rId8">
              <a:alphaModFix amt="75000"/>
              <a:extLst>
                <a:ext uri="{96DAC541-7B7A-43D3-8B79-37D633B846F1}">
                  <asvg:svgBlip xmlns:asvg="http://schemas.microsoft.com/office/drawing/2016/SVG/main" r:embed="rId9"/>
                </a:ext>
              </a:extLst>
            </a:blip>
            <a:stretch>
              <a:fillRect t="-39" b="-39"/>
            </a:stretch>
          </a:blipFill>
        </p:spPr>
      </p:sp>
      <p:grpSp>
        <p:nvGrpSpPr>
          <p:cNvPr id="6" name="Group 6"/>
          <p:cNvGrpSpPr/>
          <p:nvPr/>
        </p:nvGrpSpPr>
        <p:grpSpPr>
          <a:xfrm>
            <a:off x="2759030" y="494810"/>
            <a:ext cx="10063511" cy="968442"/>
            <a:chOff x="0" y="0"/>
            <a:chExt cx="13418015" cy="1291256"/>
          </a:xfrm>
        </p:grpSpPr>
        <p:sp>
          <p:nvSpPr>
            <p:cNvPr id="7" name="Freeform 7"/>
            <p:cNvSpPr/>
            <p:nvPr/>
          </p:nvSpPr>
          <p:spPr>
            <a:xfrm>
              <a:off x="0" y="0"/>
              <a:ext cx="13418015" cy="1291256"/>
            </a:xfrm>
            <a:custGeom>
              <a:avLst/>
              <a:gdLst/>
              <a:ahLst/>
              <a:cxnLst/>
              <a:rect l="l" t="t" r="r" b="b"/>
              <a:pathLst>
                <a:path w="13418015" h="1291256">
                  <a:moveTo>
                    <a:pt x="0" y="0"/>
                  </a:moveTo>
                  <a:lnTo>
                    <a:pt x="13418015" y="0"/>
                  </a:lnTo>
                  <a:lnTo>
                    <a:pt x="13418015" y="1291256"/>
                  </a:lnTo>
                  <a:lnTo>
                    <a:pt x="0" y="1291256"/>
                  </a:lnTo>
                  <a:close/>
                </a:path>
              </a:pathLst>
            </a:custGeom>
            <a:solidFill>
              <a:srgbClr val="000000">
                <a:alpha val="0"/>
              </a:srgbClr>
            </a:solidFill>
          </p:spPr>
        </p:sp>
        <p:sp>
          <p:nvSpPr>
            <p:cNvPr id="8" name="TextBox 8"/>
            <p:cNvSpPr txBox="1"/>
            <p:nvPr/>
          </p:nvSpPr>
          <p:spPr>
            <a:xfrm>
              <a:off x="0" y="-123825"/>
              <a:ext cx="13418015" cy="1415081"/>
            </a:xfrm>
            <a:prstGeom prst="rect">
              <a:avLst/>
            </a:prstGeom>
          </p:spPr>
          <p:txBody>
            <a:bodyPr lIns="0" tIns="0" rIns="0" bIns="0" rtlCol="0" anchor="t"/>
            <a:lstStyle/>
            <a:p>
              <a:pPr algn="ctr">
                <a:lnSpc>
                  <a:spcPts val="7200"/>
                </a:lnSpc>
              </a:pPr>
              <a:r>
                <a:rPr lang="en-US" sz="6000" b="1">
                  <a:solidFill>
                    <a:srgbClr val="984807"/>
                  </a:solidFill>
                  <a:latin typeface="Calibri (MS) Bold"/>
                  <a:ea typeface="Calibri (MS) Bold"/>
                  <a:cs typeface="Calibri (MS) Bold"/>
                  <a:sym typeface="Calibri (MS) Bold"/>
                </a:rPr>
                <a:t>Continued</a:t>
              </a:r>
            </a:p>
          </p:txBody>
        </p:sp>
      </p:grpSp>
      <p:sp>
        <p:nvSpPr>
          <p:cNvPr id="9" name="Freeform 9"/>
          <p:cNvSpPr/>
          <p:nvPr/>
        </p:nvSpPr>
        <p:spPr>
          <a:xfrm>
            <a:off x="1600200" y="2019416"/>
            <a:ext cx="14754755" cy="7616949"/>
          </a:xfrm>
          <a:custGeom>
            <a:avLst/>
            <a:gdLst/>
            <a:ahLst/>
            <a:cxnLst/>
            <a:rect l="l" t="t" r="r" b="b"/>
            <a:pathLst>
              <a:path w="14754755" h="7616949">
                <a:moveTo>
                  <a:pt x="0" y="0"/>
                </a:moveTo>
                <a:lnTo>
                  <a:pt x="14754755" y="0"/>
                </a:lnTo>
                <a:lnTo>
                  <a:pt x="14754755" y="7616949"/>
                </a:lnTo>
                <a:lnTo>
                  <a:pt x="0" y="7616949"/>
                </a:lnTo>
                <a:lnTo>
                  <a:pt x="0" y="0"/>
                </a:lnTo>
                <a:close/>
              </a:path>
            </a:pathLst>
          </a:custGeom>
          <a:blipFill>
            <a:blip r:embed="rId10">
              <a:extLst>
                <a:ext uri="{96DAC541-7B7A-43D3-8B79-37D633B846F1}">
                  <asvg:svgBlip xmlns:asvg="http://schemas.microsoft.com/office/drawing/2016/SVG/main" r:embed="rId11"/>
                </a:ext>
              </a:extLst>
            </a:blip>
            <a:stretch>
              <a:fillRect l="-10" r="-10"/>
            </a:stretch>
          </a:blipFill>
        </p:spPr>
      </p:sp>
      <p:grpSp>
        <p:nvGrpSpPr>
          <p:cNvPr id="10" name="Group 10"/>
          <p:cNvGrpSpPr/>
          <p:nvPr/>
        </p:nvGrpSpPr>
        <p:grpSpPr>
          <a:xfrm>
            <a:off x="2475188" y="2506812"/>
            <a:ext cx="11277600" cy="6245662"/>
            <a:chOff x="0" y="0"/>
            <a:chExt cx="15036800" cy="8327549"/>
          </a:xfrm>
        </p:grpSpPr>
        <p:sp>
          <p:nvSpPr>
            <p:cNvPr id="11" name="Freeform 11"/>
            <p:cNvSpPr/>
            <p:nvPr/>
          </p:nvSpPr>
          <p:spPr>
            <a:xfrm>
              <a:off x="0" y="0"/>
              <a:ext cx="15036800" cy="8327549"/>
            </a:xfrm>
            <a:custGeom>
              <a:avLst/>
              <a:gdLst/>
              <a:ahLst/>
              <a:cxnLst/>
              <a:rect l="l" t="t" r="r" b="b"/>
              <a:pathLst>
                <a:path w="15036800" h="8327549">
                  <a:moveTo>
                    <a:pt x="0" y="0"/>
                  </a:moveTo>
                  <a:lnTo>
                    <a:pt x="15036800" y="0"/>
                  </a:lnTo>
                  <a:lnTo>
                    <a:pt x="15036800" y="8327549"/>
                  </a:lnTo>
                  <a:lnTo>
                    <a:pt x="0" y="8327549"/>
                  </a:lnTo>
                  <a:close/>
                </a:path>
              </a:pathLst>
            </a:custGeom>
            <a:solidFill>
              <a:srgbClr val="000000">
                <a:alpha val="0"/>
              </a:srgbClr>
            </a:solidFill>
          </p:spPr>
        </p:sp>
        <p:sp>
          <p:nvSpPr>
            <p:cNvPr id="12" name="TextBox 12"/>
            <p:cNvSpPr txBox="1"/>
            <p:nvPr/>
          </p:nvSpPr>
          <p:spPr>
            <a:xfrm>
              <a:off x="0" y="-38100"/>
              <a:ext cx="15036800" cy="8365649"/>
            </a:xfrm>
            <a:prstGeom prst="rect">
              <a:avLst/>
            </a:prstGeom>
          </p:spPr>
          <p:txBody>
            <a:bodyPr lIns="0" tIns="0" rIns="0" bIns="0" rtlCol="0" anchor="t"/>
            <a:lstStyle/>
            <a:p>
              <a:pPr algn="l">
                <a:lnSpc>
                  <a:spcPts val="2160"/>
                </a:lnSpc>
              </a:pPr>
              <a:r>
                <a:rPr lang="en-US" sz="1800">
                  <a:solidFill>
                    <a:srgbClr val="000000"/>
                  </a:solidFill>
                  <a:latin typeface="Arial"/>
                  <a:ea typeface="Arial"/>
                  <a:cs typeface="Arial"/>
                  <a:sym typeface="Arial"/>
                </a:rPr>
                <a:t>31.Winer, R. S. (1997). Discounting and its impact on durables buying decisions. </a:t>
              </a:r>
              <a:r>
                <a:rPr lang="en-US" sz="1800" i="1">
                  <a:solidFill>
                    <a:srgbClr val="000000"/>
                  </a:solidFill>
                  <a:latin typeface="Arial Italics"/>
                  <a:ea typeface="Arial Italics"/>
                  <a:cs typeface="Arial Italics"/>
                  <a:sym typeface="Arial Italics"/>
                </a:rPr>
                <a:t>Marketing Letters</a:t>
              </a:r>
              <a:r>
                <a:rPr lang="en-US" sz="1800">
                  <a:solidFill>
                    <a:srgbClr val="000000"/>
                  </a:solidFill>
                  <a:latin typeface="Arial"/>
                  <a:ea typeface="Arial"/>
                  <a:cs typeface="Arial"/>
                  <a:sym typeface="Arial"/>
                </a:rPr>
                <a:t>, </a:t>
              </a:r>
              <a:r>
                <a:rPr lang="en-US" sz="1800" i="1">
                  <a:solidFill>
                    <a:srgbClr val="000000"/>
                  </a:solidFill>
                  <a:latin typeface="Arial Italics"/>
                  <a:ea typeface="Arial Italics"/>
                  <a:cs typeface="Arial Italics"/>
                  <a:sym typeface="Arial Italics"/>
                </a:rPr>
                <a:t>8</a:t>
              </a:r>
              <a:r>
                <a:rPr lang="en-US" sz="1800">
                  <a:solidFill>
                    <a:srgbClr val="000000"/>
                  </a:solidFill>
                  <a:latin typeface="Arial"/>
                  <a:ea typeface="Arial"/>
                  <a:cs typeface="Arial"/>
                  <a:sym typeface="Arial"/>
                </a:rPr>
                <a:t>(1), 109–118. https://doi.org/10.1023/A:1007945629536</a:t>
              </a:r>
            </a:p>
            <a:p>
              <a:pPr algn="l">
                <a:lnSpc>
                  <a:spcPts val="2160"/>
                </a:lnSpc>
              </a:pPr>
              <a:r>
                <a:rPr lang="en-US" sz="1800">
                  <a:solidFill>
                    <a:srgbClr val="000000"/>
                  </a:solidFill>
                  <a:latin typeface="Arial"/>
                  <a:ea typeface="Arial"/>
                  <a:cs typeface="Arial"/>
                  <a:sym typeface="Arial"/>
                </a:rPr>
                <a:t>32.Yildirim, Y., &amp; Aydin, O. (2012). Investigation of the Effects of discount Announcements on Consumers’ Purchase decisions: A Case Study in Supermarket. </a:t>
              </a:r>
              <a:r>
                <a:rPr lang="en-US" sz="1800" i="1">
                  <a:solidFill>
                    <a:srgbClr val="000000"/>
                  </a:solidFill>
                  <a:latin typeface="Arial Italics"/>
                  <a:ea typeface="Arial Italics"/>
                  <a:cs typeface="Arial Italics"/>
                  <a:sym typeface="Arial Italics"/>
                </a:rPr>
                <a:t>Procedia - Social and Behavioral Sciences</a:t>
              </a:r>
              <a:r>
                <a:rPr lang="en-US" sz="1800">
                  <a:solidFill>
                    <a:srgbClr val="000000"/>
                  </a:solidFill>
                  <a:latin typeface="Arial"/>
                  <a:ea typeface="Arial"/>
                  <a:cs typeface="Arial"/>
                  <a:sym typeface="Arial"/>
                </a:rPr>
                <a:t>, </a:t>
              </a:r>
              <a:r>
                <a:rPr lang="en-US" sz="1800" i="1">
                  <a:solidFill>
                    <a:srgbClr val="000000"/>
                  </a:solidFill>
                  <a:latin typeface="Arial Italics"/>
                  <a:ea typeface="Arial Italics"/>
                  <a:cs typeface="Arial Italics"/>
                  <a:sym typeface="Arial Italics"/>
                </a:rPr>
                <a:t>62</a:t>
              </a:r>
              <a:r>
                <a:rPr lang="en-US" sz="1800">
                  <a:solidFill>
                    <a:srgbClr val="000000"/>
                  </a:solidFill>
                  <a:latin typeface="Arial"/>
                  <a:ea typeface="Arial"/>
                  <a:cs typeface="Arial"/>
                  <a:sym typeface="Arial"/>
                </a:rPr>
                <a:t>, 1235–1244. https://doi.org/10.1016/j.sbspro.2012.09.212</a:t>
              </a:r>
            </a:p>
            <a:p>
              <a:pPr algn="l">
                <a:lnSpc>
                  <a:spcPts val="2160"/>
                </a:lnSpc>
              </a:pPr>
              <a:r>
                <a:rPr lang="en-US" sz="1800">
                  <a:solidFill>
                    <a:srgbClr val="000000"/>
                  </a:solidFill>
                  <a:latin typeface="Arial"/>
                  <a:ea typeface="Arial"/>
                  <a:cs typeface="Arial"/>
                  <a:sym typeface="Arial"/>
                </a:rPr>
                <a:t>33.Yin-Fah, B. C., Osman, S., &amp; Foon, Y. S. (2011). Simulation of Sales Promotions towards Buying Behavior among University Students. </a:t>
              </a:r>
              <a:r>
                <a:rPr lang="en-US" sz="1800" i="1">
                  <a:solidFill>
                    <a:srgbClr val="000000"/>
                  </a:solidFill>
                  <a:latin typeface="Arial Italics"/>
                  <a:ea typeface="Arial Italics"/>
                  <a:cs typeface="Arial Italics"/>
                  <a:sym typeface="Arial Italics"/>
                </a:rPr>
                <a:t>International Journal of Marketing Studies</a:t>
              </a:r>
              <a:r>
                <a:rPr lang="en-US" sz="1800">
                  <a:solidFill>
                    <a:srgbClr val="000000"/>
                  </a:solidFill>
                  <a:latin typeface="Arial"/>
                  <a:ea typeface="Arial"/>
                  <a:cs typeface="Arial"/>
                  <a:sym typeface="Arial"/>
                </a:rPr>
                <a:t>, </a:t>
              </a:r>
              <a:r>
                <a:rPr lang="en-US" sz="1800" i="1">
                  <a:solidFill>
                    <a:srgbClr val="000000"/>
                  </a:solidFill>
                  <a:latin typeface="Arial Italics"/>
                  <a:ea typeface="Arial Italics"/>
                  <a:cs typeface="Arial Italics"/>
                  <a:sym typeface="Arial Italics"/>
                </a:rPr>
                <a:t>3</a:t>
              </a:r>
              <a:r>
                <a:rPr lang="en-US" sz="1800">
                  <a:solidFill>
                    <a:srgbClr val="000000"/>
                  </a:solidFill>
                  <a:latin typeface="Arial"/>
                  <a:ea typeface="Arial"/>
                  <a:cs typeface="Arial"/>
                  <a:sym typeface="Arial"/>
                </a:rPr>
                <a:t>(3), 78–88. https://doi.org/10.5539/ijms.v3n3p78</a:t>
              </a:r>
            </a:p>
            <a:p>
              <a:pPr algn="l">
                <a:lnSpc>
                  <a:spcPts val="2160"/>
                </a:lnSpc>
              </a:pPr>
              <a:r>
                <a:rPr lang="en-US" sz="1800">
                  <a:solidFill>
                    <a:srgbClr val="000000"/>
                  </a:solidFill>
                  <a:latin typeface="Arial"/>
                  <a:ea typeface="Arial"/>
                  <a:cs typeface="Arial"/>
                  <a:sym typeface="Arial"/>
                </a:rPr>
                <a:t>34.Yoo, B., Donthu, N., &amp; Lee, S. (2000). An examination of selected marketing mix elements and brand equity. </a:t>
              </a:r>
              <a:r>
                <a:rPr lang="en-US" sz="1800" i="1">
                  <a:solidFill>
                    <a:srgbClr val="000000"/>
                  </a:solidFill>
                  <a:latin typeface="Arial Italics"/>
                  <a:ea typeface="Arial Italics"/>
                  <a:cs typeface="Arial Italics"/>
                  <a:sym typeface="Arial Italics"/>
                </a:rPr>
                <a:t>Journal of the Academy of Marketing Science</a:t>
              </a:r>
              <a:r>
                <a:rPr lang="en-US" sz="1800">
                  <a:solidFill>
                    <a:srgbClr val="000000"/>
                  </a:solidFill>
                  <a:latin typeface="Arial"/>
                  <a:ea typeface="Arial"/>
                  <a:cs typeface="Arial"/>
                  <a:sym typeface="Arial"/>
                </a:rPr>
                <a:t>, </a:t>
              </a:r>
              <a:r>
                <a:rPr lang="en-US" sz="1800" i="1">
                  <a:solidFill>
                    <a:srgbClr val="000000"/>
                  </a:solidFill>
                  <a:latin typeface="Arial Italics"/>
                  <a:ea typeface="Arial Italics"/>
                  <a:cs typeface="Arial Italics"/>
                  <a:sym typeface="Arial Italics"/>
                </a:rPr>
                <a:t>28</a:t>
              </a:r>
              <a:r>
                <a:rPr lang="en-US" sz="1800">
                  <a:solidFill>
                    <a:srgbClr val="000000"/>
                  </a:solidFill>
                  <a:latin typeface="Arial"/>
                  <a:ea typeface="Arial"/>
                  <a:cs typeface="Arial"/>
                  <a:sym typeface="Arial"/>
                </a:rPr>
                <a:t>(2), 195–211. https://doi.org/10.1177/0092070300282002</a:t>
              </a:r>
            </a:p>
            <a:p>
              <a:pPr algn="l">
                <a:lnSpc>
                  <a:spcPts val="2160"/>
                </a:lnSpc>
              </a:pPr>
              <a:r>
                <a:rPr lang="en-US" sz="1800">
                  <a:solidFill>
                    <a:srgbClr val="000000"/>
                  </a:solidFill>
                  <a:latin typeface="Arial"/>
                  <a:ea typeface="Arial"/>
                  <a:cs typeface="Arial"/>
                  <a:sym typeface="Arial"/>
                </a:rPr>
                <a:t>35.Zhang Jie, &amp; Wedel Michel. (2009). The Effectiveness of Customized Promotions in Online and Offline Stores. </a:t>
              </a:r>
              <a:r>
                <a:rPr lang="en-US" sz="1800" i="1">
                  <a:solidFill>
                    <a:srgbClr val="000000"/>
                  </a:solidFill>
                  <a:latin typeface="Arial Italics"/>
                  <a:ea typeface="Arial Italics"/>
                  <a:cs typeface="Arial Italics"/>
                  <a:sym typeface="Arial Italics"/>
                </a:rPr>
                <a:t>Journal of Marketing Research</a:t>
              </a:r>
              <a:r>
                <a:rPr lang="en-US" sz="1800">
                  <a:solidFill>
                    <a:srgbClr val="000000"/>
                  </a:solidFill>
                  <a:latin typeface="Arial"/>
                  <a:ea typeface="Arial"/>
                  <a:cs typeface="Arial"/>
                  <a:sym typeface="Arial"/>
                </a:rPr>
                <a:t>, </a:t>
              </a:r>
              <a:r>
                <a:rPr lang="en-US" sz="1800" i="1">
                  <a:solidFill>
                    <a:srgbClr val="000000"/>
                  </a:solidFill>
                  <a:latin typeface="Arial Italics"/>
                  <a:ea typeface="Arial Italics"/>
                  <a:cs typeface="Arial Italics"/>
                  <a:sym typeface="Arial Italics"/>
                </a:rPr>
                <a:t>XLVI</a:t>
              </a:r>
              <a:r>
                <a:rPr lang="en-US" sz="1800">
                  <a:solidFill>
                    <a:srgbClr val="000000"/>
                  </a:solidFill>
                  <a:latin typeface="Arial"/>
                  <a:ea typeface="Arial"/>
                  <a:cs typeface="Arial"/>
                  <a:sym typeface="Arial"/>
                </a:rPr>
                <a:t>(4), 190–206.</a:t>
              </a:r>
            </a:p>
            <a:p>
              <a:pPr algn="l">
                <a:lnSpc>
                  <a:spcPts val="2160"/>
                </a:lnSpc>
              </a:pPr>
              <a:r>
                <a:rPr lang="en-US" sz="1800">
                  <a:solidFill>
                    <a:srgbClr val="000000"/>
                  </a:solidFill>
                  <a:latin typeface="Arial"/>
                  <a:ea typeface="Arial"/>
                  <a:cs typeface="Arial"/>
                  <a:sym typeface="Arial"/>
                </a:rPr>
                <a:t> </a:t>
              </a:r>
            </a:p>
            <a:p>
              <a:pPr algn="l">
                <a:lnSpc>
                  <a:spcPts val="2160"/>
                </a:lnSpc>
              </a:pPr>
              <a:endParaRPr lang="en-US" sz="1800">
                <a:solidFill>
                  <a:srgbClr val="000000"/>
                </a:solidFill>
                <a:latin typeface="Arial"/>
                <a:ea typeface="Arial"/>
                <a:cs typeface="Arial"/>
                <a:sym typeface="Arial"/>
              </a:endParaRPr>
            </a:p>
            <a:p>
              <a:pPr algn="l">
                <a:lnSpc>
                  <a:spcPts val="2160"/>
                </a:lnSpc>
              </a:pPr>
              <a:endParaRPr lang="en-US" sz="1800">
                <a:solidFill>
                  <a:srgbClr val="000000"/>
                </a:solidFill>
                <a:latin typeface="Arial"/>
                <a:ea typeface="Arial"/>
                <a:cs typeface="Arial"/>
                <a:sym typeface="Arial"/>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flipH="1">
            <a:off x="-779688" y="5143500"/>
            <a:ext cx="3616776" cy="7883980"/>
          </a:xfrm>
          <a:custGeom>
            <a:avLst/>
            <a:gdLst/>
            <a:ahLst/>
            <a:cxnLst/>
            <a:rect l="l" t="t" r="r" b="b"/>
            <a:pathLst>
              <a:path w="3616776" h="7883980">
                <a:moveTo>
                  <a:pt x="3616776" y="0"/>
                </a:moveTo>
                <a:lnTo>
                  <a:pt x="0" y="0"/>
                </a:lnTo>
                <a:lnTo>
                  <a:pt x="0" y="7883980"/>
                </a:lnTo>
                <a:lnTo>
                  <a:pt x="3616776" y="7883980"/>
                </a:lnTo>
                <a:lnTo>
                  <a:pt x="3616776" y="0"/>
                </a:lnTo>
                <a:close/>
              </a:path>
            </a:pathLst>
          </a:custGeom>
          <a:blipFill>
            <a:blip r:embed="rId2">
              <a:alphaModFix amt="75000"/>
              <a:extLst>
                <a:ext uri="{96DAC541-7B7A-43D3-8B79-37D633B846F1}">
                  <asvg:svgBlip xmlns:asvg="http://schemas.microsoft.com/office/drawing/2016/SVG/main" r:embed="rId3"/>
                </a:ext>
              </a:extLst>
            </a:blip>
            <a:stretch>
              <a:fillRect t="-39" b="-39"/>
            </a:stretch>
          </a:blipFill>
        </p:spPr>
      </p:sp>
      <p:sp>
        <p:nvSpPr>
          <p:cNvPr id="3" name="Freeform 3"/>
          <p:cNvSpPr/>
          <p:nvPr/>
        </p:nvSpPr>
        <p:spPr>
          <a:xfrm rot="-10800000">
            <a:off x="-1039486" y="-1321993"/>
            <a:ext cx="5114585" cy="5142635"/>
          </a:xfrm>
          <a:custGeom>
            <a:avLst/>
            <a:gdLst/>
            <a:ahLst/>
            <a:cxnLst/>
            <a:rect l="l" t="t" r="r" b="b"/>
            <a:pathLst>
              <a:path w="5114585" h="5142635">
                <a:moveTo>
                  <a:pt x="0" y="0"/>
                </a:moveTo>
                <a:lnTo>
                  <a:pt x="5114585" y="0"/>
                </a:lnTo>
                <a:lnTo>
                  <a:pt x="5114585" y="5142635"/>
                </a:lnTo>
                <a:lnTo>
                  <a:pt x="0" y="5142635"/>
                </a:lnTo>
                <a:lnTo>
                  <a:pt x="0" y="0"/>
                </a:lnTo>
                <a:close/>
              </a:path>
            </a:pathLst>
          </a:custGeom>
          <a:blipFill>
            <a:blip r:embed="rId4">
              <a:extLst>
                <a:ext uri="{96DAC541-7B7A-43D3-8B79-37D633B846F1}">
                  <asvg:svgBlip xmlns:asvg="http://schemas.microsoft.com/office/drawing/2016/SVG/main" r:embed="rId5"/>
                </a:ext>
              </a:extLst>
            </a:blip>
            <a:stretch>
              <a:fillRect l="-181" r="-181"/>
            </a:stretch>
          </a:blipFill>
        </p:spPr>
      </p:sp>
      <p:sp>
        <p:nvSpPr>
          <p:cNvPr id="4" name="Freeform 4"/>
          <p:cNvSpPr/>
          <p:nvPr/>
        </p:nvSpPr>
        <p:spPr>
          <a:xfrm rot="-10800000" flipV="1">
            <a:off x="753760" y="-1555083"/>
            <a:ext cx="2450438" cy="4185866"/>
          </a:xfrm>
          <a:custGeom>
            <a:avLst/>
            <a:gdLst/>
            <a:ahLst/>
            <a:cxnLst/>
            <a:rect l="l" t="t" r="r" b="b"/>
            <a:pathLst>
              <a:path w="2450438" h="4185866">
                <a:moveTo>
                  <a:pt x="0" y="4185866"/>
                </a:moveTo>
                <a:lnTo>
                  <a:pt x="2450438" y="4185866"/>
                </a:lnTo>
                <a:lnTo>
                  <a:pt x="2450438" y="0"/>
                </a:lnTo>
                <a:lnTo>
                  <a:pt x="0" y="0"/>
                </a:lnTo>
                <a:lnTo>
                  <a:pt x="0" y="4185866"/>
                </a:lnTo>
                <a:close/>
              </a:path>
            </a:pathLst>
          </a:custGeom>
          <a:blipFill>
            <a:blip r:embed="rId6">
              <a:extLst>
                <a:ext uri="{96DAC541-7B7A-43D3-8B79-37D633B846F1}">
                  <asvg:svgBlip xmlns:asvg="http://schemas.microsoft.com/office/drawing/2016/SVG/main" r:embed="rId7"/>
                </a:ext>
              </a:extLst>
            </a:blip>
            <a:stretch>
              <a:fillRect l="-81" r="-81"/>
            </a:stretch>
          </a:blipFill>
        </p:spPr>
      </p:sp>
      <p:sp>
        <p:nvSpPr>
          <p:cNvPr id="5" name="Freeform 5"/>
          <p:cNvSpPr/>
          <p:nvPr/>
        </p:nvSpPr>
        <p:spPr>
          <a:xfrm rot="-9955212">
            <a:off x="3204198" y="532540"/>
            <a:ext cx="2909455" cy="1433568"/>
          </a:xfrm>
          <a:custGeom>
            <a:avLst/>
            <a:gdLst/>
            <a:ahLst/>
            <a:cxnLst/>
            <a:rect l="l" t="t" r="r" b="b"/>
            <a:pathLst>
              <a:path w="2909455" h="1433568">
                <a:moveTo>
                  <a:pt x="0" y="0"/>
                </a:moveTo>
                <a:lnTo>
                  <a:pt x="2909455" y="0"/>
                </a:lnTo>
                <a:lnTo>
                  <a:pt x="2909455" y="1433568"/>
                </a:lnTo>
                <a:lnTo>
                  <a:pt x="0" y="1433568"/>
                </a:lnTo>
                <a:lnTo>
                  <a:pt x="0" y="0"/>
                </a:lnTo>
                <a:close/>
              </a:path>
            </a:pathLst>
          </a:custGeom>
          <a:blipFill>
            <a:blip r:embed="rId8">
              <a:extLst>
                <a:ext uri="{96DAC541-7B7A-43D3-8B79-37D633B846F1}">
                  <asvg:svgBlip xmlns:asvg="http://schemas.microsoft.com/office/drawing/2016/SVG/main" r:embed="rId9"/>
                </a:ext>
              </a:extLst>
            </a:blip>
            <a:stretch>
              <a:fillRect l="-88" r="-88"/>
            </a:stretch>
          </a:blipFill>
        </p:spPr>
      </p:sp>
      <p:sp>
        <p:nvSpPr>
          <p:cNvPr id="6" name="Freeform 6"/>
          <p:cNvSpPr/>
          <p:nvPr/>
        </p:nvSpPr>
        <p:spPr>
          <a:xfrm rot="-5400000">
            <a:off x="13869895" y="6140172"/>
            <a:ext cx="6493940" cy="6529555"/>
          </a:xfrm>
          <a:custGeom>
            <a:avLst/>
            <a:gdLst/>
            <a:ahLst/>
            <a:cxnLst/>
            <a:rect l="l" t="t" r="r" b="b"/>
            <a:pathLst>
              <a:path w="6493940" h="6529555">
                <a:moveTo>
                  <a:pt x="0" y="0"/>
                </a:moveTo>
                <a:lnTo>
                  <a:pt x="6493940" y="0"/>
                </a:lnTo>
                <a:lnTo>
                  <a:pt x="6493940" y="6529555"/>
                </a:lnTo>
                <a:lnTo>
                  <a:pt x="0" y="6529555"/>
                </a:lnTo>
                <a:lnTo>
                  <a:pt x="0" y="0"/>
                </a:lnTo>
                <a:close/>
              </a:path>
            </a:pathLst>
          </a:custGeom>
          <a:blipFill>
            <a:blip r:embed="rId4">
              <a:extLst>
                <a:ext uri="{96DAC541-7B7A-43D3-8B79-37D633B846F1}">
                  <asvg:svgBlip xmlns:asvg="http://schemas.microsoft.com/office/drawing/2016/SVG/main" r:embed="rId5"/>
                </a:ext>
              </a:extLst>
            </a:blip>
            <a:stretch>
              <a:fillRect l="-127" r="-127"/>
            </a:stretch>
          </a:blipFill>
        </p:spPr>
      </p:sp>
      <p:sp>
        <p:nvSpPr>
          <p:cNvPr id="7" name="Freeform 7"/>
          <p:cNvSpPr/>
          <p:nvPr/>
        </p:nvSpPr>
        <p:spPr>
          <a:xfrm rot="-1031629">
            <a:off x="14076378" y="6833542"/>
            <a:ext cx="4700392" cy="1649410"/>
          </a:xfrm>
          <a:custGeom>
            <a:avLst/>
            <a:gdLst/>
            <a:ahLst/>
            <a:cxnLst/>
            <a:rect l="l" t="t" r="r" b="b"/>
            <a:pathLst>
              <a:path w="4700392" h="1649410">
                <a:moveTo>
                  <a:pt x="0" y="0"/>
                </a:moveTo>
                <a:lnTo>
                  <a:pt x="4700392" y="0"/>
                </a:lnTo>
                <a:lnTo>
                  <a:pt x="4700392" y="1649410"/>
                </a:lnTo>
                <a:lnTo>
                  <a:pt x="0" y="1649410"/>
                </a:lnTo>
                <a:lnTo>
                  <a:pt x="0" y="0"/>
                </a:lnTo>
                <a:close/>
              </a:path>
            </a:pathLst>
          </a:custGeom>
          <a:blipFill>
            <a:blip r:embed="rId10">
              <a:extLst>
                <a:ext uri="{96DAC541-7B7A-43D3-8B79-37D633B846F1}">
                  <asvg:svgBlip xmlns:asvg="http://schemas.microsoft.com/office/drawing/2016/SVG/main" r:embed="rId11"/>
                </a:ext>
              </a:extLst>
            </a:blip>
            <a:stretch>
              <a:fillRect t="-187" b="-187"/>
            </a:stretch>
          </a:blipFill>
        </p:spPr>
      </p:sp>
      <p:sp>
        <p:nvSpPr>
          <p:cNvPr id="8" name="Freeform 8"/>
          <p:cNvSpPr/>
          <p:nvPr/>
        </p:nvSpPr>
        <p:spPr>
          <a:xfrm rot="2909932" flipV="1">
            <a:off x="16777063" y="7194684"/>
            <a:ext cx="2450438" cy="4185866"/>
          </a:xfrm>
          <a:custGeom>
            <a:avLst/>
            <a:gdLst/>
            <a:ahLst/>
            <a:cxnLst/>
            <a:rect l="l" t="t" r="r" b="b"/>
            <a:pathLst>
              <a:path w="2450438" h="4185866">
                <a:moveTo>
                  <a:pt x="0" y="4185866"/>
                </a:moveTo>
                <a:lnTo>
                  <a:pt x="2450438" y="4185866"/>
                </a:lnTo>
                <a:lnTo>
                  <a:pt x="2450438" y="0"/>
                </a:lnTo>
                <a:lnTo>
                  <a:pt x="0" y="0"/>
                </a:lnTo>
                <a:lnTo>
                  <a:pt x="0" y="4185866"/>
                </a:lnTo>
                <a:close/>
              </a:path>
            </a:pathLst>
          </a:custGeom>
          <a:blipFill>
            <a:blip r:embed="rId6">
              <a:extLst>
                <a:ext uri="{96DAC541-7B7A-43D3-8B79-37D633B846F1}">
                  <asvg:svgBlip xmlns:asvg="http://schemas.microsoft.com/office/drawing/2016/SVG/main" r:embed="rId7"/>
                </a:ext>
              </a:extLst>
            </a:blip>
            <a:stretch>
              <a:fillRect l="-81" r="-81"/>
            </a:stretch>
          </a:blipFill>
        </p:spPr>
      </p:sp>
      <p:sp>
        <p:nvSpPr>
          <p:cNvPr id="9" name="Freeform 9"/>
          <p:cNvSpPr/>
          <p:nvPr/>
        </p:nvSpPr>
        <p:spPr>
          <a:xfrm rot="-1277720">
            <a:off x="16398988" y="-143677"/>
            <a:ext cx="3637262" cy="7928637"/>
          </a:xfrm>
          <a:custGeom>
            <a:avLst/>
            <a:gdLst/>
            <a:ahLst/>
            <a:cxnLst/>
            <a:rect l="l" t="t" r="r" b="b"/>
            <a:pathLst>
              <a:path w="3637262" h="7928637">
                <a:moveTo>
                  <a:pt x="0" y="0"/>
                </a:moveTo>
                <a:lnTo>
                  <a:pt x="3637262" y="0"/>
                </a:lnTo>
                <a:lnTo>
                  <a:pt x="3637262" y="7928637"/>
                </a:lnTo>
                <a:lnTo>
                  <a:pt x="0" y="7928637"/>
                </a:lnTo>
                <a:lnTo>
                  <a:pt x="0" y="0"/>
                </a:lnTo>
                <a:close/>
              </a:path>
            </a:pathLst>
          </a:custGeom>
          <a:blipFill>
            <a:blip r:embed="rId2">
              <a:alphaModFix amt="75000"/>
              <a:extLst>
                <a:ext uri="{96DAC541-7B7A-43D3-8B79-37D633B846F1}">
                  <asvg:svgBlip xmlns:asvg="http://schemas.microsoft.com/office/drawing/2016/SVG/main" r:embed="rId3"/>
                </a:ext>
              </a:extLst>
            </a:blip>
            <a:stretch>
              <a:fillRect t="-78" b="-78"/>
            </a:stretch>
          </a:blipFill>
        </p:spPr>
      </p:sp>
      <p:grpSp>
        <p:nvGrpSpPr>
          <p:cNvPr id="10" name="Group 10"/>
          <p:cNvGrpSpPr/>
          <p:nvPr/>
        </p:nvGrpSpPr>
        <p:grpSpPr>
          <a:xfrm>
            <a:off x="2092969" y="3820642"/>
            <a:ext cx="14333605" cy="4832059"/>
            <a:chOff x="0" y="0"/>
            <a:chExt cx="19111473" cy="6442745"/>
          </a:xfrm>
        </p:grpSpPr>
        <p:sp>
          <p:nvSpPr>
            <p:cNvPr id="11" name="Freeform 11"/>
            <p:cNvSpPr/>
            <p:nvPr/>
          </p:nvSpPr>
          <p:spPr>
            <a:xfrm>
              <a:off x="0" y="0"/>
              <a:ext cx="19111474" cy="6442745"/>
            </a:xfrm>
            <a:custGeom>
              <a:avLst/>
              <a:gdLst/>
              <a:ahLst/>
              <a:cxnLst/>
              <a:rect l="l" t="t" r="r" b="b"/>
              <a:pathLst>
                <a:path w="19111474" h="6442745">
                  <a:moveTo>
                    <a:pt x="0" y="0"/>
                  </a:moveTo>
                  <a:lnTo>
                    <a:pt x="19111474" y="0"/>
                  </a:lnTo>
                  <a:lnTo>
                    <a:pt x="19111474" y="6442745"/>
                  </a:lnTo>
                  <a:lnTo>
                    <a:pt x="0" y="6442745"/>
                  </a:lnTo>
                  <a:close/>
                </a:path>
              </a:pathLst>
            </a:custGeom>
            <a:solidFill>
              <a:srgbClr val="000000">
                <a:alpha val="0"/>
              </a:srgbClr>
            </a:solidFill>
          </p:spPr>
        </p:sp>
        <p:sp>
          <p:nvSpPr>
            <p:cNvPr id="12" name="TextBox 12"/>
            <p:cNvSpPr txBox="1"/>
            <p:nvPr/>
          </p:nvSpPr>
          <p:spPr>
            <a:xfrm>
              <a:off x="0" y="-1381125"/>
              <a:ext cx="19111473" cy="7823870"/>
            </a:xfrm>
            <a:prstGeom prst="rect">
              <a:avLst/>
            </a:prstGeom>
          </p:spPr>
          <p:txBody>
            <a:bodyPr lIns="0" tIns="0" rIns="0" bIns="0" rtlCol="0" anchor="t"/>
            <a:lstStyle/>
            <a:p>
              <a:pPr algn="ctr">
                <a:lnSpc>
                  <a:spcPts val="24000"/>
                </a:lnSpc>
              </a:pPr>
              <a:r>
                <a:rPr lang="en-US" sz="9600" b="1">
                  <a:solidFill>
                    <a:srgbClr val="984807"/>
                  </a:solidFill>
                  <a:latin typeface="Arial Bold"/>
                  <a:ea typeface="Arial Bold"/>
                  <a:cs typeface="Arial Bold"/>
                  <a:sym typeface="Arial Bold"/>
                </a:rPr>
                <a:t>Thank You So Much</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DOC-20250319-WA0014.</dc:title>
  <cp:lastModifiedBy>Anika Sheikh</cp:lastModifiedBy>
  <cp:revision>2</cp:revision>
  <dcterms:created xsi:type="dcterms:W3CDTF">2006-08-16T00:00:00Z</dcterms:created>
  <dcterms:modified xsi:type="dcterms:W3CDTF">2025-03-19T12:43:16Z</dcterms:modified>
  <dc:identifier>DAGiK_po4A0</dc:identifier>
</cp:coreProperties>
</file>